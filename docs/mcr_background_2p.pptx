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 메모리 병목 심화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병목: decode가 추론 시간 지배 — 매 토큰 KV cache 전체 read, 컨텍스트 폭증으로 심화</a:t>
            </a:r>
            <a:endParaRPr lang="en-US" sz="1100" dirty="0"/>
          </a:p>
        </p:txBody>
      </p:sp>
      <p:pic>
        <p:nvPicPr>
          <p:cNvPr id="22" name="Image 0" descr="/home/user/architect/docs/mcr_assets/bg_de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병목: KV cache ∝ 컨텍스트×동시 세션 → HBM 압박, agent 장기 기억이 구조적으로 심화</a:t>
            </a:r>
            <a:endParaRPr lang="en-US" sz="1100" dirty="0"/>
          </a:p>
        </p:txBody>
      </p:sp>
      <p:pic>
        <p:nvPicPr>
          <p:cNvPr id="24" name="Image 1" descr="/home/user/architect/docs/mcr_assets/bg_kv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업계의 대응 — 메모리 중심 해법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병목 → 근접 연산(PIM/PNM): 연산을 데이터가 있는 곳으로 보내 이동량 자체를 절감</a:t>
            </a:r>
            <a:endParaRPr lang="en-US" sz="1100" dirty="0"/>
          </a:p>
        </p:txBody>
      </p:sp>
      <p:pic>
        <p:nvPicPr>
          <p:cNvPr id="28" name="Image 2" descr="/home/user/architect/docs/mcr_assets/bg_shif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병목 → 계층화(tiered offloading): 하위 tier로 내리고 필요 시 회수, HBM 밖 용량 확장</a:t>
            </a:r>
            <a:endParaRPr lang="en-US" sz="1100" dirty="0"/>
          </a:p>
        </p:txBody>
      </p:sp>
      <p:pic>
        <p:nvPicPr>
          <p:cNvPr id="30" name="Image 3" descr="/home/user/architect/docs/mcr_assets/bg_hierarch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승부처의 이동: HW → 런타임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해법이 만든 결정 문제: 연산 배치 × 데이터 배치가 결합 — tier·디바이스 늘수록 조합 폭증, 오결정 시 baseline보다 악화</a:t>
            </a:r>
            <a:endParaRPr lang="en-US" sz="1100" dirty="0"/>
          </a:p>
        </p:txBody>
      </p:sp>
      <p:pic>
        <p:nvPicPr>
          <p:cNvPr id="34" name="Image 4" descr="/home/user/architect/docs/mcr_assets/bg_decision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스펙과 응용 E2E 성능의 gap은 런타임이 결정 — 기존 스택(vLLM)은 'KV=HBM' 가정, 이 계층 부재</a:t>
            </a:r>
            <a:endParaRPr lang="en-US" sz="1100" dirty="0"/>
          </a:p>
        </p:txBody>
      </p:sp>
      <p:pic>
        <p:nvPicPr>
          <p:cNvPr id="36" name="Image 5" descr="/home/user/architect/docs/mcr_assets/bg_gap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자사: 해법의 재료 보유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근접 연산(PIM·CIM)부터 계층화(CXL·tiered memory)까지 — ②의 두 방향 모두 제품 포트폴리오로 확보</a:t>
            </a:r>
            <a:endParaRPr lang="en-US" sz="1100" dirty="0"/>
          </a:p>
        </p:txBody>
      </p:sp>
      <p:pic>
        <p:nvPicPr>
          <p:cNvPr id="22" name="Image 0" descr="/home/user/architect/docs/mcr_assets/bg_devic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근접연산·대역폭·용량의 상이한 축 — 조합 시 GPU HBM 단일 체계로 불가능한 설계 공간</a:t>
            </a:r>
            <a:endParaRPr lang="en-US" sz="1100" dirty="0"/>
          </a:p>
        </p:txBody>
      </p:sp>
      <p:pic>
        <p:nvPicPr>
          <p:cNvPr id="24" name="Image 1" descr="/home/user/architect/docs/mcr_assets/bg_ax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그러나: 실현 계층의 공백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 가치는 단품 스펙이 아니라 응용(LLM 추론) E2E 성능으로만 실현·입증됨 (←③)</a:t>
            </a:r>
            <a:endParaRPr lang="en-US" sz="1100" dirty="0"/>
          </a:p>
        </p:txBody>
      </p:sp>
      <p:pic>
        <p:nvPicPr>
          <p:cNvPr id="28" name="Image 2" descr="/home/user/architect/docs/mcr_assets/nec_missin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단품 데모는 있어도, 포트폴리오를 응용과 연결해 시스템 관점 E2E 성능을 증명할 레퍼런스 SW 스택 부재</a:t>
            </a:r>
            <a:endParaRPr lang="en-US" sz="1100" dirty="0"/>
          </a:p>
        </p:txBody>
      </p:sp>
      <p:pic>
        <p:nvPicPr>
          <p:cNvPr id="30" name="Image 3" descr="/home/user/architect/docs/mcr_assets/nec_demo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과제: 메모리 중심 런타임 설계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포트폴리오를 1급 자원으로 — 배치·이동·압축·재사용을 조율하는 MCR(Memory-Centric Runtime) 설계</a:t>
            </a:r>
            <a:endParaRPr lang="en-US" sz="1100" dirty="0"/>
          </a:p>
        </p:txBody>
      </p:sp>
      <p:pic>
        <p:nvPicPr>
          <p:cNvPr id="34" name="Image 4" descr="/home/user/architect/docs/mcr_assets/nec_arch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제품군의 레퍼런스 SW 스택이자, GPU HBM 단일 tier 대비 개선을 정량 입증하는 E2E 증명 수단</a:t>
            </a:r>
            <a:endParaRPr lang="en-US" sz="1100" dirty="0"/>
          </a:p>
        </p:txBody>
      </p:sp>
      <p:pic>
        <p:nvPicPr>
          <p:cNvPr id="36" name="Image 5" descr="/home/user/architect/docs/mcr_assets/nec_e2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2026-07-15T13:09:00Z</dcterms:created>
  <dcterms:modified xsi:type="dcterms:W3CDTF">2026-07-15T13:09:00Z</dcterms:modified>
</cp:coreProperties>
</file>