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배경 (1/2)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/ 33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1078992"/>
            <a:ext cx="3716426" cy="310896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1078992"/>
            <a:ext cx="36249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AI Agent 워크로드의 특징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1527048"/>
            <a:ext cx="362498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기본 패턴: multi-turn loop × 툴 호출 × sub-agent 분업 — 한 요청이 수십~수백 스텝의 루프로 실행되며 툴 결과가 계속 유입</a:t>
            </a:r>
            <a:endParaRPr lang="en-US" sz="1100" dirty="0"/>
          </a:p>
        </p:txBody>
      </p:sp>
      <p:pic>
        <p:nvPicPr>
          <p:cNvPr id="22" name="Image 0" descr="/home/user/architect/docs/mcr_assets/ag_loo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2286000"/>
            <a:ext cx="3716426" cy="161848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365760" y="4069080"/>
            <a:ext cx="362498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 스텝이 이전 대화·툴 결과·sub-agent 산출물 참조, 기억은 세션을 넘어 축적 → 장기 기억 요구 = 컨텍스트 길이 폭증</a:t>
            </a:r>
            <a:endParaRPr lang="en-US" sz="1100" dirty="0"/>
          </a:p>
        </p:txBody>
      </p:sp>
      <p:pic>
        <p:nvPicPr>
          <p:cNvPr id="24" name="Image 1" descr="/home/user/architect/docs/mcr_assets/ag_contex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0040" y="4828032"/>
            <a:ext cx="3716426" cy="1618488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4237634" y="1078992"/>
            <a:ext cx="3716426" cy="310896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26" name="Text 22"/>
          <p:cNvSpPr/>
          <p:nvPr/>
        </p:nvSpPr>
        <p:spPr>
          <a:xfrm>
            <a:off x="4283354" y="1078992"/>
            <a:ext cx="36249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메모리 병목 심화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4283354" y="1527048"/>
            <a:ext cx="362498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 증가 → KV cache 증가(∝ 컨텍스트×동시 세션) — decode는 매 토큰 KV 전체 read, 용량·대역폭 동시 압박</a:t>
            </a:r>
            <a:endParaRPr lang="en-US" sz="1100" dirty="0"/>
          </a:p>
        </p:txBody>
      </p:sp>
      <p:pic>
        <p:nvPicPr>
          <p:cNvPr id="28" name="Image 2" descr="/home/user/architect/docs/mcr_assets/bg_kv_evidence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237634" y="2286000"/>
            <a:ext cx="3716426" cy="1618488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4283354" y="4069080"/>
            <a:ext cx="362498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KV가 HBM 용량 초과 — 단순 DRAM→SSD offloading은 tier마다 ~10× 낮아지는 대역폭 계단을 그대로 노출 → 성능 급락</a:t>
            </a:r>
            <a:endParaRPr lang="en-US" sz="1100" dirty="0"/>
          </a:p>
        </p:txBody>
      </p:sp>
      <p:pic>
        <p:nvPicPr>
          <p:cNvPr id="30" name="Image 3" descr="/home/user/architect/docs/mcr_assets/bg_offloa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237634" y="4828032"/>
            <a:ext cx="3716426" cy="1618488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8155229" y="1078992"/>
            <a:ext cx="3716426" cy="310896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32" name="Text 26"/>
          <p:cNvSpPr/>
          <p:nvPr/>
        </p:nvSpPr>
        <p:spPr>
          <a:xfrm>
            <a:off x="8200949" y="1078992"/>
            <a:ext cx="36249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업계 현황 — 메모리 중심 제품군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8200949" y="1527048"/>
            <a:ext cx="362498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업계의 대응: 대역폭 축 HBM 고도화·근접 연산(PIM/PNM), 용량 축 CXL 확장·신규 tier(HBF) — 계층은 5+ tier로 심화</a:t>
            </a:r>
            <a:endParaRPr lang="en-US" sz="1100" dirty="0"/>
          </a:p>
        </p:txBody>
      </p:sp>
      <p:pic>
        <p:nvPicPr>
          <p:cNvPr id="34" name="Image 4" descr="/home/user/architect/docs/mcr_assets/industry_products_photos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155229" y="2286000"/>
            <a:ext cx="3716426" cy="1618488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8200949" y="4069080"/>
            <a:ext cx="362498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자사(삼성): 근접 연산(PIM·CIM)부터 계층화(Custom HBM·HBF·CXL)까지 — 근접연산·대역폭·용량 전 축의 포트폴리오 보유</a:t>
            </a:r>
            <a:endParaRPr lang="en-US" sz="1100" dirty="0"/>
          </a:p>
        </p:txBody>
      </p:sp>
      <p:pic>
        <p:nvPicPr>
          <p:cNvPr id="36" name="Image 5" descr="/home/user/architect/docs/mcr_assets/samsung_portfolio_photos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155229" y="4828032"/>
            <a:ext cx="3716426" cy="16184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배경 (2/2)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33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1078992"/>
            <a:ext cx="3716426" cy="310896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1078992"/>
            <a:ext cx="36249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런타임 스택의 중요도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1527048"/>
            <a:ext cx="36249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씬의 승부처 = 실행 계층(런타임)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" y="1764792"/>
            <a:ext cx="362498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배치·이동·스케줄링을 결정하는 실행 계층 — 업계 전체가 자체 런타임(TensorRT-LLM·ONNX Runtime·vLLM·SGLang)에 투자, CUDA 해자도 실리콘 아닌 SW 스택</a:t>
            </a:r>
            <a:endParaRPr lang="en-US" sz="1100" dirty="0"/>
          </a:p>
        </p:txBody>
      </p:sp>
      <p:pic>
        <p:nvPicPr>
          <p:cNvPr id="23" name="Image 0" descr="/home/user/architect/docs/mcr_assets/bg_stack_runti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2523744"/>
            <a:ext cx="3716426" cy="1380744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365760" y="4069080"/>
            <a:ext cx="36249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HW, 런타임만으로 갈린 성능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365760" y="4306824"/>
            <a:ext cx="362498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런타임만으로 처리량 2–4×(vLLM SOSP'23)·100×(FlexGen ICML'23) 격차 — HW 스펙은 상한일 뿐, 도달 성능은 런타임이 결정</a:t>
            </a:r>
            <a:endParaRPr lang="en-US" sz="1100" dirty="0"/>
          </a:p>
        </p:txBody>
      </p:sp>
      <p:pic>
        <p:nvPicPr>
          <p:cNvPr id="26" name="Image 1" descr="/home/user/architect/docs/mcr_assets/bg_gap_evidenc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0040" y="5065776"/>
            <a:ext cx="3716426" cy="1380744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4237634" y="1078992"/>
            <a:ext cx="3716426" cy="310896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28" name="Text 24"/>
          <p:cNvSpPr/>
          <p:nvPr/>
        </p:nvSpPr>
        <p:spPr>
          <a:xfrm>
            <a:off x="4283354" y="1078992"/>
            <a:ext cx="36249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그런데 현 런타임은 연산기 중심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4283354" y="1527048"/>
            <a:ext cx="36249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 중심 설계 — 단일 메모리 가정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4283354" y="1764792"/>
            <a:ext cx="362498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'연산=GPU, KV=HBM' 가정 — 메모리는 GPU 부속물, PIM/PNM 표현 자리 없고 HBM 초과 시 성능 급락</a:t>
            </a:r>
            <a:endParaRPr lang="en-US" sz="1100" dirty="0"/>
          </a:p>
        </p:txBody>
      </p:sp>
      <p:pic>
        <p:nvPicPr>
          <p:cNvPr id="31" name="Image 2" descr="/home/user/architect/docs/mcr_assets/nec_missing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237634" y="2523744"/>
            <a:ext cx="3716426" cy="1380744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4283354" y="4069080"/>
            <a:ext cx="36249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 계층의 등장, 그러나 수동 백엔드</a:t>
            </a:r>
            <a:endParaRPr lang="en-US" sz="1200" dirty="0"/>
          </a:p>
        </p:txBody>
      </p:sp>
      <p:sp>
        <p:nvSpPr>
          <p:cNvPr id="33" name="Text 28"/>
          <p:cNvSpPr/>
          <p:nvPr/>
        </p:nvSpPr>
        <p:spPr>
          <a:xfrm>
            <a:off x="4283354" y="4306824"/>
            <a:ext cx="362498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KV를 밖으로 내리는 계층(LMCache 등)도 CPU RAM·SSD 등 commodity 저장소의 수동 백엔드 — 디바이스 특성 인지 배치·근접 연산 없음</a:t>
            </a:r>
            <a:endParaRPr lang="en-US" sz="1100" dirty="0"/>
          </a:p>
        </p:txBody>
      </p:sp>
      <p:pic>
        <p:nvPicPr>
          <p:cNvPr id="34" name="Image 3" descr="/home/user/architect/docs/mcr_assets/nec_kvlayer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237634" y="5065776"/>
            <a:ext cx="3716426" cy="1380744"/>
          </a:xfrm>
          <a:prstGeom prst="rect">
            <a:avLst/>
          </a:prstGeom>
        </p:spPr>
      </p:pic>
      <p:sp>
        <p:nvSpPr>
          <p:cNvPr id="35" name="Shape 29"/>
          <p:cNvSpPr/>
          <p:nvPr/>
        </p:nvSpPr>
        <p:spPr>
          <a:xfrm>
            <a:off x="8155229" y="1078992"/>
            <a:ext cx="3716426" cy="310896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36" name="Text 30"/>
          <p:cNvSpPr/>
          <p:nvPr/>
        </p:nvSpPr>
        <p:spPr>
          <a:xfrm>
            <a:off x="8200949" y="1078992"/>
            <a:ext cx="36249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자사 제품군의 런타임 개발 필요</a:t>
            </a:r>
            <a:endParaRPr lang="en-US" sz="1300" dirty="0"/>
          </a:p>
        </p:txBody>
      </p:sp>
      <p:sp>
        <p:nvSpPr>
          <p:cNvPr id="37" name="Text 31"/>
          <p:cNvSpPr/>
          <p:nvPr/>
        </p:nvSpPr>
        <p:spPr>
          <a:xfrm>
            <a:off x="8200949" y="1527048"/>
            <a:ext cx="36249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메모리를 1급 자원으로 — MCR</a:t>
            </a:r>
            <a:endParaRPr lang="en-US" sz="1200" dirty="0"/>
          </a:p>
        </p:txBody>
      </p:sp>
      <p:sp>
        <p:nvSpPr>
          <p:cNvPr id="38" name="Text 32"/>
          <p:cNvSpPr/>
          <p:nvPr/>
        </p:nvSpPr>
        <p:spPr>
          <a:xfrm>
            <a:off x="8200949" y="1764792"/>
            <a:ext cx="362498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자사 포트폴리오를 1급 자원으로 — 데이터 배치·이동·압축·재사용과 연산 배치를 SLO 기준 조율하는 MCR(Memory-Centric Runtime)</a:t>
            </a:r>
            <a:endParaRPr lang="en-US" sz="1100" dirty="0"/>
          </a:p>
        </p:txBody>
      </p:sp>
      <p:pic>
        <p:nvPicPr>
          <p:cNvPr id="39" name="Image 4" descr="/home/user/architect/docs/mcr_assets/nec_arch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155229" y="2523744"/>
            <a:ext cx="3716426" cy="1380744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8200949" y="4069080"/>
            <a:ext cx="36249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 스택 · E2E 정량 증명</a:t>
            </a:r>
            <a:endParaRPr lang="en-US" sz="1200" dirty="0"/>
          </a:p>
        </p:txBody>
      </p:sp>
      <p:sp>
        <p:nvSpPr>
          <p:cNvPr id="41" name="Text 34"/>
          <p:cNvSpPr/>
          <p:nvPr/>
        </p:nvSpPr>
        <p:spPr>
          <a:xfrm>
            <a:off x="8200949" y="4306824"/>
            <a:ext cx="362498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자사 제품군의 레퍼런스 SW 스택이자, GPU HBM 단일 tier 대비 개선을 정량 입증하는 E2E 증명 수단</a:t>
            </a:r>
            <a:endParaRPr lang="en-US" sz="1100" dirty="0"/>
          </a:p>
        </p:txBody>
      </p:sp>
      <p:pic>
        <p:nvPicPr>
          <p:cNvPr id="42" name="Image 5" descr="/home/user/architect/docs/mcr_assets/nec_e2e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155229" y="5065776"/>
            <a:ext cx="3716426" cy="13807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2026-07-19T05:18:38Z</dcterms:created>
  <dcterms:modified xsi:type="dcterms:W3CDTF">2026-07-19T05:18:38Z</dcterms:modified>
</cp:coreProperties>
</file>