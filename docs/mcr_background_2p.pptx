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Agent 워크로드의 특징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기본 패턴: multi-turn loop × 툴 호출 × sub-agent 분업 — 한 요청이 수십~수백 스텝의 루프로 실행되며 툴 결과가 계속 유입</a:t>
            </a:r>
            <a:endParaRPr lang="en-US" sz="1100" dirty="0"/>
          </a:p>
        </p:txBody>
      </p:sp>
      <p:pic>
        <p:nvPicPr>
          <p:cNvPr id="22" name="Image 0" descr="/home/user/architect/docs/mcr_assets/ag_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스텝이 이전 대화·툴 결과·sub-agent 산출물 참조, 기억은 세션을 넘어 축적 → 장기 기억 요구 = 컨텍스트 길이 폭증</a:t>
            </a:r>
            <a:endParaRPr lang="en-US" sz="1100" dirty="0"/>
          </a:p>
        </p:txBody>
      </p:sp>
      <p:pic>
        <p:nvPicPr>
          <p:cNvPr id="24" name="Image 1" descr="/home/user/architect/docs/mcr_assets/ag_contex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메모리 병목 심화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증가 → KV cache 증가(∝ 컨텍스트×동시 세션) — decode는 매 토큰 KV 전체 read, 용량·대역폭 동시 압박</a:t>
            </a:r>
            <a:endParaRPr lang="en-US" sz="1100" dirty="0"/>
          </a:p>
        </p:txBody>
      </p:sp>
      <p:pic>
        <p:nvPicPr>
          <p:cNvPr id="28" name="Image 2" descr="/home/user/architect/docs/mcr_assets/bg_kv_evidenc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KV가 HBM 용량 초과 — 단순 DRAM→SSD offloading은 tier마다 ~10× 낮아지는 대역폭 계단을 그대로 노출 → 성능 급락</a:t>
            </a:r>
            <a:endParaRPr lang="en-US" sz="1100" dirty="0"/>
          </a:p>
        </p:txBody>
      </p:sp>
      <p:pic>
        <p:nvPicPr>
          <p:cNvPr id="30" name="Image 3" descr="/home/user/architect/docs/mcr_assets/bg_offloa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업계 현황 — 메모리 중심 제품군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업계의 대응: 대역폭 축 HBM 고도화·근접 연산(PIM/PNM), 용량 축 CXL 확장·신규 tier(HBF) — 계층은 5+ tier로 심화</a:t>
            </a:r>
            <a:endParaRPr lang="en-US" sz="1100" dirty="0"/>
          </a:p>
        </p:txBody>
      </p:sp>
      <p:pic>
        <p:nvPicPr>
          <p:cNvPr id="34" name="Image 4" descr="/home/user/architect/docs/mcr_assets/industry_products_photos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자사(삼성): 근접 연산(PIM·CIM)부터 계층화(Custom HBM·HBF·CXL)까지 — 근접연산·대역폭·용량 전 축의 포트폴리오 보유</a:t>
            </a:r>
            <a:endParaRPr lang="en-US" sz="1100" dirty="0"/>
          </a:p>
        </p:txBody>
      </p:sp>
      <p:pic>
        <p:nvPicPr>
          <p:cNvPr id="36" name="Image 5" descr="/home/user/architect/docs/mcr_assets/samsung_portfolio_photo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런타임 스택의 중요도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씬의 승부처 = 실행 계층(런타임)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1764792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배치·이동·스케줄링을 결정하는 실행 계층 — 업계 전체가 자체 런타임(TensorRT-LLM·ONNX Runtime·vLLM·SGLang)에 투자, CUDA 해자도 실리콘 아닌 SW 스택</a:t>
            </a:r>
            <a:endParaRPr lang="en-US" sz="1100" dirty="0"/>
          </a:p>
        </p:txBody>
      </p:sp>
      <p:pic>
        <p:nvPicPr>
          <p:cNvPr id="23" name="Image 0" descr="/home/user/architect/docs/mcr_assets/bg_stack_run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523744"/>
            <a:ext cx="3716426" cy="138074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365760" y="4069080"/>
            <a:ext cx="362498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HW, 런타임만으로 갈린 성능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" y="4306824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런타임만으로 처리량 2–4×(vLLM SOSP'23)·100×(FlexGen ICML'23) 격차 — HW 스펙은 상한일 뿐, 도달 성능은 런타임이 결정</a:t>
            </a:r>
            <a:endParaRPr lang="en-US" sz="1100" dirty="0"/>
          </a:p>
        </p:txBody>
      </p:sp>
      <p:pic>
        <p:nvPicPr>
          <p:cNvPr id="26" name="Image 1" descr="/home/user/architect/docs/mcr_assets/bg_gap_evid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5065776"/>
            <a:ext cx="3716426" cy="1380744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8" name="Text 24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그런데 현 런타임은 연산기 중심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4283354" y="1527048"/>
            <a:ext cx="362498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중심 설계 — 메모리는 부속물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283354" y="1764792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'연산=GPU, KV=HBM' 가정 — KV가 HBM을 넘는 순간 선점·재계산·스왑으로 성능 급락, DRAM·CXL·HBF tier와 PIM/PNM은 런타임에 보이지도 않음</a:t>
            </a:r>
            <a:endParaRPr lang="en-US" sz="1100" dirty="0"/>
          </a:p>
        </p:txBody>
      </p:sp>
      <p:pic>
        <p:nvPicPr>
          <p:cNvPr id="31" name="Image 2" descr="/home/user/architect/docs/mcr_assets/nec_gpu_limi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523744"/>
            <a:ext cx="3716426" cy="1380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4283354" y="4069080"/>
            <a:ext cx="362498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내리는 계층도 '넣고 꺼내기'뿐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4283354" y="4306824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LMCache 등이 KV를 CPU RAM·SSD로 내려 보관하지만 하는 일은 넣고 꺼내기가 전부 — 어떤 KV를 어느 tier에 둘지, 연산을 데이터 쪽으로 보낼지는 판단하지 못함</a:t>
            </a:r>
            <a:endParaRPr lang="en-US" sz="1100" dirty="0"/>
          </a:p>
        </p:txBody>
      </p:sp>
      <p:pic>
        <p:nvPicPr>
          <p:cNvPr id="34" name="Image 3" descr="/home/user/architect/docs/mcr_assets/nec_kvlaye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5065776"/>
            <a:ext cx="3716426" cy="138074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6" name="Text 30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자사 제품군의 런타임 개발 필요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8200949" y="1527048"/>
            <a:ext cx="362498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런타임과 다른 점 — 결정을 내린다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8200949" y="1764792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SLO 기준으로 hot KV는 HBM·warm은 CXL·cold는 압축해 flash에 배치하고, attention 연산은 PIM으로 보내 이동 자체를 절감 — '밀려나면 내리는' 기존 방식과의 차이</a:t>
            </a:r>
            <a:endParaRPr lang="en-US" sz="1100" dirty="0"/>
          </a:p>
        </p:txBody>
      </p:sp>
      <p:pic>
        <p:nvPicPr>
          <p:cNvPr id="39" name="Image 4" descr="/home/user/architect/docs/mcr_assets/nec_mcr_dif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523744"/>
            <a:ext cx="3716426" cy="1380744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8200949" y="4069080"/>
            <a:ext cx="362498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스택 · E2E 정량 증명</a:t>
            </a:r>
            <a:endParaRPr lang="en-US" sz="1200" dirty="0"/>
          </a:p>
        </p:txBody>
      </p:sp>
      <p:sp>
        <p:nvSpPr>
          <p:cNvPr id="41" name="Text 34"/>
          <p:cNvSpPr/>
          <p:nvPr/>
        </p:nvSpPr>
        <p:spPr>
          <a:xfrm>
            <a:off x="8200949" y="4306824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제품군의 레퍼런스 SW 스택이자, GPU HBM 단일 tier 대비 개선을 정량 입증하는 E2E 증명 수단</a:t>
            </a:r>
            <a:endParaRPr lang="en-US" sz="1100" dirty="0"/>
          </a:p>
        </p:txBody>
      </p:sp>
      <p:pic>
        <p:nvPicPr>
          <p:cNvPr id="42" name="Image 5" descr="/home/user/architect/docs/mcr_assets/nec_e2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5065776"/>
            <a:ext cx="3716426" cy="13807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2026-07-19T06:08:44Z</dcterms:created>
  <dcterms:modified xsi:type="dcterms:W3CDTF">2026-07-19T06:08:44Z</dcterms:modified>
</cp:coreProperties>
</file>