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image" Target="../media/image-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3864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109728"/>
            <a:ext cx="45720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과제 배경 (1/2)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208215" y="320040"/>
            <a:ext cx="786384" cy="274320"/>
          </a:xfrm>
          <a:prstGeom prst="rect">
            <a:avLst/>
          </a:prstGeom>
          <a:solidFill>
            <a:srgbClr val="FFC000"/>
          </a:solidFill>
          <a:ln w="9525">
            <a:solidFill>
              <a:srgbClr val="FFC00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208215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과제 개요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8008315" y="338328"/>
            <a:ext cx="155448" cy="237744"/>
          </a:xfrm>
          <a:prstGeom prst="chevron">
            <a:avLst/>
          </a:prstGeom>
          <a:solidFill>
            <a:srgbClr val="9AA0A6"/>
          </a:solidFill>
          <a:ln/>
        </p:spPr>
      </p:sp>
      <p:sp>
        <p:nvSpPr>
          <p:cNvPr id="7" name="Shape 5"/>
          <p:cNvSpPr/>
          <p:nvPr/>
        </p:nvSpPr>
        <p:spPr>
          <a:xfrm>
            <a:off x="8177479" y="320040"/>
            <a:ext cx="786384" cy="274320"/>
          </a:xfrm>
          <a:prstGeom prst="rect">
            <a:avLst/>
          </a:prstGeom>
          <a:solidFill>
            <a:srgbClr val="E9E9E9"/>
          </a:solidFill>
          <a:ln w="9525">
            <a:solidFill>
              <a:srgbClr val="A6A6A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177479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요구사항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977579" y="338328"/>
            <a:ext cx="155448" cy="237744"/>
          </a:xfrm>
          <a:prstGeom prst="chevron">
            <a:avLst/>
          </a:prstGeom>
          <a:solidFill>
            <a:srgbClr val="9AA0A6"/>
          </a:solidFill>
          <a:ln/>
        </p:spPr>
      </p:sp>
      <p:sp>
        <p:nvSpPr>
          <p:cNvPr id="10" name="Shape 8"/>
          <p:cNvSpPr/>
          <p:nvPr/>
        </p:nvSpPr>
        <p:spPr>
          <a:xfrm>
            <a:off x="9146743" y="320040"/>
            <a:ext cx="786384" cy="274320"/>
          </a:xfrm>
          <a:prstGeom prst="rect">
            <a:avLst/>
          </a:prstGeom>
          <a:solidFill>
            <a:srgbClr val="E9E9E9"/>
          </a:solidFill>
          <a:ln w="9525">
            <a:solidFill>
              <a:srgbClr val="A6A6A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6743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설계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9946843" y="338328"/>
            <a:ext cx="155448" cy="237744"/>
          </a:xfrm>
          <a:prstGeom prst="chevron">
            <a:avLst/>
          </a:prstGeom>
          <a:solidFill>
            <a:srgbClr val="9AA0A6"/>
          </a:solidFill>
          <a:ln/>
        </p:spPr>
      </p:sp>
      <p:sp>
        <p:nvSpPr>
          <p:cNvPr id="13" name="Shape 11"/>
          <p:cNvSpPr/>
          <p:nvPr/>
        </p:nvSpPr>
        <p:spPr>
          <a:xfrm>
            <a:off x="10116007" y="320040"/>
            <a:ext cx="786384" cy="274320"/>
          </a:xfrm>
          <a:prstGeom prst="rect">
            <a:avLst/>
          </a:prstGeom>
          <a:solidFill>
            <a:srgbClr val="E9E9E9"/>
          </a:solidFill>
          <a:ln w="9525">
            <a:solidFill>
              <a:srgbClr val="A6A6A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116007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검증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10916107" y="338328"/>
            <a:ext cx="155448" cy="237744"/>
          </a:xfrm>
          <a:prstGeom prst="chevron">
            <a:avLst/>
          </a:prstGeom>
          <a:solidFill>
            <a:srgbClr val="9AA0A6"/>
          </a:solidFill>
          <a:ln/>
        </p:spPr>
      </p:sp>
      <p:sp>
        <p:nvSpPr>
          <p:cNvPr id="16" name="Shape 14"/>
          <p:cNvSpPr/>
          <p:nvPr/>
        </p:nvSpPr>
        <p:spPr>
          <a:xfrm>
            <a:off x="11085271" y="320040"/>
            <a:ext cx="786384" cy="274320"/>
          </a:xfrm>
          <a:prstGeom prst="rect">
            <a:avLst/>
          </a:prstGeom>
          <a:solidFill>
            <a:srgbClr val="E9E9E9"/>
          </a:solidFill>
          <a:ln w="9525">
            <a:solidFill>
              <a:srgbClr val="A6A6A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085271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결론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0728655" y="6492240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F7F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/ 33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320040" y="1078992"/>
            <a:ext cx="3716426" cy="310896"/>
          </a:xfrm>
          <a:prstGeom prst="rect">
            <a:avLst/>
          </a:prstGeom>
          <a:solidFill>
            <a:srgbClr val="4E7C3A"/>
          </a:solidFill>
          <a:ln/>
        </p:spPr>
      </p:sp>
      <p:sp>
        <p:nvSpPr>
          <p:cNvPr id="20" name="Text 18"/>
          <p:cNvSpPr/>
          <p:nvPr/>
        </p:nvSpPr>
        <p:spPr>
          <a:xfrm>
            <a:off x="365760" y="1078992"/>
            <a:ext cx="362498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AI 메모리 병목 심화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760" y="1527048"/>
            <a:ext cx="362498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600"/>
              </a:spcAft>
              <a:buSzPct val="100000"/>
              <a:buChar char="◆"/>
            </a:pPr>
            <a:r>
              <a:rPr lang="en-US" sz="11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대역폭 병목: decode가 추론 시간 지배 — 매 토큰 KV cache 전체 read, 컨텍스트 폭증으로 심화</a:t>
            </a:r>
            <a:endParaRPr lang="en-US" sz="1100" dirty="0"/>
          </a:p>
        </p:txBody>
      </p:sp>
      <p:pic>
        <p:nvPicPr>
          <p:cNvPr id="22" name="Image 0" descr="/home/user/architect/docs/mcr_assets/bg_decod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20040" y="2286000"/>
            <a:ext cx="3716426" cy="1618488"/>
          </a:xfrm>
          <a:prstGeom prst="rect">
            <a:avLst/>
          </a:prstGeom>
        </p:spPr>
      </p:pic>
      <p:sp>
        <p:nvSpPr>
          <p:cNvPr id="23" name="Text 20"/>
          <p:cNvSpPr/>
          <p:nvPr/>
        </p:nvSpPr>
        <p:spPr>
          <a:xfrm>
            <a:off x="365760" y="4069080"/>
            <a:ext cx="362498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600"/>
              </a:spcAft>
              <a:buSzPct val="100000"/>
              <a:buChar char="◆"/>
            </a:pPr>
            <a:r>
              <a:rPr lang="en-US" sz="11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용량 병목: KV cache ∝ 컨텍스트×동시 세션 → HBM 압박, agent 장기 기억이 구조적으로 심화</a:t>
            </a:r>
            <a:endParaRPr lang="en-US" sz="1100" dirty="0"/>
          </a:p>
        </p:txBody>
      </p:sp>
      <p:pic>
        <p:nvPicPr>
          <p:cNvPr id="24" name="Image 1" descr="/home/user/architect/docs/mcr_assets/bg_kv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320040" y="4828032"/>
            <a:ext cx="3716426" cy="1618488"/>
          </a:xfrm>
          <a:prstGeom prst="rect">
            <a:avLst/>
          </a:prstGeom>
        </p:spPr>
      </p:pic>
      <p:sp>
        <p:nvSpPr>
          <p:cNvPr id="25" name="Shape 21"/>
          <p:cNvSpPr/>
          <p:nvPr/>
        </p:nvSpPr>
        <p:spPr>
          <a:xfrm>
            <a:off x="4237634" y="1078992"/>
            <a:ext cx="3716426" cy="310896"/>
          </a:xfrm>
          <a:prstGeom prst="rect">
            <a:avLst/>
          </a:prstGeom>
          <a:solidFill>
            <a:srgbClr val="4E7C3A"/>
          </a:solidFill>
          <a:ln/>
        </p:spPr>
      </p:sp>
      <p:sp>
        <p:nvSpPr>
          <p:cNvPr id="26" name="Text 22"/>
          <p:cNvSpPr/>
          <p:nvPr/>
        </p:nvSpPr>
        <p:spPr>
          <a:xfrm>
            <a:off x="4283354" y="1078992"/>
            <a:ext cx="362498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업계의 대응 — 메모리 중심 해법</a:t>
            </a:r>
            <a:endParaRPr lang="en-US" sz="1300" dirty="0"/>
          </a:p>
        </p:txBody>
      </p:sp>
      <p:sp>
        <p:nvSpPr>
          <p:cNvPr id="27" name="Text 23"/>
          <p:cNvSpPr/>
          <p:nvPr/>
        </p:nvSpPr>
        <p:spPr>
          <a:xfrm>
            <a:off x="4283354" y="1527048"/>
            <a:ext cx="362498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600"/>
              </a:spcAft>
              <a:buSzPct val="100000"/>
              <a:buChar char="◆"/>
            </a:pPr>
            <a:r>
              <a:rPr lang="en-US" sz="11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대역폭 병목 → 근접 연산(PIM/PNM): 연산을 데이터가 있는 곳으로 보내 이동량 자체를 절감</a:t>
            </a:r>
            <a:endParaRPr lang="en-US" sz="1100" dirty="0"/>
          </a:p>
        </p:txBody>
      </p:sp>
      <p:pic>
        <p:nvPicPr>
          <p:cNvPr id="28" name="Image 2" descr="/home/user/architect/docs/mcr_assets/bg_shift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4237634" y="2286000"/>
            <a:ext cx="3716426" cy="1618488"/>
          </a:xfrm>
          <a:prstGeom prst="rect">
            <a:avLst/>
          </a:prstGeom>
        </p:spPr>
      </p:pic>
      <p:sp>
        <p:nvSpPr>
          <p:cNvPr id="29" name="Text 24"/>
          <p:cNvSpPr/>
          <p:nvPr/>
        </p:nvSpPr>
        <p:spPr>
          <a:xfrm>
            <a:off x="4283354" y="4069080"/>
            <a:ext cx="362498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600"/>
              </a:spcAft>
              <a:buSzPct val="100000"/>
              <a:buChar char="◆"/>
            </a:pPr>
            <a:r>
              <a:rPr lang="en-US" sz="11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용량 병목 → 계층화(tiered offloading): 하위 tier로 내리고 필요 시 회수, HBM 밖 용량 확장</a:t>
            </a:r>
            <a:endParaRPr lang="en-US" sz="1100" dirty="0"/>
          </a:p>
        </p:txBody>
      </p:sp>
      <p:pic>
        <p:nvPicPr>
          <p:cNvPr id="30" name="Image 3" descr="/home/user/architect/docs/mcr_assets/bg_hierarchy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4237634" y="4828032"/>
            <a:ext cx="3716426" cy="1618488"/>
          </a:xfrm>
          <a:prstGeom prst="rect">
            <a:avLst/>
          </a:prstGeom>
        </p:spPr>
      </p:pic>
      <p:sp>
        <p:nvSpPr>
          <p:cNvPr id="31" name="Shape 25"/>
          <p:cNvSpPr/>
          <p:nvPr/>
        </p:nvSpPr>
        <p:spPr>
          <a:xfrm>
            <a:off x="8155229" y="1078992"/>
            <a:ext cx="3716426" cy="310896"/>
          </a:xfrm>
          <a:prstGeom prst="rect">
            <a:avLst/>
          </a:prstGeom>
          <a:solidFill>
            <a:srgbClr val="4E7C3A"/>
          </a:solidFill>
          <a:ln/>
        </p:spPr>
      </p:sp>
      <p:sp>
        <p:nvSpPr>
          <p:cNvPr id="32" name="Text 26"/>
          <p:cNvSpPr/>
          <p:nvPr/>
        </p:nvSpPr>
        <p:spPr>
          <a:xfrm>
            <a:off x="8200949" y="1078992"/>
            <a:ext cx="362498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 자사: 두 방향 모두 제품군 보유</a:t>
            </a:r>
            <a:endParaRPr lang="en-US" sz="1300" dirty="0"/>
          </a:p>
        </p:txBody>
      </p:sp>
      <p:sp>
        <p:nvSpPr>
          <p:cNvPr id="33" name="Text 27"/>
          <p:cNvSpPr/>
          <p:nvPr/>
        </p:nvSpPr>
        <p:spPr>
          <a:xfrm>
            <a:off x="8200949" y="1527048"/>
            <a:ext cx="362498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600"/>
              </a:spcAft>
              <a:buSzPct val="100000"/>
              <a:buChar char="◆"/>
            </a:pPr>
            <a:r>
              <a:rPr lang="en-US" sz="11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근접 연산(PIM·CIM)부터 계층화(Custom HBM·HBF·CXL)까지 — ②의 두 방향 모두 제품 포트폴리오로 확보</a:t>
            </a:r>
            <a:endParaRPr lang="en-US" sz="1100" dirty="0"/>
          </a:p>
        </p:txBody>
      </p:sp>
      <p:pic>
        <p:nvPicPr>
          <p:cNvPr id="34" name="Image 4" descr="/home/user/architect/docs/mcr_assets/bg_devices.png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8155229" y="2286000"/>
            <a:ext cx="3716426" cy="1618488"/>
          </a:xfrm>
          <a:prstGeom prst="rect">
            <a:avLst/>
          </a:prstGeom>
        </p:spPr>
      </p:pic>
      <p:sp>
        <p:nvSpPr>
          <p:cNvPr id="35" name="Text 28"/>
          <p:cNvSpPr/>
          <p:nvPr/>
        </p:nvSpPr>
        <p:spPr>
          <a:xfrm>
            <a:off x="8200949" y="4069080"/>
            <a:ext cx="362498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600"/>
              </a:spcAft>
              <a:buSzPct val="100000"/>
              <a:buChar char="◆"/>
            </a:pPr>
            <a:r>
              <a:rPr lang="en-US" sz="11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근접연산·대역폭·용량의 상이한 축 — 조합 시 새 설계 공간, 병목을 풀 하드웨어 재료는 갖춰짐</a:t>
            </a:r>
            <a:endParaRPr lang="en-US" sz="1100" dirty="0"/>
          </a:p>
        </p:txBody>
      </p:sp>
      <p:pic>
        <p:nvPicPr>
          <p:cNvPr id="36" name="Image 5" descr="/home/user/architect/docs/mcr_assets/bg_axes.png">    </p:cNvPr>
          <p:cNvPicPr>
            <a:picLocks noChangeAspect="1"/>
          </p:cNvPicPr>
          <p:nvPr/>
        </p:nvPicPr>
        <p:blipFill>
          <a:blip r:embed="rId6"/>
          <a:srcRect l="0" r="0" t="0" b="0"/>
          <a:stretch/>
        </p:blipFill>
        <p:spPr>
          <a:xfrm>
            <a:off x="8155229" y="4828032"/>
            <a:ext cx="3716426" cy="161848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3864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109728"/>
            <a:ext cx="45720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과제 배경 (2/2)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208215" y="320040"/>
            <a:ext cx="786384" cy="274320"/>
          </a:xfrm>
          <a:prstGeom prst="rect">
            <a:avLst/>
          </a:prstGeom>
          <a:solidFill>
            <a:srgbClr val="FFC000"/>
          </a:solidFill>
          <a:ln w="9525">
            <a:solidFill>
              <a:srgbClr val="FFC00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208215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과제 개요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8008315" y="338328"/>
            <a:ext cx="155448" cy="237744"/>
          </a:xfrm>
          <a:prstGeom prst="chevron">
            <a:avLst/>
          </a:prstGeom>
          <a:solidFill>
            <a:srgbClr val="9AA0A6"/>
          </a:solidFill>
          <a:ln/>
        </p:spPr>
      </p:sp>
      <p:sp>
        <p:nvSpPr>
          <p:cNvPr id="7" name="Shape 5"/>
          <p:cNvSpPr/>
          <p:nvPr/>
        </p:nvSpPr>
        <p:spPr>
          <a:xfrm>
            <a:off x="8177479" y="320040"/>
            <a:ext cx="786384" cy="274320"/>
          </a:xfrm>
          <a:prstGeom prst="rect">
            <a:avLst/>
          </a:prstGeom>
          <a:solidFill>
            <a:srgbClr val="E9E9E9"/>
          </a:solidFill>
          <a:ln w="9525">
            <a:solidFill>
              <a:srgbClr val="A6A6A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177479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요구사항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977579" y="338328"/>
            <a:ext cx="155448" cy="237744"/>
          </a:xfrm>
          <a:prstGeom prst="chevron">
            <a:avLst/>
          </a:prstGeom>
          <a:solidFill>
            <a:srgbClr val="9AA0A6"/>
          </a:solidFill>
          <a:ln/>
        </p:spPr>
      </p:sp>
      <p:sp>
        <p:nvSpPr>
          <p:cNvPr id="10" name="Shape 8"/>
          <p:cNvSpPr/>
          <p:nvPr/>
        </p:nvSpPr>
        <p:spPr>
          <a:xfrm>
            <a:off x="9146743" y="320040"/>
            <a:ext cx="786384" cy="274320"/>
          </a:xfrm>
          <a:prstGeom prst="rect">
            <a:avLst/>
          </a:prstGeom>
          <a:solidFill>
            <a:srgbClr val="E9E9E9"/>
          </a:solidFill>
          <a:ln w="9525">
            <a:solidFill>
              <a:srgbClr val="A6A6A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6743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설계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9946843" y="338328"/>
            <a:ext cx="155448" cy="237744"/>
          </a:xfrm>
          <a:prstGeom prst="chevron">
            <a:avLst/>
          </a:prstGeom>
          <a:solidFill>
            <a:srgbClr val="9AA0A6"/>
          </a:solidFill>
          <a:ln/>
        </p:spPr>
      </p:sp>
      <p:sp>
        <p:nvSpPr>
          <p:cNvPr id="13" name="Shape 11"/>
          <p:cNvSpPr/>
          <p:nvPr/>
        </p:nvSpPr>
        <p:spPr>
          <a:xfrm>
            <a:off x="10116007" y="320040"/>
            <a:ext cx="786384" cy="274320"/>
          </a:xfrm>
          <a:prstGeom prst="rect">
            <a:avLst/>
          </a:prstGeom>
          <a:solidFill>
            <a:srgbClr val="E9E9E9"/>
          </a:solidFill>
          <a:ln w="9525">
            <a:solidFill>
              <a:srgbClr val="A6A6A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116007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검증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10916107" y="338328"/>
            <a:ext cx="155448" cy="237744"/>
          </a:xfrm>
          <a:prstGeom prst="chevron">
            <a:avLst/>
          </a:prstGeom>
          <a:solidFill>
            <a:srgbClr val="9AA0A6"/>
          </a:solidFill>
          <a:ln/>
        </p:spPr>
      </p:sp>
      <p:sp>
        <p:nvSpPr>
          <p:cNvPr id="16" name="Shape 14"/>
          <p:cNvSpPr/>
          <p:nvPr/>
        </p:nvSpPr>
        <p:spPr>
          <a:xfrm>
            <a:off x="11085271" y="320040"/>
            <a:ext cx="786384" cy="274320"/>
          </a:xfrm>
          <a:prstGeom prst="rect">
            <a:avLst/>
          </a:prstGeom>
          <a:solidFill>
            <a:srgbClr val="E9E9E9"/>
          </a:solidFill>
          <a:ln w="9525">
            <a:solidFill>
              <a:srgbClr val="A6A6A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085271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결론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0728655" y="6492240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F7F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/ 33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320040" y="1078992"/>
            <a:ext cx="5675224" cy="310896"/>
          </a:xfrm>
          <a:prstGeom prst="rect">
            <a:avLst/>
          </a:prstGeom>
          <a:solidFill>
            <a:srgbClr val="4E7C3A"/>
          </a:solidFill>
          <a:ln/>
        </p:spPr>
      </p:sp>
      <p:sp>
        <p:nvSpPr>
          <p:cNvPr id="20" name="Text 18"/>
          <p:cNvSpPr/>
          <p:nvPr/>
        </p:nvSpPr>
        <p:spPr>
          <a:xfrm>
            <a:off x="365760" y="1078992"/>
            <a:ext cx="55837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④ 현재 런타임은 이 재료를 활용하지 못한다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760" y="1527048"/>
            <a:ext cx="55837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600"/>
              </a:spcAft>
              <a:buSzPct val="100000"/>
              <a:buChar char="◆"/>
            </a:pPr>
            <a:r>
              <a:rPr lang="en-US" sz="11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GPU 중심 설계: 'KV=HBM' 단일 메모리 가정 — 메모리 관리·offloading 정책만으로 성능 2–4×~100× 격차 실증(vLLM SOSP'23 · FlexGen ICML'23)</a:t>
            </a:r>
            <a:endParaRPr lang="en-US" sz="1100" dirty="0"/>
          </a:p>
        </p:txBody>
      </p:sp>
      <p:pic>
        <p:nvPicPr>
          <p:cNvPr id="22" name="Image 0" descr="/home/user/architect/docs/mcr_assets/bg_gap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20040" y="2286000"/>
            <a:ext cx="5675224" cy="1618488"/>
          </a:xfrm>
          <a:prstGeom prst="rect">
            <a:avLst/>
          </a:prstGeom>
        </p:spPr>
      </p:pic>
      <p:sp>
        <p:nvSpPr>
          <p:cNvPr id="23" name="Text 20"/>
          <p:cNvSpPr/>
          <p:nvPr/>
        </p:nvSpPr>
        <p:spPr>
          <a:xfrm>
            <a:off x="365760" y="4069080"/>
            <a:ext cx="55837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600"/>
              </a:spcAft>
              <a:buSzPct val="100000"/>
              <a:buChar char="◆"/>
            </a:pPr>
            <a:r>
              <a:rPr lang="en-US" sz="11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KV를 밖으로 내리는 계층(LMCache 등)도 CPU RAM·SSD 등 commodity 저장소의 수동 백엔드 — 디바이스 특성 인지 배치·근접 연산 없음</a:t>
            </a:r>
            <a:endParaRPr lang="en-US" sz="1100" dirty="0"/>
          </a:p>
        </p:txBody>
      </p:sp>
      <p:pic>
        <p:nvPicPr>
          <p:cNvPr id="24" name="Image 1" descr="/home/user/architect/docs/mcr_assets/nec_kvlayer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320040" y="4828032"/>
            <a:ext cx="5675224" cy="1618488"/>
          </a:xfrm>
          <a:prstGeom prst="rect">
            <a:avLst/>
          </a:prstGeom>
        </p:spPr>
      </p:pic>
      <p:sp>
        <p:nvSpPr>
          <p:cNvPr id="25" name="Shape 21"/>
          <p:cNvSpPr/>
          <p:nvPr/>
        </p:nvSpPr>
        <p:spPr>
          <a:xfrm>
            <a:off x="6196432" y="1078992"/>
            <a:ext cx="5675224" cy="310896"/>
          </a:xfrm>
          <a:prstGeom prst="rect">
            <a:avLst/>
          </a:prstGeom>
          <a:solidFill>
            <a:srgbClr val="4E7C3A"/>
          </a:solidFill>
          <a:ln/>
        </p:spPr>
      </p:sp>
      <p:sp>
        <p:nvSpPr>
          <p:cNvPr id="26" name="Text 22"/>
          <p:cNvSpPr/>
          <p:nvPr/>
        </p:nvSpPr>
        <p:spPr>
          <a:xfrm>
            <a:off x="6242152" y="1078992"/>
            <a:ext cx="55837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⑤ 자사 제품군을 활용하는 런타임 개발 필요</a:t>
            </a:r>
            <a:endParaRPr lang="en-US" sz="1300" dirty="0"/>
          </a:p>
        </p:txBody>
      </p:sp>
      <p:sp>
        <p:nvSpPr>
          <p:cNvPr id="27" name="Text 23"/>
          <p:cNvSpPr/>
          <p:nvPr/>
        </p:nvSpPr>
        <p:spPr>
          <a:xfrm>
            <a:off x="6242152" y="1527048"/>
            <a:ext cx="55837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600"/>
              </a:spcAft>
              <a:buSzPct val="100000"/>
              <a:buChar char="◆"/>
            </a:pPr>
            <a:r>
              <a:rPr lang="en-US" sz="11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자사 포트폴리오를 1급 자원으로 — 데이터 배치·이동·압축·재사용과 연산 배치를 SLO 기준 조율하는 MCR(Memory-Centric Runtime)</a:t>
            </a:r>
            <a:endParaRPr lang="en-US" sz="1100" dirty="0"/>
          </a:p>
        </p:txBody>
      </p:sp>
      <p:pic>
        <p:nvPicPr>
          <p:cNvPr id="28" name="Image 2" descr="/home/user/architect/docs/mcr_assets/nec_arch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6196432" y="2286000"/>
            <a:ext cx="5675224" cy="1618488"/>
          </a:xfrm>
          <a:prstGeom prst="rect">
            <a:avLst/>
          </a:prstGeom>
        </p:spPr>
      </p:pic>
      <p:sp>
        <p:nvSpPr>
          <p:cNvPr id="29" name="Text 24"/>
          <p:cNvSpPr/>
          <p:nvPr/>
        </p:nvSpPr>
        <p:spPr>
          <a:xfrm>
            <a:off x="6242152" y="4069080"/>
            <a:ext cx="55837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600"/>
              </a:spcAft>
              <a:buSzPct val="100000"/>
              <a:buChar char="◆"/>
            </a:pPr>
            <a:r>
              <a:rPr lang="en-US" sz="11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자사 제품군의 레퍼런스 SW 스택이자, GPU HBM 단일 tier 대비 개선을 정량 입증하는 E2E 증명 수단</a:t>
            </a:r>
            <a:endParaRPr lang="en-US" sz="1100" dirty="0"/>
          </a:p>
        </p:txBody>
      </p:sp>
      <p:pic>
        <p:nvPicPr>
          <p:cNvPr id="30" name="Image 3" descr="/home/user/architect/docs/mcr_assets/nec_e2e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6196432" y="4828032"/>
            <a:ext cx="5675224" cy="1618488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algun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algun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2026-07-16T06:47:57Z</dcterms:created>
  <dcterms:modified xsi:type="dcterms:W3CDTF">2026-07-16T06:47:57Z</dcterms:modified>
</cp:coreProperties>
</file>