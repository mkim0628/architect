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수집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106070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</a:t>
            </a:r>
            <a:pPr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Stakeholder 인터뷰·QAW + 자체 실측·문헌 조사 병행 → 원시 요구사항 24건(결번 1, 유효 23건) 수집</a:t>
            </a:r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서비스 운영 조직은 stakeholder 아님(연구 과제): 서빙 SLO·워크로드 요구는 문헌·자체 실측으로 대체 수집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1389888"/>
            <a:ext cx="6492240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38988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Stakeholder 및 역할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773936"/>
          <a:ext cx="6492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9377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Stakeholder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 · 주요 관심사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 사업부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 발주 일원 — memory-centric 제품군 로드맵. E2E 제품 가치·근접연산 실증은 2단계 배정(R-07·09), 1단계엔 tier 추상화 접속점 보존 요구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MCAS 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타겟 메모리 시스템 성능의 시뮬레이션·예측 — 예측치의 실측 재현(R-02), tier 조합별 효용 정량화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public LLM 응용·모델 사용자 — 대표 워크로드(RAG·multiturn·agent)의 요구 특성 제공: 장문 비용·세션 기억·품질 유지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임원 (랩장)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 승인·자원 배정, 목표 재정의(R-24) 주체 — KV 최적 운용 효용성의 E2E 정량 입증(baseline 대비)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MCR 개발팀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런타임 개발·유지보수·자체 실측 — 개발 비용, upstream 추종·교체 부담, 코어/모듈 경계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 (잠재)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레퍼런스 스택 수요처 — 생태계 호환·실측 증거·확장성 (도입 전제 조건만 수집)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(간접) 오픈소스 커뮤니티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vLLM·SGLang·LMCache 진화 주체 — 릴리스 주기·인터페이스 변화가 제약으로 작용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7178040" y="1389888"/>
            <a:ext cx="4553712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4" name="Text 21"/>
          <p:cNvSpPr/>
          <p:nvPr/>
        </p:nvSpPr>
        <p:spPr>
          <a:xfrm>
            <a:off x="7223760" y="1389888"/>
            <a:ext cx="4462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수집 방법</a:t>
            </a:r>
            <a:endParaRPr lang="en-US" sz="13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773936"/>
          <a:ext cx="455371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63347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Stakeholder 인터뷰·VOC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원시 요구사항 R-01~R-24 (부록 A)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QAW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 요구의 시나리오화 — §4.1·Utility Tree 행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벤치마크 실측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decode 대기 70–85% (A) — QA1·QA3 baseline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문헌·업계 벤치 조사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CacheBlend·H2O·SnapKV·KIVI·vLLM·SGLang·MLPerf·LongBench (B)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upstream 릴리스 분석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vLLM 2주 케이던스 (B) — QA5 bin·DP1 비용 모델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유사 시스템 분석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LMCache 등 KV offloading 계층 (B) — DP1 후보 발굴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 22"/>
          <p:cNvSpPr/>
          <p:nvPr/>
        </p:nvSpPr>
        <p:spPr>
          <a:xfrm>
            <a:off x="8945575" y="6309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원시 요구사항(VOC) R-01~R-24 전량 : 부록 A (p.25)  </a:t>
            </a:r>
            <a:pPr algn="r" indent="0" marL="0">
              <a:buNone/>
            </a:pPr>
            <a:r>
              <a:rPr 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정제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106070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</a:t>
            </a:r>
            <a:pPr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24건(유효 23건) → 기능 요구사항 7건 · 품질 요구(QA 후보) 11건 · 제약사항 3건 · 범위 판정 1건 · 2단계 배정 2건(R-07·09)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1389888"/>
            <a:ext cx="6720840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389888"/>
            <a:ext cx="6629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요구사항 (FR) — 목표 3축 대응 재편 (v1.0)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773936"/>
          <a:ext cx="672084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325880"/>
                <a:gridCol w="47091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태그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 (요지)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FR-01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워크로드 서빙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워크로드(long-context RAG·multiturn·agent memory) E2E 처리 — retrieval은 외부 컴포넌트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FR-02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재사용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세션·사용자 영속 + prefix 넘어 비접두(chunk) 재사용 + 복원 vs 재계산 비용 판단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FR-03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압축(pruning)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중요도 기반 토큰 pruning 주 기법(양자화 조합) — 요청별 품질 예산 차등 적용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FR-04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tier 배치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HBM 밖 tier(DRAM·SSD — 1단계 commodity)에 배치·승격/강등 — 2단계 디바이스 접속점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FR-05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인지 스케줄링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cache-hit/locality 인지 admission·라우팅 + KV 공간 확보(압축/강등/축출 선택) + SLO 차등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FR-06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P/D 분리 실행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prefill/decode 분리 구성의 인스턴스 간 KV 전송 포함 실행 (실험 변수)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FR-07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telemetry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관측 지표 수집 → 정책 피드백 + 고정 N 내 P/D 비율 자동 조정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320040" y="4224528"/>
            <a:ext cx="6720840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4" name="Text 21"/>
          <p:cNvSpPr/>
          <p:nvPr/>
        </p:nvSpPr>
        <p:spPr>
          <a:xfrm>
            <a:off x="365760" y="4224528"/>
            <a:ext cx="6629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제약사항 (C)</a:t>
            </a:r>
            <a:endParaRPr lang="en-US" sz="13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08576"/>
          <a:ext cx="672084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737360"/>
                <a:gridCol w="42976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제약사항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 (요지)</a:t>
                      </a:r>
                      <a:endParaRPr lang="en-US" sz="8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C-01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디바이스 불변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 HW 설계 변경 불가 — tier는 파라미터(대역폭·용량·지연)로만 취급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C-02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Transformer 한정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최적화 대상은 KV cache 보유 모델 — 탈Transformer는 전제 불성립으로 범위 외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C-03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training-free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정확도 유지는 재학습·모델 변경 없이 — 압축·재사용은 런타임 계층 기법으로 한정</a:t>
                      </a:r>
                      <a:endParaRPr lang="en-US" sz="7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7406640" y="1389888"/>
            <a:ext cx="4325112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7" name="Text 23"/>
          <p:cNvSpPr/>
          <p:nvPr/>
        </p:nvSpPr>
        <p:spPr>
          <a:xfrm>
            <a:off x="7452360" y="1389888"/>
            <a:ext cx="4233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경계 · Use Case (UC-01~10)</a:t>
            </a:r>
            <a:endParaRPr lang="en-US" sz="1300" dirty="0"/>
          </a:p>
        </p:txBody>
      </p:sp>
      <p:pic>
        <p:nvPicPr>
          <p:cNvPr id="28" name="Image 0" descr="/home/user/architect/docs/mcr_assets/req_usecase_mc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847088"/>
            <a:ext cx="4325112" cy="3043597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406640" y="4945549"/>
            <a:ext cx="43251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FR이 ≥1개 UC에 매핑 ✓ — 서빙 3 · 재사용 2 · 압축 1 · 배치 1 · 스케줄링 2(KV 공간 확보 포함) · P/D 1 · telemetry 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기반 QA 도출 — 요구사항이 우선순위의 원천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106070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</a:t>
            </a:r>
            <a:pPr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워크로드 시나리오의 정량 관찰(A 실측·B 문헌·C 논증) → 필요 기능(FR) → 귀결 QA</a:t>
            </a:r>
            <a:pPr indent="0" marL="0">
              <a:buNone/>
            </a:pPr>
            <a:r>
              <a:rPr lang="en-US" sz="90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QA와 우선순위는 요구사항에서 도출하고, 과제 목표의 정량치(Exit Criteria)는 선정 QA bin에서 역정의 (v1.6)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44752"/>
          <a:ext cx="11274552" cy="914400"/>
        </p:xfrm>
        <a:graphic>
          <a:graphicData uri="http://schemas.openxmlformats.org/drawingml/2006/table">
            <a:tbl>
              <a:tblPr/>
              <a:tblGrid>
                <a:gridCol w="5971032"/>
                <a:gridCol w="2377440"/>
                <a:gridCol w="2926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워크로드 시나리오 — 정량 관찰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 기능 (FR)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귀결 QA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long-context RAG — 수십 k 토큰을 매 요청 전체 re-prefill(R-03). chunk KV 재사용(비접두+선택 재계산) 시 TTFT 2.2–3.3×↓ (CacheBlend, B)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재사용 (FR-02)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QA-03 TTFT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multiturn / agent memory — 턴·세션마다 컨텍스트 복원 비용(R-04·05). prefix 재사용(SGLang, B) + 복원 vs 재계산 역전 구간(tier 계단 ~10×, A)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재사용·tier 배치 (FR-02·04)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QA-03 TTFT · QA-04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용량 병목 — 32k 1세션 ≈ 10.5 GB로 HBM 초과(R-01, C). pruning 예산 20% = 산술 5× (H2O, B) · MCAS 예측의 실측 재현 요구(R-02)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압축·tier 배치 (FR-03·04)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QA-04 유효 KV 용량 · QA-01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decode 지배 — decode 대기가 E2E의 70–85% (자체 실측 A, R-01), memory-BW-bound. pruning 읽기량 절감·paging 2–4× (vLLM, B)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압축 (FR-03)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QA-01 Throughput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KV-blind 스케줄링 — locality 비인지 라우팅·포화 시 preemption뿐(R-16): 재사용·압축 이득이 처리량으로 전환 안 됨 (C)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인지 스케줄링 (FR-05)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QA-01 Throughput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 우려 — "품질이 떨어지면 쓸 수 없다"(R-06). near-lossless 실재: LongBench ≤2%p (KIVI, B) · 예산 20% 동등 (H2O, B)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요청별 차등 압축 (FR-03)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QA-02 품질 bound (gate)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유지·진화 — vLLM 2주 릴리스(R-13, B) · tier 조합 실험 반복(R-17) · MLA·linear attention 신모델 즉시 서빙(R-21, B)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tier 추상화·telemetry (FR-04·07)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QA-05 확장성·진화성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320040" y="61264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시나리오의 측정 가능한 정량 효과가 곧 QA의 존재 근거 — 모든 [측정]에 출처 등급(A/B/C)이 붙는다. retrieval 가속(SSD-PIM) 행은 2단계 이관으로 제외(R-09와 함께 2단계 분석에서 복원).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Utility Tree 활용한 ASR 선정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106070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</a:t>
            </a:r>
            <a:pPr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 후보 11건을 rubric 2축 평가 → 상위 5건 ASR 선정</a:t>
            </a:r>
            <a:pPr indent="0" marL="0">
              <a:buNone/>
            </a:pPr>
            <a:r>
              <a:rPr lang="en-US" sz="86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(우선순위: ① 중요도[I1 핵심 시나리오 직결성·I2 파급·I3 VOC 대체 불가] → ② 난이도 → ③ 잔여 동률 역할 — 채점 입력은 시나리오·VOC뿐, 목표 문장 참조 금지)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44752"/>
          <a:ext cx="11274552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1417320"/>
                <a:gridCol w="2286000"/>
                <a:gridCol w="4480560"/>
                <a:gridCol w="777240"/>
                <a:gridCol w="685800"/>
                <a:gridCol w="512064"/>
                <a:gridCol w="457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Refinement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Scenario  [측정: 지표 + baseline]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중요도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난이도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우선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선정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QA-01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Perf. — Throughput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decode 성능 — throughput 배율 (압축·tier·스케줄링 축)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 처리량 배율 — iso-latency(TPOT p99 ≤ baseline) 판정·곡선 병행, ablation으로 순기여 분리 [측정: ≥2× → ★★★]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 (6 최고)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 (5)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QA-02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Accuracy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 저하 bound — 전 수치의 유효 전제(gate)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압축·재사용 활성 상태로 LongBench — baseline(비압축 FP16·비재사용) 대비 ΔF1, 집행 단위(요청별/전역) 판정 [측정: ≤1%p·요청별 → ★★★]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 (5)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 (6 최고)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QA-03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Perf. — TTFT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prefill 성능 — TTFT 단축 배율 (재사용 축)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RAG·multiturn·agent E2E 첫 토큰 시간 — 평균 판정·p99 병행, baseline = GPU HBM 단일 tier [측정: ≥2× → ★★★]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 (5)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 (3)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QA-04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Resource Efficiency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유효 KV 용량 (원본 환산 동시 수용량)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QA-02 bound 준수 조건에서 Σ_tier(용량×압축률×가용) ÷ HBM [측정: ≥3× → ★★★] — 기전 입증(R-02 재현 검증)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 (5)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 (3)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QA-05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Modifiability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구조 변화·신규 tier 수용 (framework 격리 대리 측정)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MLA·linear attention 수용 + tier 조합 변경 [측정: 어댑터 ≤1·코어 LOC 0·시그니처 0·≤upstream+2주 → ★★★]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 (3)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 (5)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0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QA-06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Maintainability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개발·운영 비용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구축 인월·연간 유지 FTE [측정: ≤6인월·≤0.5 FTE] — v1.5 미선정: critical 요구 아님, bin은 DP1 비용 모델로 보존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 (2)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 (2)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QA-07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Availability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영속 KV 유실 복구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장애 시 재계산으로 세션 복구 — 유실이 성능 문제로 환원되어 QA-01·03에 흡수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QA-08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Security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 간 KV 재사용 격리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cross-user 재사용 차단 — 실증 단계는 사용자/세션 내 한정 정책으로 완화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QA-09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Interoperability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서빙 생태계 호환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응용 수정 없는 전환 — DP1(실행 스택 소싱)의 결정 변수로 흡수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QA-10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Adaptability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framework 교체 적응성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교체 시 코어 보존 — QA-05가 대리 측정(코어 LOC·시그니처), 노출 시점은 2단계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QA-11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Scalability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클러스터 수평 확장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추가 선형 확장 — 고정 N 테스트베드 전제로 범위 외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320040" y="61264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잔여 동률(QA-03·04 — 5·3 완전 동률)은 역할로 판정: QA-03은 RAG·multiturn·agent 시나리오의 사용자 체감 최종 판정, QA-04는 그 기전(용량) — 시나리오 최종 판정 지표 &gt; 수단·기전. 미선정 6건 전건 사유 기록(요구사항 분석 §4.3).</a:t>
            </a:r>
            <a:endParaRPr lang="en-US" sz="830" dirty="0"/>
          </a:p>
        </p:txBody>
      </p:sp>
      <p:sp>
        <p:nvSpPr>
          <p:cNvPr id="22" name="Text 19"/>
          <p:cNvSpPr/>
          <p:nvPr/>
        </p:nvSpPr>
        <p:spPr>
          <a:xfrm>
            <a:off x="8945575" y="6309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QA별 정량 bin·근거 상세 : 00_qa_definitions.md v1.6  </a:t>
            </a:r>
            <a:pPr algn="r" indent="0" marL="0">
              <a:buNone/>
            </a:pPr>
            <a:r>
              <a:rPr 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A. 수집 원시 요구사항 (VOC)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/ 33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106070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</a:t>
            </a:r>
            <a:pPr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원시 요구사항 R-01~R-24 전량 (R-14 결번 — 유효 23건) — 정제 결과(FR/QA/C) 매핑 포함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44752"/>
          <a:ext cx="5559552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960120"/>
                <a:gridCol w="3063240"/>
                <a:gridCol w="103327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 (요지)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정제 결과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R-01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MCR 개발팀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 cache가 HBM 용량을 넘어선다 — 병목 해소가 효용성 입증의 핵심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QA-01·03·04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R-02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MCAS 팀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시뮬레이션 예측의 실측 재현 — 동시 컨텍스트 수용량 정량화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QA-04, FR-03·04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R-03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수십 k 토큰 RAG를 매 요청 re-prefill — chunk KV 재사용 요구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FR-01·02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R-04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multiturn 턴마다 이전 컨텍스트 복원 비용이 크다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FR-01·02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R-05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agent의 세션 넘는 장기 기억 — KV의 영속 자산화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FR-02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R-06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압축·재사용으로 품질 저하 시 사용 불가 — 상한 보장 요구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QA-02, FR-03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R-07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 사업부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E2E 관점의 자사 제품 가치 확인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2단계 배정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R-08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 사업부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레퍼런스 스택 보유 → 고객 제공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FR-01 (QA-06 미선정)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R-09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 사업부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PIM/PNM 연산 효용성의 E2E 테스트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2단계 배정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R-10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 사업부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디바이스 HW 스펙 변경 불가 — 주어진 스펙 전제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C-01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R-11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임원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GPU HBM 단일 tier baseline 대비 E2E 정량 입증·벤치 완주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QA-01·03, FR-01·06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R-12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임원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종료 후 소수 인력 유지 가능 — 상시 전담팀 불가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(QA-06 미선정 — DP1 비용 모델)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444752"/>
          <a:ext cx="5559552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960120"/>
                <a:gridCol w="3063240"/>
                <a:gridCol w="103327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 (요지)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정제 결과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F2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R-13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MCR 개발팀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vLLM 2주 릴리스 — 구조에 따라 추종 비용이 수십 인월로 갈림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QA-05 (QA-06 미선정)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R-14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(결번 — 자체 압축·재사용 알고리즘 개발이 과제 범위)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R-15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서빙 API·생태계 호환이 도입 전제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QA-09 (미선정 — DP1 흡수)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R-16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MCR 개발팀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요청별 SLO·품질 예산 기반 정책이 차별점 — 요청별 차등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FR-03·05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R-17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MCR 개발팀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tier 조합·P/D 구성 실험 반복 — 등록 용이·자동 재배분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FR-04·06·07, QA-05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R-18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MCAS 팀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tier 장애로 영속 KV 유실 시 세션 복구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QA-07 (미선정 — 성능 환원)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R-19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멀티테넌트 사용자 간 KV 재사용 격리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QA-08 (미선정 — 정책 완화)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R-20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추가만으로 선형 확장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QA-11 (미선정 — 범위 외)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R-21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MLA 등 KV 구조 변화 신모델의 즉시 서빙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QA-05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R-22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임원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학습 지원은 범위 외 — 추론 서빙 집중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범위 판정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R-23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MCR 개발팀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framework 교체 비용 통제 — 종속 관리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QA-10 (미선정 — QA-05 대리)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R-24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 발주 (v1.0)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범위를 KV 캐시 최적 운용으로 특정 — 재사용·압축·KV 인지 스케줄링, 자사 디바이스는 2단계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범위·FR-02·03·05, C-03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8945575" y="6309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본문: 요구사항 수집 (p.5) · 정제 (p.6) · 시나리오 QA 도출 (p.7)  </a:t>
            </a:r>
            <a:pPr algn="r" indent="0" marL="0">
              <a:buNone/>
            </a:pPr>
            <a:r>
              <a:rPr 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2026-07-26T14:53:21Z</dcterms:created>
  <dcterms:modified xsi:type="dcterms:W3CDTF">2026-07-26T14:53:21Z</dcterms:modified>
</cp:coreProperties>
</file>