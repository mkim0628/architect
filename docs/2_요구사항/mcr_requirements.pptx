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수집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16775" y="6309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원시 요구사항(VOC) R-01~R-23 전량 : 부록 A (p.25)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1060704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Stakeholder 인터뷰·QAW</a:t>
            </a:r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자체 실측·문헌 조사 병행 → 원시 요구사항 </a:t>
            </a:r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23건(유효 22건)</a:t>
            </a:r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1408176"/>
            <a:ext cx="11231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연구 과제 성격상 서비스 운영 조직은 stakeholder 아님 — 서빙 SLO·워크로드 요구는 업계 벤치마크·문헌 + 자체 실측으로 대체 수집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1792224"/>
            <a:ext cx="672084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1792224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Stakeholder 및 역할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76272"/>
          <a:ext cx="6720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7548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Stakeholder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· 주요 관심사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사업부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(제품기획·디바이스 설계)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발주 — memory-centric 제품군 로드맵 보유. 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E2E 관점의 제품 가치 입증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고객 제공 레퍼런스 스택 확보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Memory-centric AI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 (MCAS) 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타겟 메모리 시스템 성능의 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시뮬레이션·예측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예측치가 실측(MCR)에서 재현되는지, tier 조합별 효용 정량화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public LLM 응용·모델의 사용자 — 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워크로드(long-context RAG · multiturn · agent)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요구 특성 제공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임원 (랩장)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승인·자원 배정 — 타겟 메모리 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효용성의 E2E 정량 입증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(baseline 대비) · 일정 · 지속 유지 가능성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 개발·유지보수, 자체 벤치 실측 — 개발 비용, 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upstream framework 추종·교체 부담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코어/모듈 경계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(잠재)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레퍼런스 스택으로 시스템을 구축할 외부 수요처 — 생태계 호환·실측 증거·확장성 (도입 전제 조건만 수집)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(간접) 오픈소스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커뮤니티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vLLM·SGLang·LMCache 등 진화 주체 — 요구는 없으나 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릴리스 주기·인터페이스 변화가 제약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으로 작용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7269480" y="1792224"/>
            <a:ext cx="460217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0" y="1792224"/>
            <a:ext cx="4510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수집 방법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2176272"/>
          <a:ext cx="460217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72765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Stakeholder 인터뷰·VOC 접수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원시 요구사항 R-01~R-23 (부록 A)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QAW (Quality Attribute Workshop)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요구의 시나리오화 — Utility Tree의 시나리오 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벤치마크 실측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decode 대기 70–85%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(근거 A) — QA1 baseline 정의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문헌·업계 벤치마크 조사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KIVI · CacheBlend · SGLang · vLLM · SmartANNS · MLPerf · KVQuant — QA 정량 bin의 문헌 앵커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upstream 로드맵·릴리스 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vLLM 정규 릴리스 2주 케이던스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(근거 B) — QA4·QA5 bin 근거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 시스템 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LMCache 등 KV offloading 계층 — DP1 후보 발굴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정제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31175" y="630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분류분 10건은 Utility Tree로 (p.9)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1060704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수집 요구사항 23건(유효 22건) → </a:t>
            </a:r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 9건 · 품질 요구(QA 후보) 10건 · 제약사항 2건</a:t>
            </a:r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1408176"/>
            <a:ext cx="11231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정제 규칙: ① 중복 병합 ② 검증 가능한 문장으로 재기술 ③ 기능(FR)/품질(QA 후보)/제약(C) 3분류 ④ 범위 밖 기각(사유 기록)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1792224"/>
            <a:ext cx="6903720" cy="2743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1792224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 (FR)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21408"/>
          <a:ext cx="69037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078992"/>
                <a:gridCol w="532180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워크로드 서빙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long-context RAG · multiturn · agent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요청을 admission→retrieval→배칭→실행→응답으로 E2E 처리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이종 tier KV 배치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KV를 GPU HBM 밖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이종 tier(CXL·DRAM·HBF·SSD)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 두고 디바이스 특성 인지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배치·이동(승격/강등)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압축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양자화·토큰 eviction 등 압축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을 KV에 적용·해제 (자체 압축 알고리즘 개발 포함)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영속·재사용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KV를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세션·사용자 단위로 영속화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하고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P/D 분리 실행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prefill/decode 분리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구성에서 인스턴스 간 KV 전송 포함 추론 실행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요청별 SLO 정책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요청별 SLO·품질 예산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기준으로 배치×압축×재사용 수준 차등 조율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근접연산 오프로드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PIM/PNM으로 연산 오프로드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(예: 압축 연산, RAG 검색) 실행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디바이스 plug-in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메모리 디바이스를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Topology Model 파라미터로 등록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 지원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FR-09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모니터링·P/D 조정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HW·SLO telemetry 수집,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N 내 P/D 비율(a:b) 자동 조정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(N 조정은 범위 외)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320040" y="4443984"/>
            <a:ext cx="6903720" cy="2743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4443984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제약사항 (C)</a:t>
            </a:r>
            <a:endParaRPr lang="en-US" sz="12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773168"/>
          <a:ext cx="69037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078992"/>
                <a:gridCol w="532180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제약사항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디바이스 불변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디바이스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HW 설계는 변경 불가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Tier Topology Model 파라미터(대역폭·용량·지연)로만 취급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Transformer 모델 한정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최적화 대상은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cache를 갖는 Transformer 기반 모델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압축·재사용이 KV cache 전제,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탈Transformer(순수 SSM 등)는 범위 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7452360" y="1792224"/>
            <a:ext cx="4419295" cy="2743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9" name="Text 25"/>
          <p:cNvSpPr/>
          <p:nvPr/>
        </p:nvSpPr>
        <p:spPr>
          <a:xfrm>
            <a:off x="7498080" y="1792224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경계 · Use-case (UC-01~11)</a:t>
            </a:r>
            <a:endParaRPr lang="en-US" sz="1200" dirty="0"/>
          </a:p>
        </p:txBody>
      </p:sp>
      <p:pic>
        <p:nvPicPr>
          <p:cNvPr id="30" name="Image 0" descr="/home/user/architect/docs/mcr_assets/req_usec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2121408"/>
            <a:ext cx="4419295" cy="399592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452360" y="6153912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FR이 ≥ 1개 UC에 매핑 ✓</a:t>
            </a:r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(FR 기반 UC 11건 — 서빙 3 · KV 관리 3 · P/D 1 · 정책 1 · 오프로드 1 · plug-in 1 · 모니터링 1)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수집 · 목표 정의 — 상세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42416"/>
            <a:ext cx="115516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VOC·QAW·자체 실측·문헌 조사로 요구사항을 수집 → </a:t>
            </a:r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목표(QA KPI = Exit Criteria) 정의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1536192"/>
            <a:ext cx="5623560" cy="4407408"/>
          </a:xfrm>
          <a:prstGeom prst="roundRect">
            <a:avLst>
              <a:gd name="adj" fmla="val 1037"/>
            </a:avLst>
          </a:prstGeom>
          <a:solidFill>
            <a:srgbClr val="FBFCFE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1536192"/>
            <a:ext cx="5672023" cy="4407408"/>
          </a:xfrm>
          <a:prstGeom prst="roundRect">
            <a:avLst>
              <a:gd name="adj" fmla="val 1037"/>
            </a:avLst>
          </a:prstGeom>
          <a:solidFill>
            <a:srgbClr val="FBFCFE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1645920"/>
            <a:ext cx="5404104" cy="329184"/>
          </a:xfrm>
          <a:prstGeom prst="roundRect">
            <a:avLst>
              <a:gd name="adj" fmla="val 16667"/>
            </a:avLst>
          </a:prstGeom>
          <a:solidFill>
            <a:srgbClr val="2E5496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1645920"/>
            <a:ext cx="5404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수집 — 방식 · 대상 · 산출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2084832"/>
            <a:ext cx="5294376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Stakeholder 인터뷰 · VOC 접수
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사업부 · MCAS 팀 · User · 개발 임원 · MCR 개발팀 · 고객사(잠재) → 원시 요구 R-01~R-23 (유효 22건)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QAW (Quality Attribute Workshop)
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이해관계자 합동 — 품질 발화를 6-part 시나리오(자극→환경→응답→측정)로 구체화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벤치마크 실측
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P/D 분리 벤치 → decode 대기 70–85% (근거 A) — QA1 baseline·개선 대상 정의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문헌 · 업계 벤치마크 조사
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DistServe·MLPerf·KIVI·CacheBlend·SmartANNS·vLLM·FlexGen → 정량 목표의 앵커 (근거 B)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</a:t>
            </a:r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upstream 로드맵 · 릴리스 분석
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vLLM 2주 릴리스 케이던스 → 진화성·유지보수 목표 근거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</a:t>
            </a:r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시스템 분석
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LMCache 등 KV offloading 계층 → 설계 후보(DP) 발굴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1645920"/>
            <a:ext cx="5452567" cy="329184"/>
          </a:xfrm>
          <a:prstGeom prst="roundRect">
            <a:avLst>
              <a:gd name="adj" fmla="val 16667"/>
            </a:avLst>
          </a:prstGeom>
          <a:solidFill>
            <a:srgbClr val="2E5496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645920"/>
            <a:ext cx="54525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 목표(QA / Exit Criteria) 정의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82512" y="2066544"/>
            <a:ext cx="5342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분류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기능 FR 9 · 제약 C 2 · 품질(QA 후보) 10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Utility Tree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(중요도·난이도) → 상위 6건 ASR 선정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정량화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각 QA에 문헌 앵커 기반 KPI(정량 bin) = Exit Criteria 부여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5936" y="3145536"/>
          <a:ext cx="5379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4205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선정 QA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★★★ Exit Criteria (KPI)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QA1 성능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TTFT ≥ 2× </a:t>
                      </a:r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 </a:t>
                      </a:r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throughput ≥ 2×</a:t>
                      </a:r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(vs GPU HBM 단일 tier)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QA2 품질(gate)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ΔF1 ≤ 1%p · 요청별 bound 집행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QA3 메모리 효율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KV 용량 ≥ 3× (원본 환산)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QA4 확장성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어댑터 ≤ 1 · 코어 LOC 0 · ≤ upstream + 2주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QA6 적응성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framework 결합 격리 ≤ 10% · 전환 ≤ 3인월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QA5 유지보수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≤ 6인월 · 유지 ≤ 0.5 FTE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기반 핵심 요소 → QA 도출 — 상세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42416"/>
            <a:ext cx="115516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대표 워크로드 시나리오의 정량 관찰(효과 %·배율) → </a:t>
            </a:r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기능(FR) · 목표(QA) 도출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1481328"/>
            <a:ext cx="5257800" cy="329184"/>
          </a:xfrm>
          <a:prstGeom prst="roundRect">
            <a:avLst>
              <a:gd name="adj" fmla="val 16667"/>
            </a:avLst>
          </a:prstGeom>
          <a:solidFill>
            <a:srgbClr val="2E5496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1481328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워크로드 시나리오 — 정량 핵심 요소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64224" y="1481328"/>
            <a:ext cx="5507431" cy="329184"/>
          </a:xfrm>
          <a:prstGeom prst="roundRect">
            <a:avLst>
              <a:gd name="adj" fmla="val 16667"/>
            </a:avLst>
          </a:prstGeom>
          <a:solidFill>
            <a:srgbClr val="2E5496"/>
          </a:solidFill>
          <a:ln/>
        </p:spPr>
      </p:sp>
      <p:sp>
        <p:nvSpPr>
          <p:cNvPr id="23" name="Text 21"/>
          <p:cNvSpPr/>
          <p:nvPr/>
        </p:nvSpPr>
        <p:spPr>
          <a:xfrm>
            <a:off x="6364224" y="1481328"/>
            <a:ext cx="55074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도출된 필요 기능(FR) → 귀결 목표(QA)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1901952"/>
            <a:ext cx="5257800" cy="715061"/>
          </a:xfrm>
          <a:prstGeom prst="rect">
            <a:avLst/>
          </a:prstGeom>
          <a:solidFill>
            <a:srgbClr val="EAF1FB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1938528"/>
            <a:ext cx="50749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long-context RAG — 수십k 토큰 프롬프트를 매 요청 re-prefill (반복 비용 지배)</a:t>
            </a:r>
            <a:endParaRPr lang="en-US" sz="9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재사용 시 TTFT 2.2–3.3×↓ · 히트율 85%+ (CacheBlend, B)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87568" y="2122322"/>
            <a:ext cx="566928" cy="274320"/>
          </a:xfrm>
          <a:prstGeom prst="rightArrow">
            <a:avLst/>
          </a:prstGeom>
          <a:solidFill>
            <a:srgbClr val="4E7C3A"/>
          </a:solidFill>
          <a:ln/>
        </p:spPr>
      </p:sp>
      <p:sp>
        <p:nvSpPr>
          <p:cNvPr id="27" name="Shape 25"/>
          <p:cNvSpPr/>
          <p:nvPr/>
        </p:nvSpPr>
        <p:spPr>
          <a:xfrm>
            <a:off x="6364224" y="1901952"/>
            <a:ext cx="5507431" cy="715061"/>
          </a:xfrm>
          <a:prstGeom prst="rect">
            <a:avLst/>
          </a:prstGeom>
          <a:solidFill>
            <a:srgbClr val="EAF3E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1938528"/>
            <a:ext cx="5306263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영속·재사용 (FR-04)</a:t>
            </a:r>
            <a:endParaRPr lang="en-US" sz="9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TTFT ≥ 2× (QA1 prefill 축)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2745029"/>
            <a:ext cx="5257800" cy="715061"/>
          </a:xfrm>
          <a:prstGeom prst="rect">
            <a:avLst/>
          </a:prstGeom>
          <a:solidFill>
            <a:srgbClr val="EAF1FB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781605"/>
            <a:ext cx="50749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retrieval이 TTFT 임계 경로 — SSD 기반 ANN은 I/O가 실행의 ~67% (B)</a:t>
            </a:r>
            <a:endParaRPr lang="en-US" sz="9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near-storage 검색 가속 QPS 10.7× (SmartANNS, B) — SSD-PIM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87568" y="2965399"/>
            <a:ext cx="566928" cy="274320"/>
          </a:xfrm>
          <a:prstGeom prst="rightArrow">
            <a:avLst/>
          </a:prstGeom>
          <a:solidFill>
            <a:srgbClr val="4E7C3A"/>
          </a:solidFill>
          <a:ln/>
        </p:spPr>
      </p:sp>
      <p:sp>
        <p:nvSpPr>
          <p:cNvPr id="32" name="Shape 30"/>
          <p:cNvSpPr/>
          <p:nvPr/>
        </p:nvSpPr>
        <p:spPr>
          <a:xfrm>
            <a:off x="6364224" y="2745029"/>
            <a:ext cx="5507431" cy="715061"/>
          </a:xfrm>
          <a:prstGeom prst="rect">
            <a:avLst/>
          </a:prstGeom>
          <a:solidFill>
            <a:srgbClr val="EAF3E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2781605"/>
            <a:ext cx="5306263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근접연산 오프로드 (FR-07)</a:t>
            </a:r>
            <a:endParaRPr lang="en-US" sz="9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retrieval 가속 (QA1 · 차별 축)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588106"/>
            <a:ext cx="5257800" cy="715061"/>
          </a:xfrm>
          <a:prstGeom prst="rect">
            <a:avLst/>
          </a:prstGeom>
          <a:solidFill>
            <a:srgbClr val="EAF1FB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624682"/>
            <a:ext cx="50749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용량 병목 — 32k 컨텍스트 1세션 ≈ 10.5 GB, HBM 용량 초과 (C)</a:t>
            </a:r>
            <a:endParaRPr lang="en-US" sz="9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2-bit 압축 시 peak memory 2.6×↓ · batch 4× (KIVI, B)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87568" y="3808476"/>
            <a:ext cx="566928" cy="274320"/>
          </a:xfrm>
          <a:prstGeom prst="rightArrow">
            <a:avLst/>
          </a:prstGeom>
          <a:solidFill>
            <a:srgbClr val="4E7C3A"/>
          </a:solidFill>
          <a:ln/>
        </p:spPr>
      </p:sp>
      <p:sp>
        <p:nvSpPr>
          <p:cNvPr id="37" name="Shape 35"/>
          <p:cNvSpPr/>
          <p:nvPr/>
        </p:nvSpPr>
        <p:spPr>
          <a:xfrm>
            <a:off x="6364224" y="3588106"/>
            <a:ext cx="5507431" cy="715061"/>
          </a:xfrm>
          <a:prstGeom prst="rect">
            <a:avLst/>
          </a:prstGeom>
          <a:solidFill>
            <a:srgbClr val="EAF3E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3624682"/>
            <a:ext cx="5306263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압축 (FR-03)</a:t>
            </a:r>
            <a:endParaRPr lang="en-US" sz="9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유효 KV 용량 ≥ 3× (QA3)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4431182"/>
            <a:ext cx="5257800" cy="715061"/>
          </a:xfrm>
          <a:prstGeom prst="rect">
            <a:avLst/>
          </a:prstGeom>
          <a:solidFill>
            <a:srgbClr val="EAF1FB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467758"/>
            <a:ext cx="50749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 단계가 지배 — 자체 실측 대기 70–85%, memory-BW-bound (A)</a:t>
            </a:r>
            <a:endParaRPr lang="en-US" sz="9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이종 tier 확장으로 batch↑ → 처리량 2–4× (vLLM paging, B)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87568" y="4651553"/>
            <a:ext cx="566928" cy="274320"/>
          </a:xfrm>
          <a:prstGeom prst="rightArrow">
            <a:avLst/>
          </a:prstGeom>
          <a:solidFill>
            <a:srgbClr val="4E7C3A"/>
          </a:solidFill>
          <a:ln/>
        </p:spPr>
      </p:sp>
      <p:sp>
        <p:nvSpPr>
          <p:cNvPr id="42" name="Shape 40"/>
          <p:cNvSpPr/>
          <p:nvPr/>
        </p:nvSpPr>
        <p:spPr>
          <a:xfrm>
            <a:off x="6364224" y="4431182"/>
            <a:ext cx="5507431" cy="715061"/>
          </a:xfrm>
          <a:prstGeom prst="rect">
            <a:avLst/>
          </a:prstGeom>
          <a:solidFill>
            <a:srgbClr val="EAF3E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4467758"/>
            <a:ext cx="5306263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이종 tier KV 배치 (FR-02)</a:t>
            </a:r>
            <a:endParaRPr lang="en-US" sz="9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throughput ≥ 2× (QA1 decode 축)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5274259"/>
            <a:ext cx="5257800" cy="715061"/>
          </a:xfrm>
          <a:prstGeom prst="rect">
            <a:avLst/>
          </a:prstGeom>
          <a:solidFill>
            <a:srgbClr val="EAF1FB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5310835"/>
            <a:ext cx="50749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압축·재사용 시 답변 품질 저하 우려 — 저하 크면 사용 불가 (User VOC)</a:t>
            </a:r>
            <a:endParaRPr lang="en-US" sz="9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near-lossless 운용 실재 — LongBench 저하 ≤ 2%p (KIVI, B)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687568" y="5494630"/>
            <a:ext cx="566928" cy="274320"/>
          </a:xfrm>
          <a:prstGeom prst="rightArrow">
            <a:avLst/>
          </a:prstGeom>
          <a:solidFill>
            <a:srgbClr val="4E7C3A"/>
          </a:solidFill>
          <a:ln/>
        </p:spPr>
      </p:sp>
      <p:sp>
        <p:nvSpPr>
          <p:cNvPr id="47" name="Shape 45"/>
          <p:cNvSpPr/>
          <p:nvPr/>
        </p:nvSpPr>
        <p:spPr>
          <a:xfrm>
            <a:off x="6364224" y="5274259"/>
            <a:ext cx="5507431" cy="715061"/>
          </a:xfrm>
          <a:prstGeom prst="rect">
            <a:avLst/>
          </a:prstGeom>
          <a:solidFill>
            <a:srgbClr val="EAF3E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5310835"/>
            <a:ext cx="5306263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요청별 SLO·품질 정책 (FR-06)</a:t>
            </a:r>
            <a:endParaRPr lang="en-US" sz="9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품질 저하 bound (QA2 gate)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20040" y="6144768"/>
            <a:ext cx="11551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시나리오의 정량 효과가 곧 기능·목표의 근거 — </a:t>
            </a:r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QA는 측정 가능한 시나리오에서 도출(A 실측 · B 문헌 · C 논증)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Utility Tree 활용한 ASR 선정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65415" y="6309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QA별 평가 기준 상세 : 부록 C (p.27~33)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1042416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QA 후보 10건을 (중요도, 난이도) 2축 평가 → 상위 </a:t>
            </a:r>
            <a:pPr algn="l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6건을 ASR로 선정</a:t>
            </a:r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(우선순위: 중요도 → 역할(목표&gt;gate&gt;수단) → 난이도 → 과제 본질 축)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63040"/>
          <a:ext cx="115516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207008"/>
                <a:gridCol w="1828800"/>
                <a:gridCol w="5843016"/>
                <a:gridCol w="548640"/>
                <a:gridCol w="548640"/>
                <a:gridCol w="640080"/>
                <a:gridCol w="38404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Refinement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Scenario  [측정: 지표 + baseline]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중요도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난이도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우선순위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Performance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p.28 ▶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prefill·decode 2단 성능 (baseline 대비 TTFT · throughput)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retrieval(SSD-PIM 가속) 포함 E2E —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TTFT(prefill: 재사용·검색)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throughput(decode: tier·압축)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2지표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TTFT·throughput 모두 ≥2× → ★★★ · throughput은 iso-latency(TPOT p99 ≤ baseline) 판정·곡선 병행 — baseline = GPU HBM 단일 tier(순증분 분리)]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Accuracy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p.29 ▶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압축·재사용 품질 저하 bound — QA-01·03의 전제(gate)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압축(양자화·토큰 eviction)·재사용 활성화 상태로 long-context 벤치(LongBench) 수행 —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품질은 지키는 제약, bound 위반 시 성능·용량 수치 무효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비압축(FP16 KV)·비재사용 대비 ΔF1(%p) · 보조 ΔPPL · bound 집행 단위(요청별/전역) 판정]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Resource Efficiency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p.30 ▶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KV 용량 (원본 환산 동시 수용량)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QA-02 품질 bound를 지키는 조건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에서 동시 수용 KV 총량을 원본 환산으로 측정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Σ_tier(용량×평균 압축률×KV 가용 비율) ÷ 물리 HBM 용량 — baseline = HBM 단일·비압축(1.0×)]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Modifiability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p.31 ▶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디바이스·KV 구조 변화 수용성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tier(HBM4/CMM-DC/HBF) 추가와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구조 영향 모델 변화(GQA·MLA·linear attention)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수용 실험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신규/변경 모듈 수 · 코어 변경 LOC 비율 · IF 시그니처 변경 건수 · 수용 리드타임 — baseline = 현행 코드베이스]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Adaptability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p.32 ▶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서빙 framework 교체 적응성 (vLLM → SGLang 등)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framework 교체 시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Memory Engine·정책 계층 보존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결합부만 교체되는지 판정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변경 코드 비율(%) · 전환 공수(인월) — baseline = 현 framework(vLLM) 결합 구조]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Maintainability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p.33 ▶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개발·운영 비용 (지속 유지 가능성)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구축부터 지속 유지까지 비용 산정 —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 선택(DP1)이 비용을 한 자릿수 이상 가름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초기 구축 인월(E2E 벤치 완주 기준) · 연간 유지보수 FTE — baseline = DP1 후보별 비용 모델]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Availability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영속 KV 자산의 유실 복구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장애로 영속 KV 일부 유실 시 재계산(re-prefill)으로 세션 복구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세션 손실 건수 · 복구 비용(goodput 저하) — baseline = 무장애 운전]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Security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간 KV 재사용 격리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 사용자 요청의 내 KV 블록 재사용 시도 차단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cross-user KV 재사용 발생 건수(목표 0) — 재사용 범위 = 사용자/세션 내]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QA-09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Interoperability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서빙 생태계 호환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vLLM 기반 스택 조직이 응용 수정 없이 MCR로 전환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서빙 API 호환 여부 · 응용 코드 수정 건수]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QA-10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Scalability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클러스터 수평 확장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추가 시 goodput이 선형에 가깝게 확장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N노드 goodput ÷ (N × 단일 노드 goodput) — baseline = 단일 노드]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320040" y="6062472"/>
            <a:ext cx="11551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미선정 사유(전건 기록)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Availability — KV는 재계산 가능한 파생 데이터, 유실은 성능 문제로 환원(QA-01에 흡수) · Security — 실증 단계 재사용 범위를 사용자/세션 내로 한정(정책 제약으로 완화) · Interoperability — 독립 QA가 아닌 DP1의 결정 변수로 흡수 · Scalability — 고정 N 테스트베드 전제로 N 조정이 범위 외(중요도 L)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A. 수집 원시 요구사항 (VOC)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31175" y="630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본문: 요구사항 수집 (p.5) · 정제 (p.6)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1042416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원시 요구사항 R-01~R-23 전량 </a:t>
            </a:r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(R-14 결번 — 유효 22건)</a:t>
            </a:r>
            <a:pPr algn="l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정제 결과(FR/QA/C) 매핑 포함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44752"/>
          <a:ext cx="5661508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60120"/>
                <a:gridCol w="3284068"/>
                <a:gridCol w="960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 (요지)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정제 결과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 폭증으로 KV cache가 HBM 용량을 넘어선다 — 타겟 메모리로 풀리는지가 효용성 입증의 핵심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QA-01·03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MCAS 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시뮬레이션 예측 효과가 실측에서 재현되는지 — 같은 HBM으로 동시 컨텍스트 수용량을 정량으로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QA-03,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FR-02·03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수십 k 토큰 RAG 프롬프트를 매 요청 re-prefill — 같은 문서 chunk의 KV를 재사용하고 싶다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FR-01·04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multiturn 세션이 이어질 때마다 이전 턴 컨텍스트 복원 비용이 크다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FR-01·04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agent가 세션을 넘는 장기 기억 요구 — KV가 세션·사용자 단위로 영속하는 자산이어야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압축·재사용 때문에 답변 품질이 떨어지면 쓸 수 없다 — 품질 저하의 상한을 보장해달라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사업부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E2E 관점에서 당사 제품의 가치를 확인할 수 있어야 — 그래야 고객도 신뢰한다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QA-01·03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R-08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사업부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레퍼런스 스택을 가지고 있으면 고객에 제공할 수 있다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FR-01,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R-09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사업부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PIM/PNM 연산의 효용성을 E2E에서 테스트하고 싶다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FR-07,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사업부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디바이스 HW 스펙은 변경 불가 — 주어진 스펙(대역폭·용량·지연)을 전제로 설계하라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임원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HBM 단일 tier baseline 대비 개선을 E2E 정량으로 입증 — 대표 워크로드 벤치 완주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QA-01,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FR-01·05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임원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종료 후에도 소수 인력으로 지속 유지 가능해야 — 상시 전담팀 불가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0148" y="1444752"/>
          <a:ext cx="5661508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60120"/>
                <a:gridCol w="3284068"/>
                <a:gridCol w="960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 (요지)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정제 결과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vLLM은 2주마다 릴리스 — 구조에 따라 추종 비용이 수십 인월로 갈린다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QA-06·04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(결번 — v0.4 삭제: 자체 KV 압축·재사용 알고리즘 개발이 과제 범위이므로 '기존 기법 채용' 제약 불성립)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서빙 API·생태계(vLLM 호환)와의 호환성이 도입의 전제 조건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QA-09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KV 계층에 없는 요청별 SLO·품질 예산 기반 정책이 차별점 — 요청마다 배치·압축·재사용 차등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조합·P/D 구성을 바꿔가며 실험 — 신규 tier 등록 용이 + 고정 노드 내 role 자동 재배분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FR-05·08·09,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R-18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MCAS 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디바이스 장애로 영속 KV 유실 시 세션이 깨지지 않고 복구되어야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R-19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멀티테넌트에서 사용자 간 KV 재사용이 프롬프트 유출 통로가 되지 않도록 격리 보장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QA-08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R-20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클러스터 규모를 늘릴 때 노드 추가만으로 선형에 가깝게 확장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QA-10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R-21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MLA·hybrid attention 등 KV 구조가 바뀌는 신모델이 나오면 곧바로 서빙하고 싶다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R-22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임원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학습 지원은 이번 과제 범위가 아니다 — 추론 서빙에 집중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 판정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R-23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vLLM이 유일한 선택지가 아니다 — framework를 갈아탈 때의 비용이 통제되도록 종속 관리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B. QA 도출 방법론 — SEI 5단계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82535" y="6309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본문: 시나리오 QA 도출 (p.8) · Utility Tree (p.9)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1060704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SEI 계열 표준 5단계: </a:t>
            </a:r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발화 10건 → 시나리오화 → Utility Tree → QA 6건 선정·정량화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0040" y="1554480"/>
            <a:ext cx="2178649" cy="384048"/>
          </a:xfrm>
          <a:prstGeom prst="homePlate">
            <a:avLst/>
          </a:prstGeom>
          <a:solidFill>
            <a:srgbClr val="4E7C3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554480"/>
            <a:ext cx="19226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분류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1993392"/>
            <a:ext cx="2178649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2029968"/>
            <a:ext cx="20323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 22건을 기능(FR) /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품질(QA 후보) / 제약(C)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3분류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393192" y="2962656"/>
            <a:ext cx="20323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SEI QAW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(CMU/SEI-2003-TR-016)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63281" y="1554480"/>
            <a:ext cx="2178649" cy="384048"/>
          </a:xfrm>
          <a:prstGeom prst="homePlate">
            <a:avLst/>
          </a:prstGeom>
          <a:solidFill>
            <a:srgbClr val="1F3864"/>
          </a:solidFill>
          <a:ln/>
        </p:spPr>
      </p:sp>
      <p:sp>
        <p:nvSpPr>
          <p:cNvPr id="27" name="Text 25"/>
          <p:cNvSpPr/>
          <p:nvPr/>
        </p:nvSpPr>
        <p:spPr>
          <a:xfrm>
            <a:off x="2709001" y="1554480"/>
            <a:ext cx="19226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시나리오화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663281" y="1993392"/>
            <a:ext cx="2178649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36433" y="2029968"/>
            <a:ext cx="20323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발화를 자극→환경→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응답→응답 측정 구조의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 시나리오로 재기술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2736433" y="2962656"/>
            <a:ext cx="20323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6-part QA Scenario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(SW Arch. in Practice)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06523" y="1554480"/>
            <a:ext cx="2178649" cy="384048"/>
          </a:xfrm>
          <a:prstGeom prst="homePlate">
            <a:avLst/>
          </a:prstGeom>
          <a:solidFill>
            <a:srgbClr val="4E7C3A"/>
          </a:solidFill>
          <a:ln/>
        </p:spPr>
      </p:sp>
      <p:sp>
        <p:nvSpPr>
          <p:cNvPr id="32" name="Text 30"/>
          <p:cNvSpPr/>
          <p:nvPr/>
        </p:nvSpPr>
        <p:spPr>
          <a:xfrm>
            <a:off x="5052243" y="1554480"/>
            <a:ext cx="19226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명명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06523" y="1993392"/>
            <a:ext cx="2178649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9675" y="2029968"/>
            <a:ext cx="20323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시나리오를 표준 품질속성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어휘로 명명 (Performance,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Modifiability, …)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5079675" y="2962656"/>
            <a:ext cx="20323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ISO/IEC 25010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SAiP 분류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349764" y="1554480"/>
            <a:ext cx="2178649" cy="384048"/>
          </a:xfrm>
          <a:prstGeom prst="homePlate">
            <a:avLst/>
          </a:prstGeom>
          <a:solidFill>
            <a:srgbClr val="1F3864"/>
          </a:solidFill>
          <a:ln/>
        </p:spPr>
      </p:sp>
      <p:sp>
        <p:nvSpPr>
          <p:cNvPr id="37" name="Text 35"/>
          <p:cNvSpPr/>
          <p:nvPr/>
        </p:nvSpPr>
        <p:spPr>
          <a:xfrm>
            <a:off x="7395484" y="1554480"/>
            <a:ext cx="19226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우선순위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49764" y="1993392"/>
            <a:ext cx="2178649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22916" y="2029968"/>
            <a:ext cx="20323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시나리오마다 (사업 중요도,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 난이도) 2축 평가 —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역할(목표&gt;gate&gt;수단) tie-break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7422916" y="2962656"/>
            <a:ext cx="20323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ATAM Utility Tree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(CMU/SEI-2000-TR-004)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693006" y="1554480"/>
            <a:ext cx="2178649" cy="384048"/>
          </a:xfrm>
          <a:prstGeom prst="homePlate">
            <a:avLst/>
          </a:prstGeom>
          <a:solidFill>
            <a:srgbClr val="4E7C3A"/>
          </a:solidFill>
          <a:ln/>
        </p:spPr>
      </p:sp>
      <p:sp>
        <p:nvSpPr>
          <p:cNvPr id="42" name="Text 40"/>
          <p:cNvSpPr/>
          <p:nvPr/>
        </p:nvSpPr>
        <p:spPr>
          <a:xfrm>
            <a:off x="9738726" y="1554480"/>
            <a:ext cx="19226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선정·정량화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693006" y="1993392"/>
            <a:ext cx="2178649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66158" y="2029968"/>
            <a:ext cx="20323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6건을 ASR로 선정,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[측정]을 문헌 앵커 기반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bin으로 정제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9766158" y="2962656"/>
            <a:ext cx="20323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 경계마다 근거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A(실측)/B(문헌)/C(논증)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0040" y="3639312"/>
            <a:ext cx="11551615" cy="2926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3639312"/>
            <a:ext cx="11460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QA별 도출 체인 — VOC에서 정량 bin까지 4단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365760" y="4041648"/>
            <a:ext cx="4069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 질문: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할 수 있어야(기능) / 얼마나 잘(품질) / 선택지를 지우는가(제약)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원칙: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"빠르면 좋겠다"는 QA가 아니다 — 측정 가능한 response measure가 붙은 시나리오만 Utility Tree에 올림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행에 [측정: 지표+baseline]이 있고, 그 수치마다 출처(A/B/C 등급)가 있다</a:t>
            </a:r>
            <a:endParaRPr lang="en-US" sz="950" dirty="0"/>
          </a:p>
        </p:txBody>
      </p:sp>
      <p:pic>
        <p:nvPicPr>
          <p:cNvPr id="49" name="Image 0" descr="/home/user/architect/docs/mcr_assets/req_qa_ch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4023360"/>
            <a:ext cx="7208215" cy="23682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C. 선정 QA 정의 및 평가 기준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65415" y="6309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QA별 bin·근거 상세 : 부록 C-1~6 (p.28~33)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1042416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선정 QA 6건의 정의·측정·정량 bin — </a:t>
            </a:r>
            <a:pPr algn="l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별점(★)은 문헌 앵커 기반 정량 bin으로만 판정</a:t>
            </a:r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(QA1~QA4는 번호 = 우선순위)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63040"/>
          <a:ext cx="11551615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417320"/>
                <a:gridCol w="2377440"/>
                <a:gridCol w="3429000"/>
                <a:gridCol w="2843784"/>
                <a:gridCol w="822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우선순위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Refinement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지표 · baseline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★★★ 기준 (정량 bin)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중요도/난이도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QA1
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Performance (추론 성능)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prefill·decode 2단 성능 — retrieval(SSD-PIM 가속) 포함 E2E: TTFT(prefill) · throughput(decode)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TTFT 단축 배율 — 평균 판정·p99 병행 · ② throughput 배율 — iso-latency(TPOT p99 ≤ baseline)·곡선 병행 — baseline = GPU HBM 단일 tier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TTFT·throughput 모두 ≥ 2×  (★★☆ 둘 다 ≥1.5×·한쪽 2× 미달 · ★☆☆ 한쪽 &lt;1.5×)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/ 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QA2
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Accuracy (응답 품질)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압축·재사용 품질 저하 bound — QA1·QA3 수치의 유효 전제(gate)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ΔF1(%p, LongBench) · 보조 ΔPPL(Wikitext-2) — baseline = 비압축(FP16 KV)·비재사용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ΔF1 ≤ 1%p · 요청별 bound 집행  (★★☆ ≤ 2%p·전역)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/ 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QA3
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Resource Efficiency (메모리 효율)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KV 용량 — 원본 환산 동시 수용량 (QA2 bound 준수 조건에서만 인정)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Σ_tier(용량×압축률×가용 비율) ÷ 물리 HBM — baseline = HBM 단일·비압축(1.0×)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≥ 3×  (★★☆ 1.5–3× · ★☆☆ &lt; 1.5×)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/ 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QA4
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Modifiability (확장성·진화성)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메모리 디바이스·KV 구조 변화 (GQA·MLA·linear attention) 수용 용이성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신규/변경 모듈 수 · 코어 변경 LOC 비율 · 공개 IF 시그니처 변경 건수 · 수용 리드타임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어댑터 모듈 ≤ 1 · 코어 LOC 0 · 시그니처 0건 · ≤ upstream + 2주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/ 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QA6
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Adaptability (framework 적응성)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서빙 framework 교체(vLLM → SGLang 등) 수용 비용 — 종속 위험의 크기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framework 결합 코드 비율(%) · 교체 시 코어 변경 LOC · 전환 공수(인월)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결합 코드 어댑터 격리(≤ 10%) · 코어 변경 0 · 전환 ≤ 3인월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/ 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QA5
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Maintainability (유지보수성)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구축(E2E 벤치 완주) + 지속 유지보수 비용 — DP1 선택이 한 자릿수 이상 가름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구축 인월(person-month) · 연간 유지보수 FTE(rebase·추종·회귀 검증 포함)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≤ 6인월 · 유지 ≤ 0.5 FTE  (★☆☆ &gt; 24인월/2 FTE)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/ 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365760" y="5577840"/>
            <a:ext cx="11460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8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공통 규칙: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3단계(★★★/★★☆/★☆☆) — bin 판정 근거 없는 별점 무효 · 근거 등급 A(자체 실측)/B(문헌)/C(구조 논증) 병기 · F(forecast)/M(measured) 표기 · 설계 상한과 도달 리스크 분리 표기</a:t>
            </a:r>
            <a:endParaRPr lang="en-US" sz="8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8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 앵커 문헌: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KIVI(압축 2.35–3.47×) · CacheBlend(RAG 재사용 2.8–5×) · SGLang(prefix 재사용 ≤6.4×·대안 framework) · vLLM(paging 2–4×·2주 릴리스) · SmartANNS(near-storage 검색 ≤10.7×) · MLPerf(99% 정확도) · KVQuant(ΔPPL) · H2O·SnapKV(eviction) · LongBench(F1) + 사내 40% 기준(A) · decode 대기 70–85%(A)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C-1. QA1 추론 성능 (TTFT · throughput)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65415" y="6309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본문: Utility Tree (p.9) · 정의 요약: 부록 C (p.27)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1042416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QA1 Performance — </a:t>
            </a:r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최종 판정 지표 — 미달 시 나머지 QA가 우수해도 무의미</a:t>
            </a:r>
            <a:pPr algn="l"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[중요도 H · 난이도 H · 우선순위 1 (목표)]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1536192"/>
            <a:ext cx="598932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536192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· 측정 · Baseline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1956816"/>
            <a:ext cx="5897880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— 왜 2지표: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추론은 </a:t>
            </a:r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prefill(첫 토큰까지) · decode(생성 지속)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2단계로 나뉘고 MCR 최적화가 각 단계에 1:1 대응 — 합성 지표로 뭉치면 어느 단계 개선인지 흐려지므로 분리 측정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TTFT (prefill 축):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재사용·retrieval 가속이 줄이는 첫 토큰 지연 — baseline 대비 단축 배율. </a:t>
            </a:r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기준 판정 · p99 병행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(재사용 hit/miss 이질성 — 꼬리는 cold 요청 지배)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throughput (decode 축):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확장·압축의 batch 확대로 오르는 생성 처리량 — baseline 대비 배율. </a:t>
            </a:r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iso-latency(TPOT p99 ≤ baseline) 판정 · 곡선 병행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(지연 팔아 산 처리량 배제, vLLM SOSP'23 방법론)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HW·동일 실행 구성의 </a:t>
            </a:r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HBM 단일 tier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순증분 분리 측정. P/D 분리는 실험 변수(양쪽 동일 적용). goodput@SLO는 상용화 단계 승격(절대 SLO는 연구 테스트베드서 취약)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1536192"/>
            <a:ext cx="533369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1536192"/>
            <a:ext cx="5242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정량 bin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938528"/>
          <a:ext cx="5333695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55645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TTFT ≥ 2× 그리고 throughput ≥ 2× (둘 다 충족)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★★☆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지표 모두 ≥ 1.5×, 한쪽이라도 2× 미달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★☆☆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한 지표라도 &lt; 1.5×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6537960" y="3355848"/>
            <a:ext cx="533369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8" name="Text 25"/>
          <p:cNvSpPr/>
          <p:nvPr/>
        </p:nvSpPr>
        <p:spPr>
          <a:xfrm>
            <a:off x="6583680" y="3355848"/>
            <a:ext cx="5242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 근거 (A 실측 · B 문헌 · C 논증)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583680" y="3758184"/>
            <a:ext cx="5242255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TTFT 2× (prefill): </a:t>
            </a:r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CacheBlend RAG 재사용 </a:t>
            </a:r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TTFT 2.2–3.3×↓(B, EuroSys'25 Best Paper)</a:t>
            </a:r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SGLang prefix 재계산 제거(B) · 검색 SmartANNS </a:t>
            </a:r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QPS ≤10.7×(B, SSD-PIM·ADR-001)</a:t>
            </a:r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2×는 CacheBlend 하단 2.2×의 보수 반올림(C)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throughput 2× (decode): </a:t>
            </a:r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KIVI batch 4×로 </a:t>
            </a:r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처리율 2.35–3.47×(B)</a:t>
            </a:r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vLLM paging </a:t>
            </a:r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2–4×(B)</a:t>
            </a:r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tier 확장이 batch를 더 키우므로 단독 하단 2× 요구(C)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AND로 묶는 이유: </a:t>
            </a:r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한쪽만 좋으면 한 단계만 최적화한 것 — MCR 가치는 prefill·decode 결합이므로 둘 다 2× 요구(C). 구 지연 가드 1.5×(임의 배수)는 폐기, iso-latency로 대체(v0.9)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C-2. QA2 응답 품질 (bound)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65415" y="6309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본문: Utility Tree (p.9) · 정의 요약: 부록 C (p.27)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1042416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QA2 Accuracy — </a:t>
            </a:r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QA1·QA3 수치의 유효 전제 — bound 위반 시 성능·용량 수치 무효</a:t>
            </a:r>
            <a:pPr algn="l"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[중요도 H · 난이도 M · 우선순위 2 (gate)]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1536192"/>
            <a:ext cx="598932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536192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· 측정 · Baseline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1956816"/>
            <a:ext cx="5897880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압축(양자화·토큰 eviction)·재사용으로 인한 </a:t>
            </a:r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저하의 상한 보장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품질은 올리는 목표가 아니라 지키는 제약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주지표 </a:t>
            </a:r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ΔF1(%p)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LongBench QA 태스크군 공식 지표(B), 부분 일치를 반영해 저하에 민감 · 보조 ΔPPL(Wikitext-2, 선행 신호)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모델·동일 벤치의 </a:t>
            </a:r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비압축(FP16 KV)·비재사용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품질의 이론적 상한이므로 ΔF1이 곧 압축·재사용의 품질 비용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축 추가: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bound의 집행 단위 — 요청별(차등) vs 전역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1536192"/>
            <a:ext cx="533369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1536192"/>
            <a:ext cx="5242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정량 bin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938528"/>
          <a:ext cx="5333695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55645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ΔF1 ≤ 1%p (보조 ΔPPL ≤ 0.1) · 요청별 bound 집행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★★☆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ΔF1 ≤ 2%p · 전역 bound만 보장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★☆☆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ΔF1 &gt; 2%p 또는 bound 자체를 보장 못 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6537960" y="3355848"/>
            <a:ext cx="533369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8" name="Text 25"/>
          <p:cNvSpPr/>
          <p:nvPr/>
        </p:nvSpPr>
        <p:spPr>
          <a:xfrm>
            <a:off x="6583680" y="3355848"/>
            <a:ext cx="5242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 근거 (A 실측 · B 문헌 · C 논증)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583680" y="3758184"/>
            <a:ext cx="5242255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2%p = 최대 압축단(2-bit) </a:t>
            </a:r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KIVI의 LongBench 실측 저하 상한(B)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1%p = </a:t>
            </a:r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MLPerf 99% 트랙(B)보다 완화, KIVI 상한보다 엄격한 중간 경계(C)</a:t>
            </a:r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KIVI 평균 저하는 Δ0.25점(B)이라 도달 가능 · LongBench 표본 오차(≈0.5점)와 같은 자릿수(C) · 사내 기준 1%p 계승(A)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eviction도 동일 bound: H2O KV 예산 20% 동등 성능(B) · SnapKV 92% 압축 negligible(B)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요청별 집행 조건: K&gt;V sensitivity(B) — 압축 대상 선택이 품질을 좌우(C)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C-3. QA3 메모리 효율 (유효 KV 용량)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65415" y="6309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본문: Utility Tree (p.9) · 정의 요약: 부록 C (p.27)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1042416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QA3 Resource Efficiency — </a:t>
            </a:r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HBM당 수용 컨텍스트가 비용 구조 결정 — 이종 tier 도입의 존재 이유</a:t>
            </a:r>
            <a:pPr algn="l"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[중요도 H · 난이도 H · 우선순위 3 (수단)]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1536192"/>
            <a:ext cx="598932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536192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· 측정 · Baseline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1956816"/>
            <a:ext cx="5897880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원본(비압축) 환산으로 동시 수용 가능한 KV 총량의 물리 HBM 용량 대비 배율 — </a:t>
            </a:r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품질 bound를 지키는 조건에서만 인정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Σ_tier(tier 용량 × 평균 압축률 × KV 가용 비율) ÷ 물리 HBM 용량 · 보조: tier 활용률, 압축률 분포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Baseline: </a:t>
            </a:r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단일 tier·비압축 = 1.0×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HBM이 희소 자원이라 분모를 HBM으로 고정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병목의 크기: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Llama-2-70B 기준 토큰당 ≈ 320 KB → 32k 컨텍스트 1세션 ≈ 10.5 GB — 용량이 동시성(=처리율)의 상한(C)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1536192"/>
            <a:ext cx="533369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1536192"/>
            <a:ext cx="5242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정량 bin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938528"/>
          <a:ext cx="5333695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55645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KV 용량 ≥ 3×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★★☆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1.5× – 3×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★☆☆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 1.5× (압축 단독 대비 열위)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6537960" y="3218688"/>
            <a:ext cx="533369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8" name="Text 25"/>
          <p:cNvSpPr/>
          <p:nvPr/>
        </p:nvSpPr>
        <p:spPr>
          <a:xfrm>
            <a:off x="6583680" y="3218688"/>
            <a:ext cx="5242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 근거 (A 실측 · B 문헌 · C 논증)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583680" y="3621024"/>
            <a:ext cx="5242255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단독 도달선 1.5×: </a:t>
            </a:r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KIVI 2-bit peak memory 2.6× 절감·batch 4×(B)</a:t>
            </a:r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압축만 잘 써도 도달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결합 상단: </a:t>
            </a:r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FlexGen offloading 정책만으로 최대 100×(B)</a:t>
            </a:r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vLLM: KV 낭비 60–80% → &lt;4%(B)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∴ tier+압축을 결합하는 MCR은 </a:t>
            </a:r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3×를 상위 bin</a:t>
            </a:r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요구 — 1.5× 미만이면 이종 tier 도입의 존재 이유 미달(C)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C-4. QA4 확장성·진화성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65415" y="6309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본문: Utility Tree (p.9) · 정의 요약: 부록 C (p.27)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1042416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QA4 Modifiability — </a:t>
            </a:r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코어/모듈 경계는 되돌리기 어려운 초기 결정 — 중장기 생존성 좌우</a:t>
            </a:r>
            <a:pPr algn="l"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[중요도 M · 난이도 H · 우선순위 4]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1536192"/>
            <a:ext cx="598932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536192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· 측정 · Baseline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1956816"/>
            <a:ext cx="5897880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메모리 디바이스(HBM4/CMM-DC/HBF)와 </a:t>
            </a:r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구조 영향 모델 변화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(GQA/MQA · MLA · sliding-window · linear attention 계열)의 수용 비용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(a) tier 추가: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신규/변경 모듈 수 · 코어 변경 LOC 비율(%) · 공개 IF(KV Locator·CompressionOp) 시그니처 변경 건수 · 기능 변경 비율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(b) 모델 변화: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수용 리드타임 (upstream 공개 시점 기준) — baseline = 현행 코드베이스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코어/모듈 판별: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시 다른 모듈들을 재검증해야 하면 코어, 그 부품만 재검증하면 모듈 (시그니처 변경은 항상 코어)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1536192"/>
            <a:ext cx="533369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1536192"/>
            <a:ext cx="5242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정량 bin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938528"/>
          <a:ext cx="5333695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55645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추가 = topology 파라미터 등록 + 어댑터 모듈 ≤ 1 · 코어 변경 LOC 0 · 시그니처 변경 0건 · 모델 변화 수용 ≤ upstream + 2주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★★☆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코어 변경(또는 기능 변경) ≤ 전체의 40% · 하위호환 시그니처 변경만 · ≤ upstream + 1분기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★☆☆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코어 변경 &gt; 40% · 비호환 시그니처 변경 · 수용 &gt; 1분기 (만성 지연)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6537960" y="3941064"/>
            <a:ext cx="533369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8" name="Text 25"/>
          <p:cNvSpPr/>
          <p:nvPr/>
        </p:nvSpPr>
        <p:spPr>
          <a:xfrm>
            <a:off x="6583680" y="3941064"/>
            <a:ext cx="5242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 근거 (A 실측 · B 문헌 · C 논증)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583680" y="4343400"/>
            <a:ext cx="5242255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 = </a:t>
            </a:r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 과제 원본 덱 QA-01의 사내 측정 기준 계승(A)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upstream + 2주 = </a:t>
            </a:r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vLLM 정규 릴리스 2주 간격(B)</a:t>
            </a:r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릴리스 주기 내 추종 = 실질 동시 지원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1분기 초과 ≈ 릴리스 6회 누락 → 생태계 대비 만성 열세(C)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변화의 실재: MLA — KV 93.3% 축소(B) · linear attention — KV를 고정 크기 상태로 대체(B), MiniMax-01 상용 배치(B)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C-5. QA6 framework 적응성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65415" y="6309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본문: Utility Tree (p.9) · 정의 요약: 부록 C (p.27)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1042416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QA6 Adaptability — </a:t>
            </a:r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framework 종속 리스크 통제 — 산출물(레퍼런스 스택)의 수명 좌우</a:t>
            </a:r>
            <a:pPr algn="l"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[중요도 M · 난이도 H · 우선순위 5]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1536192"/>
            <a:ext cx="598932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536192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· 측정 · Baseline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1956816"/>
            <a:ext cx="5897880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서빙 framework 교체(vLLM → SGLang 등) 시 </a:t>
            </a:r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MCR 고유 자산(Memory Engine · 배치·압축·재사용 정책)을 보존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능력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framework 결합 코드 비율(%) — 정적 분석 ② 교체 시 코어(Memory Engine·정책·공개 IF) 변경 LOC ③ 전환 공수(인월) — 파일럿 포팅 또는 견적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framework(vLLM) 결합 구조 — </a:t>
            </a:r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 비용이 곧 종속 위험의 크기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 평가 시: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결합부 정적 분석 결과를 근거로 제시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1536192"/>
            <a:ext cx="533369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1536192"/>
            <a:ext cx="5242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정량 bin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938528"/>
          <a:ext cx="5333695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55645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결합 코드가 어댑터 계층에 격리(≤ 전체의 10%) · 교체 시 코어 변경 0 · 전환 ≤ 3인월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★★☆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교체 시 코어 변경 ≤ 전체의 40% · 전환 ≤ 1분기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★☆☆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사실상 전면 재작성(&gt; 40%) 또는 전환 &gt; 1분기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6537960" y="3493008"/>
            <a:ext cx="533369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8" name="Text 25"/>
          <p:cNvSpPr/>
          <p:nvPr/>
        </p:nvSpPr>
        <p:spPr>
          <a:xfrm>
            <a:off x="6583680" y="3493008"/>
            <a:ext cx="5242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 근거 (A 실측 · B 문헌 · C 논증)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583680" y="3895344"/>
            <a:ext cx="5242255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10%·3인월 = </a:t>
            </a:r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ports-and-adapters 성립 시 결합부가 인터페이스 구현 계층에 국한된다는 구조 논증(C)</a:t>
            </a:r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plugin형 초기 구축 '수 인월'(A)에서 포팅은 그 이하라는 추정(C)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 = 사내 기준(A, QA4와 동일 계승)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대안의 실재: </a:t>
            </a:r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SGLang — RadixAttention 기반, vLLM 동급 이상 처리율 보고(B)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C-6. QA5 유지보수성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65415" y="6309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본문: Utility Tree (p.9) · 정의 요약: 부록 C (p.27)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1042416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QA5 Maintainability — </a:t>
            </a:r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가능성 좌우 — DP1(plugin vs 독립) 선택이 비용을 한 자릿수 이상 가름</a:t>
            </a:r>
            <a:pPr algn="l"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[중요도 M · 난이도 M · 우선순위 6]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1536192"/>
            <a:ext cx="598932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536192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· 측정 · Baseline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1956816"/>
            <a:ext cx="5897880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구축(</a:t>
            </a:r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워크로드 E2E 벤치 완주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까지) + 지속 유지보수 비용 (구 Affordability — ISO/IEC 25010 어휘로 개칭)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구축 인월(person-month) · 연간 유지보수 FTE — upstream 추종(rebase, 2주 주기)·회귀 검증 포함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DP1 후보별 비용 모델(02 문서 실측 표현) — </a:t>
            </a:r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plugin형 '초기 수 인월' vs 독립형 '초기 수십 인월+, 상시 유지 인력'(A)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1536192"/>
            <a:ext cx="533369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1536192"/>
            <a:ext cx="5242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정량 bin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938528"/>
          <a:ext cx="5333695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55645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≤ 6인월 · 유지 ≤ 0.5 FTE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★★☆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≤ 24인월 · 유지 ≤ 2 FTE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★☆☆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&gt; 24인월 또는 유지 &gt; 2 FTE (상시 전담팀)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6537960" y="3355848"/>
            <a:ext cx="533369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8" name="Text 25"/>
          <p:cNvSpPr/>
          <p:nvPr/>
        </p:nvSpPr>
        <p:spPr>
          <a:xfrm>
            <a:off x="6583680" y="3355848"/>
            <a:ext cx="5242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 근거 (A 실측 · B 문헌 · C 논증)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583680" y="3758184"/>
            <a:ext cx="5242255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수치 = 02 문서의 실측 표현(A)을 bin으로 수치화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 FTE = plugin 경계 유지 시 2주 릴리스 주기당 ~수일의 추종 비용(C)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FTE = fork rebase 비용이 6–12개월 후 급증한다는 관찰(02 §DP1, C)에서 fork/독립 유지의 하한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2026-07-19T12:33:35Z</dcterms:created>
  <dcterms:modified xsi:type="dcterms:W3CDTF">2026-07-19T12:33:35Z</dcterms:modified>
</cp:coreProperties>
</file>