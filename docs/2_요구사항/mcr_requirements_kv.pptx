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인터뷰·QAW + 자체 실측·문헌 조사 병행 → 원시 요구사항 24건(결번 2 — R-09·R-14, 유효 22건) 수집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서비스 운영 조직은 stakeholder 아님(연구 과제): 서빙 SLO·워크로드 요구는 문헌·자체 실측으로 대체 수집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389888"/>
            <a:ext cx="649224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3898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Stakeholder 및 역할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73936"/>
          <a:ext cx="6492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937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· 주요 관심사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발주 일원 — 메모리 제품 로드맵. 현 과제 관심사: KV 운용 계층 성립·tier 추상화 접속점 보존(R-07)·레퍼런스 스택(R-08)·디바이스 불변(R-10). 구 과제 VOC(자사 디바이스 E2E 실증)는 2단계로 이관(R-09 결번)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메모리 시스템 성능의 시뮬레이션·예측 — 예측치의 실측 재현(R-02), tier 조합별 효용 정량화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 LLM 응용·모델 사용자 — 대표 워크로드(RAG·multiturn·agent)의 요구 특성 제공: 장문 비용·세션 기억·품질 유지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 (랩장)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승인·자원 배정, 목표 재정의(R-24) 주체 — KV 최적 운용 효용성의 E2E 정량 입증(baseline 대비)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개발·유지보수·자체 실측 — 개발 비용, upstream 추종·교체 부담, 코어/모듈 경계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(잠재)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레퍼런스 스택 수요처 — 생태계 호환·실측 증거·확장성 (도입 전제 조건만 수집)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(간접) 오픈소스 커뮤니티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vLLM·SGLang·LMCache 진화 주체 — 릴리스 주기·인터페이스 변화가 제약으로 작용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178040" y="1389888"/>
            <a:ext cx="4553712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7223760" y="1389888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방법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773936"/>
          <a:ext cx="45537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334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 인터뷰·VOC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요구사항 R-01~R-24 (부록 A)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요구의 시나리오화 — §4.1·Utility Tree 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벤치마크 실측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대기 70–85% (A) — QA1·QA3 baseline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문헌·업계 벤치 조사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CacheBlend·H2O·SnapKV·KIVI·vLLM·SGLang·MLPerf·LongBench (B)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upstream 릴리스 분석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2주 케이던스 (B) — QA5 bin·DP1 비용 모델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시스템 분석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LMCache 등 KV offloading 계층 (B) — DP1 후보 발굴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요구사항(VOC) R-01~R-24 전량 : 부록 A (p.25)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24건(유효 22건) → 기능 요구사항 7건 · 품질 요구(QA 후보) 11건 · 제약사항 3건 · 범위 판정 1건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389888"/>
            <a:ext cx="6720840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389888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(FR) — 목표 3축 대응 재편 (v1.0)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73936"/>
          <a:ext cx="6720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258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(요지)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워크로드 서빙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워크로드(long-context RAG·multiturn·agent memory) E2E 처리 — retrieval은 외부 컴포넌트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재사용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세션·사용자 영속 + prefix 넘어 비접두(chunk) 재사용 + 복원 vs 재계산 비용 판단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압축(pruning)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 기반 토큰 pruning 주 기법(양자화 조합) — 요청별 품질 예산 차등 적용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tier 배치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밖 tier(DRAM·SSD — 1단계 commodity)에 배치·승격/강등 — 2단계 디바이스 접속점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인지 스케줄링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cache-hit/locality 인지 admission·라우팅 + KV 공간 확보(압축/강등/축출 선택) + SLO 차등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P/D 분리 실행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prefill/decode 분리 구성의 인스턴스 간 KV 전송 포함 실행 (실험 변수)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telemetry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관측 지표 수집 → 정책 피드백 + 고정 N 내 P/D 비율 자동 조정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320040" y="4224528"/>
            <a:ext cx="672084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224528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(C)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08576"/>
          <a:ext cx="6720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73736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제약사항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(요지)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불변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HW 설계 변경 불가 — tier는 파라미터(대역폭·용량·지연)로만 취급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C-02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 한정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 대상은 KV cache 보유 모델 — 탈Transformer는 전제 불성립으로 범위 외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C-03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training-free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 유지는 재학습·모델 변경 없이 — 압축·재사용은 런타임 계층 기법으로 한정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7406640" y="1389888"/>
            <a:ext cx="432511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3"/>
          <p:cNvSpPr/>
          <p:nvPr/>
        </p:nvSpPr>
        <p:spPr>
          <a:xfrm>
            <a:off x="7452360" y="138988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경계 · Use Case (UC-01~10)</a:t>
            </a:r>
            <a:endParaRPr lang="en-US" sz="1300" dirty="0"/>
          </a:p>
        </p:txBody>
      </p:sp>
      <p:pic>
        <p:nvPicPr>
          <p:cNvPr id="28" name="Image 0" descr="/home/user/architect/docs/mcr_assets/req_usecase_m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47088"/>
            <a:ext cx="4325112" cy="304359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406640" y="4945549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FR이 ≥1개 UC에 매핑 ✓ — 서빙 3 · 재사용 2 · 압축 1 · 배치 1 · 스케줄링 2(KV 공간 확보 포함) · P/D 1 · telemetry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 QA 도출 — 요구사항이 우선순위의 원천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워크로드 시나리오의 정량 관찰(A 실측·B 문헌·C 논증) → 필요 기능(FR) → 귀결 QA</a:t>
            </a:r>
            <a:pPr indent="0" marL="0">
              <a:buNone/>
            </a:pPr>
            <a:r>
              <a:rPr lang="en-US" sz="90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QA와 우선순위는 요구사항에서 도출하고, 과제 목표의 정량치(Exit Criteria)는 선정 QA bin에서 역정의 (v1.6)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11274552" cy="914400"/>
        </p:xfrm>
        <a:graphic>
          <a:graphicData uri="http://schemas.openxmlformats.org/drawingml/2006/table">
            <a:tbl>
              <a:tblPr/>
              <a:tblGrid>
                <a:gridCol w="5971032"/>
                <a:gridCol w="23774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워크로드 시나리오 — 정량 관찰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기능 (FR)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귀결 QA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long-context RAG — 수십 k 토큰을 매 요청 전체 re-prefill(R-03). chunk KV 재사용(비접두+선택 재계산) 시 TTFT 2.2–3.3×↓ (CacheBlend,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재사용 (FR-02)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 TTFT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multiturn / agent memory — 턴·세션마다 컨텍스트 복원 비용(R-04·05). prefix 재사용(SGLang, B) + 복원 vs 재계산 역전 구간(tier 계단 ~10×, A)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재사용·tier 배치 (FR-02·04)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 TTFT · QA-04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용량 병목 — 32k 1세션 ≈ 10.5 GB로 HBM 초과(R-01, C). pruning 예산 20% = 산술 5× (H2O, B) · MCAS 예측의 실측 재현 요구(R-02)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압축·tier 배치 (FR-03·04)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 유효 KV 용량 · QA-01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지배 — decode 대기가 E2E의 70–85% (자체 실측 A, R-01), memory-BW-bound. pruning 읽기량 절감·paging 2–4× (vLLM,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 (FR-03)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 Throughput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KV-blind 스케줄링 — locality 비인지 라우팅·포화 시 preemption뿐(R-16): 재사용·압축 이득이 처리량으로 전환 안 됨 (C)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인지 스케줄링 (FR-05)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 Throughput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우려 — "품질이 떨어지면 쓸 수 없다"(R-06). near-lossless 실재: LongBench ≤2%p (KIVI, B) · 예산 20% 동등 (H2O,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차등 압축 (FR-03)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 품질 bound (gate)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유지·진화 — vLLM 2주 릴리스(R-13, B) · tier 조합 실험 반복(R-17) · MLA·linear attention 신모델 즉시 서빙(R-21,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추상화·telemetry (FR-04·07)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 확장성·진화성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2004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시나리오의 측정 가능한 정량 효과가 곧 QA의 존재 근거 — 모든 [측정]에 출처 등급(A/B/C)이 붙는다. retrieval 가속(SSD-PIM) 행은 2단계 이관으로 제외(R-09와 함께 2단계 분석에서 복원).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Tree 활용한 ASR 선정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후보 11건을 rubric 2축 평가 → 상위 5건 ASR 선정</a:t>
            </a:r>
            <a:pPr indent="0" marL="0">
              <a:buNone/>
            </a:pPr>
            <a:r>
              <a:rPr lang="en-US" sz="86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(우선순위: ① 중요도[I1 핵심 시나리오 직결성·I2 파급·I3 VOC 대체 불가] → ② 난이도 → ③ 잔여 동률 역할 — 채점 입력은 시나리오·VOC뿐, 목표 문장 참조 금지)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1127455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2286000"/>
                <a:gridCol w="4480560"/>
                <a:gridCol w="777240"/>
                <a:gridCol w="685800"/>
                <a:gridCol w="512064"/>
                <a:gridCol w="457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Scenario  [측정: 지표 + baseline]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Perf. — Throughput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성능 — throughput 배율 (압축·tier·스케줄링 축)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처리량 배율 — iso-latency(TPOT p99 ≤ baseline) 판정·곡선 병행, ablation으로 순기여 분리 [측정: ≥2×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(6 최고)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저하 bound — 전 수치의 유효 전제(gate)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 활성 상태로 LongBench — baseline(비압축 FP16·비재사용) 대비 ΔF1, 집행 단위(요청별/전역) 판정 [측정: ≤1%p·요청별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(6 최고)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Perf. — TTFT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 성능 — TTFT 단축 배율 (재사용 축)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RAG·multiturn·agent E2E 첫 토큰 시간 — 평균 판정·p99 병행, baseline = GPU HBM 단일 tier [측정: ≥2×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(3)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 Efficiency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(원본 환산 동시 수용량)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 bound 준수 조건에서 Σ_tier(용량×압축률×가용) ÷ HBM [측정: ≥3× → ★★★] — 기전 입증(R-02 재현 검증)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(3)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Modifiability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구조 변화·신규 tier 수용 (framework 격리 대리 측정)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MLA·linear attention 수용 + tier 조합 변경 [측정: 어댑터 ≤1·코어 LOC 0·시그니처 0·≤upstream+2주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(3)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Maintainability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개발·운영 비용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 인월·연간 유지 FTE [측정: ≤6인월·≤0.5 FTE] — v1.5 미선정: critical 요구 아님, bin은 DP1 비용 모델로 보존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(2)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(2)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Availability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영속 KV 유실 복구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장애 시 재계산으로 세션 복구 — 유실이 성능 문제로 환원되어 QA-01·03에 흡수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Security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간 KV 재사용 격리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cross-user 재사용 차단 — 실증 단계는 사용자/세션 내 한정 정책으로 완화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Interoperability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서빙 생태계 호환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수정 없는 전환 — DP1(실행 스택 소싱)의 결정 변수로 흡수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교체 적응성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시 코어 보존 — QA-05가 대리 측정(코어 LOC·시그니처), 노출 시점은 2단계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Scalability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 수평 확장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추가 선형 확장 — 고정 N 테스트베드 전제로 범위 외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2004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동률(QA-03·04 — 5·3 완전 동률)은 역할로 판정: QA-03은 RAG·multiturn·agent 시나리오의 사용자 체감 최종 판정, QA-04는 그 기전(용량) — 시나리오 최종 판정 지표 &gt; 수단·기전. 미선정 6건 전건 사유 기록(요구사항 분석 §4.3).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QA별 정량 bin·근거 상세 : 00_qa_definitions.md v1.6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 도출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161288"/>
            <a:ext cx="41148" cy="21945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Functional Requirements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1517904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15179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FR-01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[워크로드 서빙]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RAG·multiturn·agent E2E 서빙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1993392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1993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FR-02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[KV 재사용]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prefix+비접두 재사용·영속·복원 판단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468880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" y="2468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FR-03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[KV 압축(pruning)]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 기반 pruning·요청별 차등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94436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2944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FR-04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[KV tier 배치]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commodity tier 배치·승격/강등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419856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3419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FR-05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[KV 인지 스케줄링]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locality 라우팅·KV 공간 확보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895344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" y="38953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FR-06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[P/D 분리 실행]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간 KV 전송 포함 실행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370832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" y="43708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FR-07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[KV telemetry]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→ 정책 피드백·P/D 조정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0" y="1161288"/>
            <a:ext cx="41148" cy="21945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5138928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 Attributes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29200" y="1517904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38" name="Text 36"/>
          <p:cNvSpPr/>
          <p:nvPr/>
        </p:nvSpPr>
        <p:spPr>
          <a:xfrm>
            <a:off x="5138928" y="1517904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[Throughput]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성능 (≥2×, iso-latency)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1993392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0" name="Text 38"/>
          <p:cNvSpPr/>
          <p:nvPr/>
        </p:nvSpPr>
        <p:spPr>
          <a:xfrm>
            <a:off x="5138928" y="1993392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[Accuracy]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저하 bound (gate, ΔF1≤1%p)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0" y="2468880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2" name="Text 40"/>
          <p:cNvSpPr/>
          <p:nvPr/>
        </p:nvSpPr>
        <p:spPr>
          <a:xfrm>
            <a:off x="5138928" y="2468880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[TTFT]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prefill 성능 (≥2×, 재사용 축)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0" y="294436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4" name="Text 42"/>
          <p:cNvSpPr/>
          <p:nvPr/>
        </p:nvSpPr>
        <p:spPr>
          <a:xfrm>
            <a:off x="5138928" y="294436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[Resource Efficiency]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KV 용량 (≥3×)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0" y="3419856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6" name="Text 44"/>
          <p:cNvSpPr/>
          <p:nvPr/>
        </p:nvSpPr>
        <p:spPr>
          <a:xfrm>
            <a:off x="5138928" y="3419856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[Modifiability]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확장성·진화성 (2단계 접속점)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189720" y="3639312"/>
            <a:ext cx="41148" cy="21945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9299448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9189720" y="3931920"/>
            <a:ext cx="2587752" cy="310896"/>
          </a:xfrm>
          <a:prstGeom prst="roundRect">
            <a:avLst>
              <a:gd name="adj" fmla="val 14706"/>
            </a:avLst>
          </a:prstGeom>
          <a:solidFill>
            <a:srgbClr val="843C0C"/>
          </a:solidFill>
          <a:ln/>
        </p:spPr>
      </p:sp>
      <p:sp>
        <p:nvSpPr>
          <p:cNvPr id="50" name="Text 48"/>
          <p:cNvSpPr/>
          <p:nvPr/>
        </p:nvSpPr>
        <p:spPr>
          <a:xfrm>
            <a:off x="9299448" y="393192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C-01 </a:t>
            </a:r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[디바이스 불변] </a:t>
            </a:r>
            <a:pPr algn="l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스펙 변경 불가 — 파라미터 취급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9189720" y="4407408"/>
            <a:ext cx="2587752" cy="310896"/>
          </a:xfrm>
          <a:prstGeom prst="roundRect">
            <a:avLst>
              <a:gd name="adj" fmla="val 14706"/>
            </a:avLst>
          </a:prstGeom>
          <a:solidFill>
            <a:srgbClr val="843C0C"/>
          </a:solidFill>
          <a:ln/>
        </p:spPr>
      </p:sp>
      <p:sp>
        <p:nvSpPr>
          <p:cNvPr id="52" name="Text 50"/>
          <p:cNvSpPr/>
          <p:nvPr/>
        </p:nvSpPr>
        <p:spPr>
          <a:xfrm>
            <a:off x="9299448" y="440740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C-02 </a:t>
            </a:r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[Transformer 한정] </a:t>
            </a:r>
            <a:pPr algn="l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보유 모델만 대상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9189720" y="4882896"/>
            <a:ext cx="2587752" cy="310896"/>
          </a:xfrm>
          <a:prstGeom prst="roundRect">
            <a:avLst>
              <a:gd name="adj" fmla="val 14706"/>
            </a:avLst>
          </a:prstGeom>
          <a:solidFill>
            <a:srgbClr val="843C0C"/>
          </a:solidFill>
          <a:ln/>
        </p:spPr>
      </p:sp>
      <p:sp>
        <p:nvSpPr>
          <p:cNvPr id="54" name="Text 52"/>
          <p:cNvSpPr/>
          <p:nvPr/>
        </p:nvSpPr>
        <p:spPr>
          <a:xfrm>
            <a:off x="9299448" y="488289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C-03 </a:t>
            </a:r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[training-free] </a:t>
            </a:r>
            <a:pPr algn="l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없이 정확도 유지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6858000" y="3950208"/>
            <a:ext cx="411480" cy="530352"/>
          </a:xfrm>
          <a:prstGeom prst="downArrow">
            <a:avLst/>
          </a:prstGeom>
          <a:solidFill>
            <a:srgbClr val="4E7C3A"/>
          </a:solidFill>
          <a:ln/>
        </p:spPr>
      </p:sp>
      <p:sp>
        <p:nvSpPr>
          <p:cNvPr id="56" name="Shape 54"/>
          <p:cNvSpPr/>
          <p:nvPr/>
        </p:nvSpPr>
        <p:spPr>
          <a:xfrm>
            <a:off x="4754880" y="4773168"/>
            <a:ext cx="1097280" cy="420624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57" name="Shape 55"/>
          <p:cNvSpPr/>
          <p:nvPr/>
        </p:nvSpPr>
        <p:spPr>
          <a:xfrm>
            <a:off x="8275320" y="4773168"/>
            <a:ext cx="841248" cy="420624"/>
          </a:xfrm>
          <a:prstGeom prst="leftArrow">
            <a:avLst/>
          </a:prstGeom>
          <a:solidFill>
            <a:srgbClr val="843C0C"/>
          </a:solidFill>
          <a:ln/>
        </p:spPr>
      </p:sp>
      <p:sp>
        <p:nvSpPr>
          <p:cNvPr id="58" name="Shape 56"/>
          <p:cNvSpPr/>
          <p:nvPr/>
        </p:nvSpPr>
        <p:spPr>
          <a:xfrm>
            <a:off x="5943600" y="4526280"/>
            <a:ext cx="224028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4526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Architectural Drivers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 7 · QA 5 · C 3 = 15종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693408" y="5559552"/>
            <a:ext cx="731520" cy="502920"/>
          </a:xfrm>
          <a:prstGeom prst="downArrow">
            <a:avLst/>
          </a:prstGeom>
          <a:solidFill>
            <a:srgbClr val="A9C08C"/>
          </a:solidFill>
          <a:ln/>
        </p:spPr>
      </p:sp>
      <p:sp>
        <p:nvSpPr>
          <p:cNvPr id="61" name="Text 59"/>
          <p:cNvSpPr/>
          <p:nvPr/>
        </p:nvSpPr>
        <p:spPr>
          <a:xfrm>
            <a:off x="2468880" y="608990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“MCR 1단계 — KV 캐시 최적 운용 AI 런타임”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11480" y="6428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driver가 DP1–DP5 또는 확정 컴포넌트에 매핑 ✓ (2단계 이관 driver[근접연산·디바이스 plug-in]는 DP6–DP8·ADR-001로 보존)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A. 수집 원시 요구사항 (VOC)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요구사항 R-01~R-24 전량 (R-14 결번 — 유효 23건) — 정제 결과(FR/QA/C) 매핑 포함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5559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960120"/>
                <a:gridCol w="3063240"/>
                <a:gridCol w="10332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(요지)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cache가 HBM 용량을 넘어선다 — 병목 해소가 효용성 입증의 핵심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QA-01·03·04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시뮬레이션 예측의 실측 재현 — 동시 컨텍스트 수용량 정량화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QA-04, FR-03·04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수십 k 토큰 RAG를 매 요청 re-prefill — chunk KV 재사용 요구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FR-01·02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multiturn 턴마다 이전 컨텍스트 복원 비용이 크다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FR-01·02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agent의 세션 넘는 장기 기억 — KV의 영속 자산화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압축·재사용으로 품질 저하 시 사용 불가 — 상한 보장 요구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QA-02, FR-03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(v1.7 재수집) KV 운용 계층 = 자사 메모리 확장(2단계)의 전제 — tier 추상화 접속점 보존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QA-05, FR-04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레퍼런스 스택 보유 → 고객 제공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 (QA-06 미선정)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(결번 — v1.7. 구 과제 VOC[PIM/PNM E2E 테스트]: 2단계 과제 VOC 등록부로 이관)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HW 스펙 변경 불가 — 주어진 스펙 전제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HBM 단일 tier baseline 대비 E2E 정량 입증·벤치 완주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QA-01·03, FR-01·06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후 소수 인력 유지 가능 — 상시 전담팀 불가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(QA-06 미선정 — DP1 비용 모델)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44752"/>
          <a:ext cx="5559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960120"/>
                <a:gridCol w="3063240"/>
                <a:gridCol w="10332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(요지)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2주 릴리스 — 구조에 따라 추종 비용이 수십 인월로 갈림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 (QA-06 미선정)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(결번 — v0.4. 자체 압축·재사용 알고리즘 개발이 과제 범위)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서빙 API·생태계 호환이 도입 전제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 (미선정 — DP1 흡수)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SLO·품질 예산 기반 정책이 차별점 — 요청별 차등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FR-03·05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조합·P/D 구성 실험 반복 — 등록 용이·자동 재배분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FR-04·06·07, QA-05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장애로 영속 KV 유실 시 세션 복구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 (미선정 — 성능 환원)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멀티테넌트 사용자 간 KV 재사용 격리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 (미선정 — 정책 완화)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추가만으로 선형 확장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QA-11 (미선정 — 범위 외)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MLA 등 KV 구조 변화 신모델의 즉시 서빙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학습 지원은 범위 외 — 추론 서빙 집중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판정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교체 비용 통제 — 종속 관리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 (미선정 — QA-05 대리)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발주 (v1.0)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범위를 KV 캐시 최적 운용으로 특정 — 재사용·압축·KV 인지 스케줄링, 자사 디바이스는 2단계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범위·FR-02·03·05, C-03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요구사항 수집 (p.5) · 정제 (p.6) · 시나리오 QA 도출 (p.7)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B. QA 우선순위 산정 기준 — 등급 변별 rubric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= ① 중요도(rubric) → ② 난이도(rubric) → ③ 잔여 동률만 역할(시나리오 최종 판정 &gt; gate &gt; 수단·기전)</a:t>
            </a:r>
            <a:pPr indent="0" marL="0">
              <a:buNone/>
            </a:pPr>
            <a:r>
              <a:rPr lang="en-US" sz="88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채점 입력은 대표 워크로드 시나리오(p.7)·VOC(부록 A)뿐 — 과제 목표 문장은 참조하지 않는다(v1.6). 각 축 3기준 × 0/1/2점, H ≥ 5 · M 2–4 · L ≤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481328"/>
            <a:ext cx="55321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8132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 — 미달 시 과제에 주는 타격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865376"/>
          <a:ext cx="55321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기준</a:t>
                      </a:r>
                      <a:endParaRPr lang="en-US" sz="8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2점 / 1점 / 0점</a:t>
                      </a:r>
                      <a:endParaRPr lang="en-US" sz="8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I1 핵심 시나리오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직결성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= 핵심 워크로드 시나리오를 단독/관통 판정 · 1 = 시나리오의 조건·기전을 정량 · 0 = 판정 무관  (v1.6: 구 "목표 직결성" 재정의)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I2 파급 범위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= 타 QA 수치 무효화(gate) 또는 복수 시나리오 요구 실패 · 1 = 단일 시나리오군 실패·산출물 수명 훼손 · 0 = 없음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I3 VOC 대체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불가성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= 전용 VOC 존재·타 지표로 대체 불가 · 1 = 부분 대체 가능 · 0 = 간접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217920" y="1481328"/>
            <a:ext cx="5532120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148132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— ★★★ 도달의 설계 부담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65376"/>
          <a:ext cx="55321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기준</a:t>
                      </a:r>
                      <a:endParaRPr lang="en-US" sz="8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2점 / 1점 / 0점</a:t>
                      </a:r>
                      <a:endParaRPr lang="en-US" sz="8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 신규 설계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필요성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= ★★★ 핵심 경로가 문헌 공백 · 1 = 일부 축만 신규 · 0 = 문헌 재현+조합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 동시 충족 폭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= 3중 이상 결합 충족 · 1 = 2중 · 0 = 단일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D3 회복·가역성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= 불가역 초기 결정·회복 수단 부재 · 1 = 조정 가능하나 고비용 · 0 = 반복 조정 가능</a:t>
                      </a:r>
                      <a:endParaRPr lang="en-US" sz="7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3767328"/>
            <a:ext cx="11274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3767328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채점표 — 점수가 곧 우선순위의 근거 (전 셀에 시나리오·VOC 앵커)</a:t>
            </a:r>
            <a:endParaRPr lang="en-US" sz="13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51376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86200"/>
                <a:gridCol w="3383280"/>
                <a:gridCol w="868680"/>
                <a:gridCol w="17647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 I1·I2·I3 → 등급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 D1·D2·D3 → 등급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동률 해소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 Throughput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2(용량·decode·스케줄링 시나리오 관통 판정)·2(복수 요구 실패)·2(R-01·11·16) = 6 → H 최고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2(KV 공간 확보 정책 — 문헌 공백)·2(iso-latency×3메커니즘)·1 = 5 → H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 단독 최고 — 규칙 ①만으로 1위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 Accuracy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1(시나리오 품질 조건절)·2(gate — 전 수치 무효)·2(R-06) = 5 → H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2(요청별 bound·3중 추적 — 문헌 공백)·2(3영향원×전 워크로드)·2(training-free) = 6 → H 최고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5점 동률군 — 난이도 최고로 선순위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 TTFT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2(RAG·multiturn·agent 시나리오 판정)·1(시나리오군 실패)·2(R-03·04·05) = 5 → H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1(agent 축만 신규 — 2/3 문헌 재현)·1·1 = 3 → M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QA4와 완전 동률(5·3) — 역할: 시나리오 최종 판정 &gt; 기전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 유효 KV 용량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2(용량 시나리오 공동 판정 — 기전 입증, R-02)·1·2(R-02) = 5 → H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1(보수 pruning 제약 하 정책만 신규)·2(3중 제약)·0(운용 튜닝) = 3 → M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 — 기전(수단) 측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 확장성·진화성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0·1(수명·2단계 접속점)·2(R-07·13·17·21) = 3 → M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2(MLA·linear attention 경계 — 문헌 무해답)·1·2(공개 IF 불가역) = 5 → H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M그룹 단독 선정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320040" y="609904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gate(QA2)가 시나리오 최종 판정(QA3)보다 앞서는 것은 우대가 아니라 rubric 점수의 귀결 — gate의 파급은 I2=2로 중요도에 반영, 동률군 순서는 ATAM 표준대로 난이도가 가른다. H/H는 QA1(중요도 최고)·QA2(난이도 최고) 2건뿐 — 축이 서로 다르다.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C-1. QA1 Throughput (decode 성능)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— 용량·decode·스케줄링 시나리오의 관통 판정 지표: 이득이 시스템 처리량으로 전환되는가</a:t>
            </a:r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H(6 최고) · 난이도 H(5) · 우선순위 1]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444752"/>
            <a:ext cx="653796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4475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901952"/>
            <a:ext cx="6446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baseline 대비 생성 처리량 배율 (decode 축)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압축(중요도 기반 pruning 주 기법)·tier 확장이 KV 가용 용량을 키워 batch를 확대 — pruning은 토큰 수를 줄여 매 토큰 읽기량·attention 연산량까지 동시 절감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인지 스케줄링이 그 이득을 시스템 처리량으로 전환 (KV-blind면 전환 안 됨 — R-16)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iso-latency 판정 — TPOT p99 ≤ baseline 운영점에서 배율 판정 (vLLM SOSP'23 방법론 B), throughput–latency 곡선 병행 (지연을 팔아 처리량을 산 구성 배제)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동일 HW · GPU HBM 단일 tier (QA3와 공유) — 순증분 분리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ablation: 압축 off / KV-blind 스케줄링 대비 증분으로 순기여 분리 · 보조: decode wait 비중(자체 실측 70–85% A)·batch 분포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1444752"/>
            <a:ext cx="4507992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44475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01952"/>
          <a:ext cx="4507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7307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 2× (iso-latency 판정)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1.5× – 2×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1.5× 또는 iso-latency 조건 미충족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617720"/>
            <a:ext cx="11274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61772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자체 실측 · B 문헌 · C 구조 논증)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5074920"/>
            <a:ext cx="111831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pruning(주 기법): SnapKV — 프롬프트 KV 92% 축소로 생성 3.6×·메모리 8.2× (B) · H2O — KV 예산 20%로 처리량 3×(vs FlexGen)~29× (B, offloading baseline 대비 참고 상한)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paging·양자화(조합): vLLM PagedAttention — 관리만으로 2–4× (B) · KIVI 2-bit — batch 4×로 처리율 2.35–3.47× (B)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기법 실측 하단이 모두 2×를 넘으므로 결합 시스템에 2×를 하한으로 요구 (C) — 1.5×는 단독 기법 도달선이라 ★★☆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C-2. QA2 응답 품질 (bound · gate)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— 전 성능·용량 수치의 유효 전제(gate): bound 위반 시 QA1·3·4 수치 무효</a:t>
            </a:r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H(5) · 난이도 H(6 최고) · 우선순위 2]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444752"/>
            <a:ext cx="653796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4475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901952"/>
            <a:ext cx="6446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압축·재사용·축출 선택으로 인한 품질 저하의 상한 보장 — 품질은 올리는 목표가 아니라 지키는 전제 (R-06)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영향원 3중: ① 요청별 차등 압축 ② 비접두 재사용의 선택 재계산 ③ 스케줄링의 축출/강등 — 통합 추적 필요 (난이도 H의 근거)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주지표 ΔF1(%p) — LongBench QA 태스크군 공식 지표, 부분 일치 반영으로 저하에 민감 · 보조 ΔPPL(Wikitext-2, 선행 신호)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동일 모델·동일 벤치의 비압축(FP16 KV)·비재사용 — 품질의 이론적 상한이므로 ΔF1이 곧 압축·재사용의 품질 비용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축 추가: bound의 집행 단위 — 요청별(차등) vs 전역 · C-03(training-free)으로 재학습 회복 배제 — 런타임 구조로만 보장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1444752"/>
            <a:ext cx="4507992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44475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01952"/>
          <a:ext cx="4507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7307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1%p (보조 ΔPPL ≤ 0.1) · 요청별 bound 집행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≤ 2%p · 전역 bound만 보장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&gt; 2%p 또는 bound 자체를 보장 못 함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617720"/>
            <a:ext cx="11274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61772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자체 실측 · B 문헌 · C 구조 논증)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5074920"/>
            <a:ext cx="111831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2%p = 최대 압축단(2-bit) KIVI의 LongBench 실측 저하 상한 (B) — 극한 압축도 이 안이어야 함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1%p = MLPerf 99% 트랙(B)보다 완화·KIVI 상한보다 엄격한 중간 경계 (C) — KIVI 평균 저하 Δ0.25점(B)이라 도달 가능 · LongBench 표본 오차 ≈0.5점과 같은 자릿수 (C) · 사내 기준 1%p 계승 (A)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eviction도 동일 bound: H2O 예산 20% 동등 성능 (B) · SnapKV 92% 압축 negligible (B)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집행 조건: 토큰 중요도는 쿼리 의존(SnapKV B)인데 재사용 KV는 미래 쿼리용 영속 — pruning×재사용 충돌(등재 쟁점)로 요청별 차등 집행 가능 여부가 bound 보장성을 가름 (C)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C-3. QA3 TTFT (prefill 성능)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— RAG·multiturn·agent 시나리오의 사용자 체감 판정 지표: 다시 만들지 않기의 효과</a:t>
            </a:r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H(5) · 난이도 M(3) · 우선순위 3]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444752"/>
            <a:ext cx="653796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4475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901952"/>
            <a:ext cx="6446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baseline 대비 TTFT 단축 배율 (prefill 축) — KV 재사용(prefix·비접두)·복원 vs 재계산 판단의 효과 축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워크로드 3종을 동일 HW·동일 실행 구성에서 E2E 서빙 (retrieval은 외부 컴포넌트 — 양쪽 동일 적용)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워크로드 평균 기준 판정 · p99 분포 병행 — 재사용 hit/miss 이질성으로 꼬리는 cache-miss cold 요청이 지배 (평균 = 재사용 실효, p99 = cold-path)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동일 HW · GPU HBM 단일 tier (QA1과 공유) — 현행 표준 스택의 최선이므로 순증분 분리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ablation: 재사용 off 대비 증분 · 보조: cache hit rate (중간 지표)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1444752"/>
            <a:ext cx="4507992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44475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01952"/>
          <a:ext cx="4507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7307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TTFT 단축 배율 ≥ 2×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1.5× – 2×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1.5×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617720"/>
            <a:ext cx="11274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61772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자체 실측 · B 문헌 · C 구조 논증)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5074920"/>
            <a:ext cx="111831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CacheBlend (EuroSys'25 Best Paper) — RAG KV 재사용 + 선택 재계산(HKVD 10–15%)으로 TTFT 2.2–3.3× 단축, 품질 저하 F1/Rouge-L 0.01–0.03 (B)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SGLang RadixAttention — prefix 재사용으로 prefill 재계산 제거 (B)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 = CacheBlend 하단 2.2×의 보수 반올림 (C) — prefix+비접두 결합·복원 판단을 갖춘 시스템의 하한. 1.5×는 단일 기법 부분 적용 도달선 (C)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C-4. QA4 유효 KV 용량 (메모리 효율)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— 용량 시나리오의 공동 판정(기전 입증): 병목을 풀어서 올랐는가 (R-02 재현 검증)</a:t>
            </a:r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H(5) · 난이도 M(3) · 우선순위 4]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444752"/>
            <a:ext cx="653796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4475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901952"/>
            <a:ext cx="6446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원본(비압축) 환산으로 동시 수용 가능한 KV 총량의 물리 HBM 대비 배율 — QA2 품질 bound를 지키는 조건에서만 인정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등가 표현: 동시 수용 가능한 컨텍스트 토큰 수의 배율 — "몇 토큰어치를 서빙할 수 있나"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측정: Σ_tier(tier 용량 × 평균 압축률 × KV 가용 비율) ÷ 물리 HBM 용량 — pruning은 압축률 = 토큰 보존률의 역수(예산 20% = 5×)로 동일 산입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분모가 HBM인 이유: HBM이 희소 자원 — "HBM 한 장당 수용 컨텍스트"가 비용 구조 결정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HBM 단일 tier·비압축 = 정의상 1.0× · 보조: tier 활용률·압축률 분포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throughput으로 환원되지 않는 독립 가치: 수용 가능성(admit 여부) · 재사용 보관량→hit rate(→QA3) · 비용/검증(R-02)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1444752"/>
            <a:ext cx="4507992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44475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01952"/>
          <a:ext cx="4507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7307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≥ 3×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1.5× – 3×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1.5× (압축 단독 대비 열위)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617720"/>
            <a:ext cx="11274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61772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자체 실측 · B 문헌 · C 구조 논증)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5074920"/>
            <a:ext cx="111831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단독 도달선: KIVI 2-bit — peak memory 2.6× 절감·batch 4×를 near-lossless로 입증 (B) — 압축만 잘 써도 1.5×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pruning 산술: H2O 예산 20% = 5× (B) — 도달선이 문헌화 (난이도 M의 근거)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∴ tier 오프로딩과 압축을 함께 쓰는 시스템은 3×를 상위 bin으로 요구 (C) — 1.5× 미만이면 tier 도입의 존재 이유 미달 (C)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C-5. QA5 확장성·진화성 (Modifiability)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— KV 구조 변화·신규 tier 수용 비용: 코어/모듈 경계는 되돌리기 어려운 초기 결정</a:t>
            </a:r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[중요도 M(3) · 난이도 H(5) · 우선순위 5]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444752"/>
            <a:ext cx="653796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444752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측정 · Baseline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901952"/>
            <a:ext cx="6446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신규 메모리 tier와 KV 구조 영향 모델 변화(GQA/MQA·MLA·sliding-window·linear attention 계열)의 수용 비용 — framework 결합 격리를 코어/모듈 지표로 대리 측정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tier 추가: 1단계 commodity 조합 변경 + 2단계 디바이스 파라미터 대입 사전 검증(R-07 접속점 보존) — 신규/변경 모듈 수 · 코어 변경 LOC 비율 · 공개 IF(KV Locator·CompressionOp) 시그니처 변경 건수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모델 변화: 수용 리드타임 (upstream 공개 시점 기준) — MLA는 KV 정의 변경, linear attention은 고정 크기 상태로 KV 대체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코어/모듈 판별: 수정 시 다른 모듈 재검증 필요하면 코어, 그 부품만 재검증이면 모듈 (시그니처 변경은 항상 코어)</a:t>
            </a:r>
            <a:endParaRPr lang="en-US" sz="9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Baseline: 현행 코드베이스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1444752"/>
            <a:ext cx="4507992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1444752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정량 bin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901952"/>
          <a:ext cx="4507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7307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별점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추가 = 파라미터 등록 + 어댑터 ≤ 1 · 코어 LOC 0 · 시그니처 0건 · 수용 ≤ upstream + 2주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변경 ≤ 40% · 하위호환 시그니처만 · ≤ upstream + 1분기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★☆☆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&gt; 40% · 비호환 시그니처 · 수용 &gt; 1분기 (만성 지연)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617720"/>
            <a:ext cx="11274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61772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 근거 (A 자체 실측 · B 문헌 · C 구조 논증)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5760" y="5074920"/>
            <a:ext cx="111831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= Architect 과제 원본 덱 QA-01의 사내 측정 기준 계승 (A)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upstream + 2주 = vLLM 정규 릴리스 2주 간격 (B) — 한 릴리스 주기 내 추종 = 실질 동시 지원 · 1분기 초과 ≈ 릴리스 6회 누락 → 만성 열세 (C)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변화의 실재: MLA — latent KV로 KV 정의 자체 변경 (B) · linear attention — KV를 고정 크기 순환 상태로 대체, MiniMax-01 상용 배치 (B)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2026-07-26T15:54:52Z</dcterms:created>
  <dcterms:modified xsi:type="dcterms:W3CDTF">2026-07-26T15:54:52Z</dcterms:modified>
</cp:coreProperties>
</file>