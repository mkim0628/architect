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Point 선정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45575" y="630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View (확정안 v2) :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" y="1124712"/>
            <a:ext cx="142646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112471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 서빙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1115568"/>
            <a:ext cx="256032" cy="256032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10972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6656" y="1440180"/>
            <a:ext cx="142646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1440180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이종 tier KV 배치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1431036"/>
            <a:ext cx="256032" cy="256032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" y="14127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6656" y="1755648"/>
            <a:ext cx="142646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175564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압축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1746504"/>
            <a:ext cx="256032" cy="256032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17282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76656" y="2071116"/>
            <a:ext cx="142646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207111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영속·재사용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2061972"/>
            <a:ext cx="256032" cy="256032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" y="20436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76656" y="2386584"/>
            <a:ext cx="142646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2386584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P/D 분리 실행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5760" y="2377440"/>
            <a:ext cx="256032" cy="256032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235915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6656" y="2702052"/>
            <a:ext cx="142646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270205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요청별 SLO 정책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2692908"/>
            <a:ext cx="256032" cy="256032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" y="26746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F6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76656" y="3017520"/>
            <a:ext cx="142646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3017520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근접연산 오프로드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3008376"/>
            <a:ext cx="256032" cy="256032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2990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F7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76656" y="3332988"/>
            <a:ext cx="142646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333298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 plug-in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65760" y="3323844"/>
            <a:ext cx="256032" cy="256032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0896" y="33055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F8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76656" y="3648456"/>
            <a:ext cx="142646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364845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모니터링·P/D 조정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65760" y="3639312"/>
            <a:ext cx="256032" cy="256032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0896" y="362102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F9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76656" y="3963924"/>
            <a:ext cx="142646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3963924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성능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65760" y="3954780"/>
            <a:ext cx="256032" cy="256032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0896" y="39364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76656" y="4279392"/>
            <a:ext cx="142646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42793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품질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65760" y="4270248"/>
            <a:ext cx="256032" cy="256032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0896" y="425196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76656" y="4594860"/>
            <a:ext cx="142646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" y="4594860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효율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5760" y="4585716"/>
            <a:ext cx="256032" cy="256032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0896" y="45674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76656" y="4910328"/>
            <a:ext cx="142646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1520" y="491032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확장성·진화성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65760" y="4901184"/>
            <a:ext cx="256032" cy="256032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0896" y="48828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76656" y="5225796"/>
            <a:ext cx="142646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" y="52257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유지보수성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365760" y="5216652"/>
            <a:ext cx="256032" cy="256032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" y="51983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76656" y="5541264"/>
            <a:ext cx="142646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1520" y="5541264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framework 적응성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65760" y="5532120"/>
            <a:ext cx="256032" cy="256032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10896" y="551383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76656" y="5856732"/>
            <a:ext cx="142646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31520" y="585673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 불변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65760" y="5847588"/>
            <a:ext cx="256032" cy="256032"/>
          </a:xfrm>
          <a:prstGeom prst="ellipse">
            <a:avLst/>
          </a:prstGeom>
          <a:solidFill>
            <a:srgbClr val="843C0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10896" y="58293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267712" y="1143000"/>
            <a:ext cx="2377440" cy="137160"/>
          </a:xfrm>
          <a:prstGeom prst="rect">
            <a:avLst/>
          </a:prstGeom>
          <a:solidFill>
            <a:srgbClr val="DCE6F1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267712" y="1261872"/>
            <a:ext cx="6053328" cy="1700784"/>
          </a:xfrm>
          <a:prstGeom prst="rect">
            <a:avLst/>
          </a:prstGeom>
          <a:solidFill>
            <a:srgbClr val="DCE6F1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340864" y="1280160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Inference Orchestration  (control plane)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404872" y="1517904"/>
            <a:ext cx="1853184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450592" y="1531620"/>
            <a:ext cx="1761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 Manager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2478024" y="1755648"/>
            <a:ext cx="1706880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478024" y="1755648"/>
            <a:ext cx="170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 Lifecycle Manager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478024" y="2084832"/>
            <a:ext cx="1706880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478024" y="2084832"/>
            <a:ext cx="170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Multiturn Batcher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2478024" y="2414016"/>
            <a:ext cx="1706880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478024" y="2414016"/>
            <a:ext cx="170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 Engine (RAG)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4367784" y="1517904"/>
            <a:ext cx="1853184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413504" y="1531620"/>
            <a:ext cx="1761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Scheduling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440936" y="1755648"/>
            <a:ext cx="1706880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40936" y="1755648"/>
            <a:ext cx="170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KV-aware Router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4440936" y="2084832"/>
            <a:ext cx="1706880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440936" y="2084832"/>
            <a:ext cx="170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SLO/QoS Monitor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6330696" y="1517904"/>
            <a:ext cx="1853184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376416" y="1531620"/>
            <a:ext cx="1761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Resource Manager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6403848" y="1755648"/>
            <a:ext cx="1706880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403848" y="1755648"/>
            <a:ext cx="170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Hardware Monitor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6403848" y="2084832"/>
            <a:ext cx="1706880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403848" y="2084832"/>
            <a:ext cx="170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Autoscaler (P/D 2-loop)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3480816" y="1408176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425952" y="1389888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3727704" y="1408176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672840" y="1389888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3974592" y="1408176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919728" y="1389888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F7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5443728" y="1408176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388864" y="1389888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F6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5690616" y="1408176"/>
            <a:ext cx="228600" cy="228600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635752" y="1389888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5937504" y="1408176"/>
            <a:ext cx="228600" cy="228600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882640" y="1389888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7653528" y="1408176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598664" y="1389888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F9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7900416" y="1408176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845552" y="1389888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F5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2267712" y="3191256"/>
            <a:ext cx="1453896" cy="137160"/>
          </a:xfrm>
          <a:prstGeom prst="rect">
            <a:avLst/>
          </a:prstGeom>
          <a:solidFill>
            <a:srgbClr val="E2EFDA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267712" y="3310128"/>
            <a:ext cx="2907792" cy="2157984"/>
          </a:xfrm>
          <a:prstGeom prst="rect">
            <a:avLst/>
          </a:prstGeom>
          <a:solidFill>
            <a:srgbClr val="E2EFDA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340864" y="3328416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Inference Engine  (data plane)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2377440" y="3566160"/>
            <a:ext cx="268833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423160" y="357987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2450592" y="3803904"/>
            <a:ext cx="1234440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450592" y="38039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Runner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3758184" y="3803904"/>
            <a:ext cx="1234440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758184" y="38039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Exec. Controller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2377440" y="4224528"/>
            <a:ext cx="2688336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423160" y="423824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Kernel &amp; Layer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2450592" y="4462272"/>
            <a:ext cx="1234440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450592" y="4462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 Engine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3758184" y="4462272"/>
            <a:ext cx="1234440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758184" y="4462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MoE / Custom Kernel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2450592" y="4773168"/>
            <a:ext cx="2542032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450592" y="477316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CompressionOp Kernel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4398264" y="3456432"/>
            <a:ext cx="228600" cy="228600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343400" y="3438144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</a:t>
            </a:r>
            <a:endParaRPr lang="en-US" sz="650" dirty="0"/>
          </a:p>
        </p:txBody>
      </p:sp>
      <p:sp>
        <p:nvSpPr>
          <p:cNvPr id="142" name="Shape 140"/>
          <p:cNvSpPr/>
          <p:nvPr/>
        </p:nvSpPr>
        <p:spPr>
          <a:xfrm>
            <a:off x="4645152" y="3456432"/>
            <a:ext cx="228600" cy="228600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590288" y="3438144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</a:t>
            </a:r>
            <a:endParaRPr lang="en-US" sz="650" dirty="0"/>
          </a:p>
        </p:txBody>
      </p:sp>
      <p:sp>
        <p:nvSpPr>
          <p:cNvPr id="144" name="Shape 142"/>
          <p:cNvSpPr/>
          <p:nvPr/>
        </p:nvSpPr>
        <p:spPr>
          <a:xfrm>
            <a:off x="4892040" y="3456432"/>
            <a:ext cx="228600" cy="228600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837176" y="3438144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4398264" y="4114800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343400" y="4096512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F3</a:t>
            </a:r>
            <a:endParaRPr lang="en-US" sz="650" dirty="0"/>
          </a:p>
        </p:txBody>
      </p:sp>
      <p:sp>
        <p:nvSpPr>
          <p:cNvPr id="148" name="Shape 146"/>
          <p:cNvSpPr/>
          <p:nvPr/>
        </p:nvSpPr>
        <p:spPr>
          <a:xfrm>
            <a:off x="4645152" y="4114800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590288" y="4096512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F7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5413248" y="3191256"/>
            <a:ext cx="1453896" cy="137160"/>
          </a:xfrm>
          <a:prstGeom prst="rect">
            <a:avLst/>
          </a:prstGeom>
          <a:solidFill>
            <a:srgbClr val="FCE4D6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13248" y="3310128"/>
            <a:ext cx="2907792" cy="2157984"/>
          </a:xfrm>
          <a:prstGeom prst="rect">
            <a:avLst/>
          </a:prstGeom>
          <a:solidFill>
            <a:srgbClr val="FCE4D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486400" y="3328416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Engine  (data plane)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5522976" y="3566160"/>
            <a:ext cx="2688336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568696" y="357987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 Manager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5596128" y="3803904"/>
            <a:ext cx="1234440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596128" y="38039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Manager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6903720" y="3803904"/>
            <a:ext cx="1234440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903720" y="38039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Compressor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5596128" y="4114800"/>
            <a:ext cx="2542032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596128" y="411480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Index (prefix/infix lookup)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5522976" y="4535424"/>
            <a:ext cx="2688336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568696" y="454914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&amp; Lifecycle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5596128" y="4773168"/>
            <a:ext cx="1234440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596128" y="47731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Topology Model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6903720" y="4773168"/>
            <a:ext cx="1234440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903720" y="47731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Migration (intra-node)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5596128" y="5084064"/>
            <a:ext cx="2542032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5596128" y="508406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Transport (P/D inter-instance)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7296912" y="3456432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242048" y="3438144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F2</a:t>
            </a:r>
            <a:endParaRPr lang="en-US" sz="650" dirty="0"/>
          </a:p>
        </p:txBody>
      </p:sp>
      <p:sp>
        <p:nvSpPr>
          <p:cNvPr id="171" name="Shape 169"/>
          <p:cNvSpPr/>
          <p:nvPr/>
        </p:nvSpPr>
        <p:spPr>
          <a:xfrm>
            <a:off x="7543800" y="3456432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7488936" y="3438144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F3</a:t>
            </a:r>
            <a:endParaRPr lang="en-US" sz="650" dirty="0"/>
          </a:p>
        </p:txBody>
      </p:sp>
      <p:sp>
        <p:nvSpPr>
          <p:cNvPr id="173" name="Shape 171"/>
          <p:cNvSpPr/>
          <p:nvPr/>
        </p:nvSpPr>
        <p:spPr>
          <a:xfrm>
            <a:off x="7790688" y="3456432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7735824" y="3438144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</a:t>
            </a:r>
            <a:endParaRPr lang="en-US" sz="650" dirty="0"/>
          </a:p>
        </p:txBody>
      </p:sp>
      <p:sp>
        <p:nvSpPr>
          <p:cNvPr id="175" name="Shape 173"/>
          <p:cNvSpPr/>
          <p:nvPr/>
        </p:nvSpPr>
        <p:spPr>
          <a:xfrm>
            <a:off x="8037576" y="3456432"/>
            <a:ext cx="228600" cy="228600"/>
          </a:xfrm>
          <a:prstGeom prst="ellipse">
            <a:avLst/>
          </a:prstGeom>
          <a:solidFill>
            <a:srgbClr val="3C5F2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7982712" y="3438144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650" dirty="0"/>
          </a:p>
        </p:txBody>
      </p:sp>
      <p:sp>
        <p:nvSpPr>
          <p:cNvPr id="177" name="Shape 175"/>
          <p:cNvSpPr/>
          <p:nvPr/>
        </p:nvSpPr>
        <p:spPr>
          <a:xfrm>
            <a:off x="7296912" y="4425696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7242048" y="4407408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F2</a:t>
            </a:r>
            <a:endParaRPr lang="en-US" sz="650" dirty="0"/>
          </a:p>
        </p:txBody>
      </p:sp>
      <p:sp>
        <p:nvSpPr>
          <p:cNvPr id="179" name="Shape 177"/>
          <p:cNvSpPr/>
          <p:nvPr/>
        </p:nvSpPr>
        <p:spPr>
          <a:xfrm>
            <a:off x="7543800" y="4425696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7488936" y="4407408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F5</a:t>
            </a:r>
            <a:endParaRPr lang="en-US" sz="650" dirty="0"/>
          </a:p>
        </p:txBody>
      </p:sp>
      <p:sp>
        <p:nvSpPr>
          <p:cNvPr id="181" name="Shape 179"/>
          <p:cNvSpPr/>
          <p:nvPr/>
        </p:nvSpPr>
        <p:spPr>
          <a:xfrm>
            <a:off x="7790688" y="4425696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7735824" y="4407408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F8</a:t>
            </a:r>
            <a:endParaRPr lang="en-US" sz="650" dirty="0"/>
          </a:p>
        </p:txBody>
      </p:sp>
      <p:sp>
        <p:nvSpPr>
          <p:cNvPr id="183" name="Shape 181"/>
          <p:cNvSpPr/>
          <p:nvPr/>
        </p:nvSpPr>
        <p:spPr>
          <a:xfrm>
            <a:off x="8037576" y="4425696"/>
            <a:ext cx="228600" cy="228600"/>
          </a:xfrm>
          <a:prstGeom prst="ellipse">
            <a:avLst/>
          </a:prstGeom>
          <a:solidFill>
            <a:srgbClr val="843C0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7982712" y="4407408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3721608" y="2962656"/>
            <a:ext cx="0" cy="22860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86" name="Shape 184"/>
          <p:cNvSpPr/>
          <p:nvPr/>
        </p:nvSpPr>
        <p:spPr>
          <a:xfrm>
            <a:off x="6867144" y="2962656"/>
            <a:ext cx="0" cy="22860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87" name="Shape 185"/>
          <p:cNvSpPr/>
          <p:nvPr/>
        </p:nvSpPr>
        <p:spPr>
          <a:xfrm>
            <a:off x="5175504" y="3950208"/>
            <a:ext cx="237744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>
            <a:off x="5175504" y="4910328"/>
            <a:ext cx="219456" cy="-594360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triangle"/>
          </a:ln>
        </p:spPr>
      </p:sp>
      <p:sp>
        <p:nvSpPr>
          <p:cNvPr id="189" name="Text 187"/>
          <p:cNvSpPr/>
          <p:nvPr/>
        </p:nvSpPr>
        <p:spPr>
          <a:xfrm>
            <a:off x="2267712" y="5650992"/>
            <a:ext cx="6053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«interface»  KV Locator (조회 전용) · CompressionOp (의존 역전)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2176272" y="3090672"/>
            <a:ext cx="6236208" cy="2487168"/>
          </a:xfrm>
          <a:prstGeom prst="rect">
            <a:avLst/>
          </a:prstGeom>
          <a:ln w="25400">
            <a:solidFill>
              <a:srgbClr val="00B0F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882128" y="2999232"/>
            <a:ext cx="512064" cy="182880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92" name="Text 190"/>
          <p:cNvSpPr/>
          <p:nvPr/>
        </p:nvSpPr>
        <p:spPr>
          <a:xfrm>
            <a:off x="7882128" y="299923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DP-01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>
            <a:off x="4312920" y="1463040"/>
            <a:ext cx="1962912" cy="1444752"/>
          </a:xfrm>
          <a:prstGeom prst="rect">
            <a:avLst/>
          </a:prstGeom>
          <a:ln w="19050">
            <a:solidFill>
              <a:srgbClr val="00B05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5468112" y="3511296"/>
            <a:ext cx="2798064" cy="987552"/>
          </a:xfrm>
          <a:prstGeom prst="rect">
            <a:avLst/>
          </a:prstGeom>
          <a:ln w="19050">
            <a:solidFill>
              <a:srgbClr val="00B05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395216" y="2596896"/>
            <a:ext cx="512064" cy="18288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196" name="Text 194"/>
          <p:cNvSpPr/>
          <p:nvPr/>
        </p:nvSpPr>
        <p:spPr>
          <a:xfrm>
            <a:off x="4395216" y="259689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DP-02</a:t>
            </a:r>
            <a:endParaRPr lang="en-US" sz="750" dirty="0"/>
          </a:p>
        </p:txBody>
      </p:sp>
      <p:sp>
        <p:nvSpPr>
          <p:cNvPr id="197" name="Shape 195"/>
          <p:cNvSpPr/>
          <p:nvPr/>
        </p:nvSpPr>
        <p:spPr>
          <a:xfrm>
            <a:off x="5564124" y="4082796"/>
            <a:ext cx="2606040" cy="320040"/>
          </a:xfrm>
          <a:prstGeom prst="rect">
            <a:avLst/>
          </a:prstGeom>
          <a:ln w="19050">
            <a:solidFill>
              <a:srgbClr val="ED7D31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5733288" y="4352544"/>
            <a:ext cx="512064" cy="18288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99" name="Text 197"/>
          <p:cNvSpPr/>
          <p:nvPr/>
        </p:nvSpPr>
        <p:spPr>
          <a:xfrm>
            <a:off x="5733288" y="43525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DP-03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5564124" y="4741164"/>
            <a:ext cx="1298448" cy="320040"/>
          </a:xfrm>
          <a:prstGeom prst="rect">
            <a:avLst/>
          </a:prstGeom>
          <a:ln w="19050">
            <a:solidFill>
              <a:srgbClr val="E91E8C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5084064" y="4809744"/>
            <a:ext cx="512064" cy="18288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02" name="Text 200"/>
          <p:cNvSpPr/>
          <p:nvPr/>
        </p:nvSpPr>
        <p:spPr>
          <a:xfrm>
            <a:off x="5084064" y="48097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DP-04</a:t>
            </a:r>
            <a:endParaRPr lang="en-US" sz="750" dirty="0"/>
          </a:p>
        </p:txBody>
      </p:sp>
      <p:sp>
        <p:nvSpPr>
          <p:cNvPr id="203" name="Shape 201"/>
          <p:cNvSpPr/>
          <p:nvPr/>
        </p:nvSpPr>
        <p:spPr>
          <a:xfrm>
            <a:off x="5564124" y="5052060"/>
            <a:ext cx="2606040" cy="320040"/>
          </a:xfrm>
          <a:prstGeom prst="rect">
            <a:avLst/>
          </a:prstGeom>
          <a:ln w="19050">
            <a:solidFill>
              <a:srgbClr val="7030A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371844" y="2052828"/>
            <a:ext cx="1770888" cy="320040"/>
          </a:xfrm>
          <a:prstGeom prst="rect">
            <a:avLst/>
          </a:prstGeom>
          <a:ln w="19050">
            <a:solidFill>
              <a:srgbClr val="7030A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62672" y="4983480"/>
            <a:ext cx="512064" cy="18288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206" name="Text 204"/>
          <p:cNvSpPr/>
          <p:nvPr/>
        </p:nvSpPr>
        <p:spPr>
          <a:xfrm>
            <a:off x="7662672" y="498348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DP-05</a:t>
            </a:r>
            <a:endParaRPr lang="en-US" sz="750" dirty="0"/>
          </a:p>
        </p:txBody>
      </p:sp>
      <p:sp>
        <p:nvSpPr>
          <p:cNvPr id="207" name="Shape 205"/>
          <p:cNvSpPr/>
          <p:nvPr/>
        </p:nvSpPr>
        <p:spPr>
          <a:xfrm>
            <a:off x="7653528" y="2359152"/>
            <a:ext cx="512064" cy="18288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208" name="Text 206"/>
          <p:cNvSpPr/>
          <p:nvPr/>
        </p:nvSpPr>
        <p:spPr>
          <a:xfrm>
            <a:off x="7653528" y="23591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DP-05</a:t>
            </a:r>
            <a:endParaRPr lang="en-US" sz="750" dirty="0"/>
          </a:p>
        </p:txBody>
      </p:sp>
      <p:sp>
        <p:nvSpPr>
          <p:cNvPr id="209" name="Shape 207"/>
          <p:cNvSpPr/>
          <p:nvPr/>
        </p:nvSpPr>
        <p:spPr>
          <a:xfrm>
            <a:off x="2322576" y="4169664"/>
            <a:ext cx="2798064" cy="987552"/>
          </a:xfrm>
          <a:prstGeom prst="rect">
            <a:avLst/>
          </a:prstGeom>
          <a:ln w="19050">
            <a:solidFill>
              <a:srgbClr val="BF900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853428" y="3753612"/>
            <a:ext cx="1335024" cy="356616"/>
          </a:xfrm>
          <a:prstGeom prst="rect">
            <a:avLst/>
          </a:prstGeom>
          <a:ln w="19050">
            <a:solidFill>
              <a:srgbClr val="BF900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322576" y="5175504"/>
            <a:ext cx="512064" cy="182880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212" name="Text 210"/>
          <p:cNvSpPr/>
          <p:nvPr/>
        </p:nvSpPr>
        <p:spPr>
          <a:xfrm>
            <a:off x="2322576" y="517550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DP-06</a:t>
            </a:r>
            <a:endParaRPr lang="en-US" sz="750" dirty="0"/>
          </a:p>
        </p:txBody>
      </p:sp>
      <p:sp>
        <p:nvSpPr>
          <p:cNvPr id="213" name="Shape 211"/>
          <p:cNvSpPr/>
          <p:nvPr/>
        </p:nvSpPr>
        <p:spPr>
          <a:xfrm>
            <a:off x="2450592" y="2386584"/>
            <a:ext cx="1761744" cy="310896"/>
          </a:xfrm>
          <a:prstGeom prst="rect">
            <a:avLst/>
          </a:prstGeom>
          <a:ln w="19050">
            <a:solidFill>
              <a:srgbClr val="2E75B6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2542032" y="2715768"/>
            <a:ext cx="512064" cy="1828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5" name="Text 213"/>
          <p:cNvSpPr/>
          <p:nvPr/>
        </p:nvSpPr>
        <p:spPr>
          <a:xfrm>
            <a:off x="2542032" y="271576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DP-07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2414016" y="2350008"/>
            <a:ext cx="1834896" cy="384048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5449824" y="4480560"/>
            <a:ext cx="2834640" cy="987552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3154680" y="2715768"/>
            <a:ext cx="512064" cy="1828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19" name="Text 217"/>
          <p:cNvSpPr/>
          <p:nvPr/>
        </p:nvSpPr>
        <p:spPr>
          <a:xfrm>
            <a:off x="3154680" y="271576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DP-08</a:t>
            </a:r>
            <a:endParaRPr lang="en-US" sz="750" dirty="0"/>
          </a:p>
        </p:txBody>
      </p:sp>
      <p:sp>
        <p:nvSpPr>
          <p:cNvPr id="220" name="Text 218"/>
          <p:cNvSpPr/>
          <p:nvPr/>
        </p:nvSpPr>
        <p:spPr>
          <a:xfrm>
            <a:off x="3090672" y="60533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Legends:</a:t>
            </a:r>
            <a:endParaRPr lang="en-US" sz="850" dirty="0"/>
          </a:p>
        </p:txBody>
      </p:sp>
      <p:sp>
        <p:nvSpPr>
          <p:cNvPr id="221" name="Shape 219"/>
          <p:cNvSpPr/>
          <p:nvPr/>
        </p:nvSpPr>
        <p:spPr>
          <a:xfrm>
            <a:off x="3913632" y="6071616"/>
            <a:ext cx="822960" cy="182880"/>
          </a:xfrm>
          <a:prstGeom prst="rect">
            <a:avLst/>
          </a:prstGeom>
          <a:solidFill>
            <a:srgbClr val="DCE6F1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3913632" y="60716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Package</a:t>
            </a:r>
            <a:endParaRPr lang="en-US" sz="750" dirty="0"/>
          </a:p>
        </p:txBody>
      </p:sp>
      <p:sp>
        <p:nvSpPr>
          <p:cNvPr id="223" name="Shape 221"/>
          <p:cNvSpPr/>
          <p:nvPr/>
        </p:nvSpPr>
        <p:spPr>
          <a:xfrm>
            <a:off x="4873752" y="6071616"/>
            <a:ext cx="822960" cy="182880"/>
          </a:xfrm>
          <a:prstGeom prst="rect">
            <a:avLst/>
          </a:prstGeom>
          <a:solidFill>
            <a:srgbClr val="F5F6F8"/>
          </a:solidFill>
          <a:ln w="9525">
            <a:solidFill>
              <a:srgbClr val="8496B0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4873752" y="60716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</a:t>
            </a:r>
            <a:endParaRPr lang="en-US" sz="750" dirty="0"/>
          </a:p>
        </p:txBody>
      </p:sp>
      <p:sp>
        <p:nvSpPr>
          <p:cNvPr id="225" name="Shape 223"/>
          <p:cNvSpPr/>
          <p:nvPr/>
        </p:nvSpPr>
        <p:spPr>
          <a:xfrm>
            <a:off x="5833872" y="6071616"/>
            <a:ext cx="822960" cy="182880"/>
          </a:xfrm>
          <a:prstGeom prst="rect">
            <a:avLst/>
          </a:prstGeom>
          <a:ln w="19050">
            <a:solidFill>
              <a:srgbClr val="00B0F0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5833872" y="60716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 영역</a:t>
            </a:r>
            <a:endParaRPr lang="en-US" sz="750" dirty="0"/>
          </a:p>
        </p:txBody>
      </p:sp>
      <p:sp>
        <p:nvSpPr>
          <p:cNvPr id="227" name="Shape 225"/>
          <p:cNvSpPr/>
          <p:nvPr/>
        </p:nvSpPr>
        <p:spPr>
          <a:xfrm>
            <a:off x="8485632" y="1115568"/>
            <a:ext cx="658368" cy="274320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228" name="Text 226"/>
          <p:cNvSpPr/>
          <p:nvPr/>
        </p:nvSpPr>
        <p:spPr>
          <a:xfrm>
            <a:off x="8485632" y="1115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DP-01</a:t>
            </a:r>
            <a:endParaRPr lang="en-US" sz="950" dirty="0"/>
          </a:p>
        </p:txBody>
      </p:sp>
      <p:sp>
        <p:nvSpPr>
          <p:cNvPr id="229" name="Shape 227"/>
          <p:cNvSpPr/>
          <p:nvPr/>
        </p:nvSpPr>
        <p:spPr>
          <a:xfrm>
            <a:off x="9144000" y="1115568"/>
            <a:ext cx="272491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230" name="Text 228"/>
          <p:cNvSpPr/>
          <p:nvPr/>
        </p:nvSpPr>
        <p:spPr>
          <a:xfrm>
            <a:off x="9208008" y="111556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스택 소싱</a:t>
            </a:r>
            <a:endParaRPr lang="en-US" sz="1000" dirty="0"/>
          </a:p>
        </p:txBody>
      </p:sp>
      <p:sp>
        <p:nvSpPr>
          <p:cNvPr id="231" name="Shape 229"/>
          <p:cNvSpPr/>
          <p:nvPr/>
        </p:nvSpPr>
        <p:spPr>
          <a:xfrm>
            <a:off x="8485632" y="1389888"/>
            <a:ext cx="33832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8558784" y="1444752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외부 스택 활용형(vLLM)  ② 자체 구현형</a:t>
            </a:r>
            <a:endParaRPr lang="en-US" sz="7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Q1·Q2 ↔ Q3·Q4·Q5</a:t>
            </a:r>
            <a:endParaRPr lang="en-US" sz="750" dirty="0"/>
          </a:p>
        </p:txBody>
      </p:sp>
      <p:sp>
        <p:nvSpPr>
          <p:cNvPr id="233" name="Shape 231"/>
          <p:cNvSpPr/>
          <p:nvPr/>
        </p:nvSpPr>
        <p:spPr>
          <a:xfrm>
            <a:off x="8485632" y="1773936"/>
            <a:ext cx="658368" cy="27432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234" name="Text 232"/>
          <p:cNvSpPr/>
          <p:nvPr/>
        </p:nvSpPr>
        <p:spPr>
          <a:xfrm>
            <a:off x="8485632" y="1773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DP-02</a:t>
            </a:r>
            <a:endParaRPr lang="en-US" sz="950" dirty="0"/>
          </a:p>
        </p:txBody>
      </p:sp>
      <p:sp>
        <p:nvSpPr>
          <p:cNvPr id="235" name="Shape 233"/>
          <p:cNvSpPr/>
          <p:nvPr/>
        </p:nvSpPr>
        <p:spPr>
          <a:xfrm>
            <a:off x="9144000" y="1773936"/>
            <a:ext cx="272491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236" name="Text 234"/>
          <p:cNvSpPr/>
          <p:nvPr/>
        </p:nvSpPr>
        <p:spPr>
          <a:xfrm>
            <a:off x="9208008" y="17739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배치·압축의 관리 주체</a:t>
            </a:r>
            <a:endParaRPr lang="en-US" sz="1000" dirty="0"/>
          </a:p>
        </p:txBody>
      </p:sp>
      <p:sp>
        <p:nvSpPr>
          <p:cNvPr id="237" name="Shape 235"/>
          <p:cNvSpPr/>
          <p:nvPr/>
        </p:nvSpPr>
        <p:spPr>
          <a:xfrm>
            <a:off x="8485632" y="2048256"/>
            <a:ext cx="33832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8558784" y="2103120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Orchestration 중앙 정책  ② Memory Engine 자율</a:t>
            </a:r>
            <a:endParaRPr lang="en-US" sz="7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Q2·Q3 ↔ Q1·Q4·Q5</a:t>
            </a:r>
            <a:endParaRPr lang="en-US" sz="750" dirty="0"/>
          </a:p>
        </p:txBody>
      </p:sp>
      <p:sp>
        <p:nvSpPr>
          <p:cNvPr id="239" name="Shape 237"/>
          <p:cNvSpPr/>
          <p:nvPr/>
        </p:nvSpPr>
        <p:spPr>
          <a:xfrm>
            <a:off x="8485632" y="2432304"/>
            <a:ext cx="658368" cy="27432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40" name="Text 238"/>
          <p:cNvSpPr/>
          <p:nvPr/>
        </p:nvSpPr>
        <p:spPr>
          <a:xfrm>
            <a:off x="8485632" y="24323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DP-03</a:t>
            </a:r>
            <a:endParaRPr lang="en-US" sz="950" dirty="0"/>
          </a:p>
        </p:txBody>
      </p:sp>
      <p:sp>
        <p:nvSpPr>
          <p:cNvPr id="241" name="Shape 239"/>
          <p:cNvSpPr/>
          <p:nvPr/>
        </p:nvSpPr>
        <p:spPr>
          <a:xfrm>
            <a:off x="9144000" y="2432304"/>
            <a:ext cx="272491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242" name="Text 240"/>
          <p:cNvSpPr/>
          <p:nvPr/>
        </p:nvSpPr>
        <p:spPr>
          <a:xfrm>
            <a:off x="9208008" y="243230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재사용 범위·복원 전략</a:t>
            </a:r>
            <a:endParaRPr lang="en-US" sz="1000" dirty="0"/>
          </a:p>
        </p:txBody>
      </p:sp>
      <p:sp>
        <p:nvSpPr>
          <p:cNvPr id="243" name="Shape 241"/>
          <p:cNvSpPr/>
          <p:nvPr/>
        </p:nvSpPr>
        <p:spPr>
          <a:xfrm>
            <a:off x="8485632" y="2706624"/>
            <a:ext cx="33832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8558784" y="2761488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Exact-prefix 재사용  ② 비연속 chunk+재계산</a:t>
            </a:r>
            <a:endParaRPr lang="en-US" sz="7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Q3·Q4·Q5 ↔ Q1·Q2</a:t>
            </a:r>
            <a:endParaRPr lang="en-US" sz="750" dirty="0"/>
          </a:p>
        </p:txBody>
      </p:sp>
      <p:sp>
        <p:nvSpPr>
          <p:cNvPr id="245" name="Shape 243"/>
          <p:cNvSpPr/>
          <p:nvPr/>
        </p:nvSpPr>
        <p:spPr>
          <a:xfrm>
            <a:off x="8485632" y="3090672"/>
            <a:ext cx="658368" cy="27432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46" name="Text 244"/>
          <p:cNvSpPr/>
          <p:nvPr/>
        </p:nvSpPr>
        <p:spPr>
          <a:xfrm>
            <a:off x="8485632" y="30906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DP-04</a:t>
            </a:r>
            <a:endParaRPr lang="en-US" sz="950" dirty="0"/>
          </a:p>
        </p:txBody>
      </p:sp>
      <p:sp>
        <p:nvSpPr>
          <p:cNvPr id="247" name="Shape 245"/>
          <p:cNvSpPr/>
          <p:nvPr/>
        </p:nvSpPr>
        <p:spPr>
          <a:xfrm>
            <a:off x="9144000" y="3090672"/>
            <a:ext cx="272491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248" name="Text 246"/>
          <p:cNvSpPr/>
          <p:nvPr/>
        </p:nvSpPr>
        <p:spPr>
          <a:xfrm>
            <a:off x="9208008" y="309067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Topology 추상화 수준</a:t>
            </a:r>
            <a:endParaRPr lang="en-US" sz="1000" dirty="0"/>
          </a:p>
        </p:txBody>
      </p:sp>
      <p:sp>
        <p:nvSpPr>
          <p:cNvPr id="249" name="Shape 247"/>
          <p:cNvSpPr/>
          <p:nvPr/>
        </p:nvSpPr>
        <p:spPr>
          <a:xfrm>
            <a:off x="8485632" y="3364992"/>
            <a:ext cx="33832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8558784" y="3419856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공통 파라미터형  ② Capability 프로파일형</a:t>
            </a:r>
            <a:endParaRPr lang="en-US" sz="7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Q4·Q5 ↔ Q1</a:t>
            </a:r>
            <a:endParaRPr lang="en-US" sz="750" dirty="0"/>
          </a:p>
        </p:txBody>
      </p:sp>
      <p:sp>
        <p:nvSpPr>
          <p:cNvPr id="251" name="Shape 249"/>
          <p:cNvSpPr/>
          <p:nvPr/>
        </p:nvSpPr>
        <p:spPr>
          <a:xfrm>
            <a:off x="8485632" y="3749040"/>
            <a:ext cx="658368" cy="27432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252" name="Text 250"/>
          <p:cNvSpPr/>
          <p:nvPr/>
        </p:nvSpPr>
        <p:spPr>
          <a:xfrm>
            <a:off x="8485632" y="37490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DP-05</a:t>
            </a:r>
            <a:endParaRPr lang="en-US" sz="950" dirty="0"/>
          </a:p>
        </p:txBody>
      </p:sp>
      <p:sp>
        <p:nvSpPr>
          <p:cNvPr id="253" name="Shape 251"/>
          <p:cNvSpPr/>
          <p:nvPr/>
        </p:nvSpPr>
        <p:spPr>
          <a:xfrm>
            <a:off x="9144000" y="3749040"/>
            <a:ext cx="272491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254" name="Text 252"/>
          <p:cNvSpPr/>
          <p:nvPr/>
        </p:nvSpPr>
        <p:spPr>
          <a:xfrm>
            <a:off x="9208008" y="374904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P/D 분리 운용·KV 이동 구조</a:t>
            </a:r>
            <a:endParaRPr lang="en-US" sz="1000" dirty="0"/>
          </a:p>
        </p:txBody>
      </p:sp>
      <p:sp>
        <p:nvSpPr>
          <p:cNvPr id="255" name="Shape 253"/>
          <p:cNvSpPr/>
          <p:nvPr/>
        </p:nvSpPr>
        <p:spPr>
          <a:xfrm>
            <a:off x="8485632" y="4023360"/>
            <a:ext cx="33832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8558784" y="4078224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Point-to-point 직접 전송  ② 공유 tier 스테이징</a:t>
            </a:r>
            <a:endParaRPr lang="en-US" sz="7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Q4·Q5 ↔ Q1·Q2</a:t>
            </a:r>
            <a:endParaRPr lang="en-US" sz="750" dirty="0"/>
          </a:p>
        </p:txBody>
      </p:sp>
      <p:sp>
        <p:nvSpPr>
          <p:cNvPr id="257" name="Shape 255"/>
          <p:cNvSpPr/>
          <p:nvPr/>
        </p:nvSpPr>
        <p:spPr>
          <a:xfrm>
            <a:off x="8485632" y="4407408"/>
            <a:ext cx="658368" cy="274320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258" name="Text 256"/>
          <p:cNvSpPr/>
          <p:nvPr/>
        </p:nvSpPr>
        <p:spPr>
          <a:xfrm>
            <a:off x="8485632" y="44074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DP-06</a:t>
            </a:r>
            <a:endParaRPr lang="en-US" sz="950" dirty="0"/>
          </a:p>
        </p:txBody>
      </p:sp>
      <p:sp>
        <p:nvSpPr>
          <p:cNvPr id="259" name="Shape 257"/>
          <p:cNvSpPr/>
          <p:nvPr/>
        </p:nvSpPr>
        <p:spPr>
          <a:xfrm>
            <a:off x="9144000" y="4407408"/>
            <a:ext cx="272491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260" name="Text 258"/>
          <p:cNvSpPr/>
          <p:nvPr/>
        </p:nvSpPr>
        <p:spPr>
          <a:xfrm>
            <a:off x="9208008" y="440740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근접연산(PIM/PNM) 오프로드</a:t>
            </a:r>
            <a:endParaRPr lang="en-US" sz="1000" dirty="0"/>
          </a:p>
        </p:txBody>
      </p:sp>
      <p:sp>
        <p:nvSpPr>
          <p:cNvPr id="261" name="Shape 259"/>
          <p:cNvSpPr/>
          <p:nvPr/>
        </p:nvSpPr>
        <p:spPr>
          <a:xfrm>
            <a:off x="8485632" y="4681728"/>
            <a:ext cx="33832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8558784" y="4736592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데이터 관리 연산  ② 모델 연산(AttAcc형)</a:t>
            </a:r>
            <a:endParaRPr lang="en-US" sz="7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Q2~Q5 ↔ Q1</a:t>
            </a:r>
            <a:endParaRPr lang="en-US" sz="750" dirty="0"/>
          </a:p>
        </p:txBody>
      </p:sp>
      <p:sp>
        <p:nvSpPr>
          <p:cNvPr id="263" name="Shape 261"/>
          <p:cNvSpPr/>
          <p:nvPr/>
        </p:nvSpPr>
        <p:spPr>
          <a:xfrm>
            <a:off x="8485632" y="5065776"/>
            <a:ext cx="658368" cy="2743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4" name="Text 262"/>
          <p:cNvSpPr/>
          <p:nvPr/>
        </p:nvSpPr>
        <p:spPr>
          <a:xfrm>
            <a:off x="8485632" y="50657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DP-07</a:t>
            </a:r>
            <a:endParaRPr lang="en-US" sz="950" dirty="0"/>
          </a:p>
        </p:txBody>
      </p:sp>
      <p:sp>
        <p:nvSpPr>
          <p:cNvPr id="265" name="Shape 263"/>
          <p:cNvSpPr/>
          <p:nvPr/>
        </p:nvSpPr>
        <p:spPr>
          <a:xfrm>
            <a:off x="9144000" y="5065776"/>
            <a:ext cx="272491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266" name="Text 264"/>
          <p:cNvSpPr/>
          <p:nvPr/>
        </p:nvSpPr>
        <p:spPr>
          <a:xfrm>
            <a:off x="9208008" y="506577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SSD-PIM 검색 실행 구조</a:t>
            </a:r>
            <a:endParaRPr lang="en-US" sz="1000" dirty="0"/>
          </a:p>
        </p:txBody>
      </p:sp>
      <p:sp>
        <p:nvSpPr>
          <p:cNvPr id="267" name="Shape 265"/>
          <p:cNvSpPr/>
          <p:nvPr/>
        </p:nvSpPr>
        <p:spPr>
          <a:xfrm>
            <a:off x="8485632" y="5340096"/>
            <a:ext cx="33832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8558784" y="5394960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전수 스캔형(exact)  ② 인덱스 유도형</a:t>
            </a:r>
            <a:endParaRPr lang="en-US" sz="7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Q3·Q4·Q5 ↔ Q1</a:t>
            </a:r>
            <a:endParaRPr lang="en-US" sz="750" dirty="0"/>
          </a:p>
        </p:txBody>
      </p:sp>
      <p:sp>
        <p:nvSpPr>
          <p:cNvPr id="269" name="Shape 267"/>
          <p:cNvSpPr/>
          <p:nvPr/>
        </p:nvSpPr>
        <p:spPr>
          <a:xfrm>
            <a:off x="8485632" y="5724144"/>
            <a:ext cx="658368" cy="2743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70" name="Text 268"/>
          <p:cNvSpPr/>
          <p:nvPr/>
        </p:nvSpPr>
        <p:spPr>
          <a:xfrm>
            <a:off x="8485632" y="57241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DP-08</a:t>
            </a:r>
            <a:endParaRPr lang="en-US" sz="950" dirty="0"/>
          </a:p>
        </p:txBody>
      </p:sp>
      <p:sp>
        <p:nvSpPr>
          <p:cNvPr id="271" name="Shape 269"/>
          <p:cNvSpPr/>
          <p:nvPr/>
        </p:nvSpPr>
        <p:spPr>
          <a:xfrm>
            <a:off x="9144000" y="5724144"/>
            <a:ext cx="272491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272" name="Text 270"/>
          <p:cNvSpPr/>
          <p:nvPr/>
        </p:nvSpPr>
        <p:spPr>
          <a:xfrm>
            <a:off x="9208008" y="572414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SSD-PIM의 계약·소유</a:t>
            </a:r>
            <a:endParaRPr lang="en-US" sz="1000" dirty="0"/>
          </a:p>
        </p:txBody>
      </p:sp>
      <p:sp>
        <p:nvSpPr>
          <p:cNvPr id="273" name="Shape 271"/>
          <p:cNvSpPr/>
          <p:nvPr/>
        </p:nvSpPr>
        <p:spPr>
          <a:xfrm>
            <a:off x="8485632" y="5998464"/>
            <a:ext cx="33832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8558784" y="6053328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가속 벡터DB 서비스  ② 검색 가능 메모리 tier</a:t>
            </a:r>
            <a:endParaRPr lang="en-US" sz="7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Q3·Q4·Q5 ↔ Q1·Q2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2026-07-19T08:11:00Z</dcterms:created>
  <dcterms:modified xsi:type="dcterms:W3CDTF">2026-07-19T08:11:00Z</dcterms:modified>
</cp:coreProperties>
</file>