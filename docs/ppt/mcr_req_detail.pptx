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· 목표 정의 —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42416"/>
            <a:ext cx="11551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VOC·QAW·자체 실측·문헌 조사로 요구사항을 수집 → </a:t>
            </a:r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목표(QA KPI = Exit Criteria) 정의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1536192"/>
            <a:ext cx="5623560" cy="4407408"/>
          </a:xfrm>
          <a:prstGeom prst="roundRect">
            <a:avLst>
              <a:gd name="adj" fmla="val 1037"/>
            </a:avLst>
          </a:prstGeom>
          <a:solidFill>
            <a:srgbClr val="FBFCFE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1536192"/>
            <a:ext cx="5672023" cy="4407408"/>
          </a:xfrm>
          <a:prstGeom prst="roundRect">
            <a:avLst>
              <a:gd name="adj" fmla="val 1037"/>
            </a:avLst>
          </a:prstGeom>
          <a:solidFill>
            <a:srgbClr val="FBFCFE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1645920"/>
            <a:ext cx="5404104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1645920"/>
            <a:ext cx="5404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— 방식 · 대상 · 산출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2084832"/>
            <a:ext cx="529437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 · VOC 접수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사업부 · MCAS 팀 · User · 개발 임원 · MCR 개발팀 · 고객사(잠재) → 원시 요구 R-01~R-23 (유효 22건)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QAW (Quality Attribute Workshop)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합동 — 품질 발화를 6-part 시나리오(자극→환경→응답→측정)로 구체화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벤치마크 실측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P/D 분리 벤치 → decode 대기 70–85% (근거 A) — QA1 baseline·개선 대상 정의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· 업계 벤치마크 조사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DistServe·MLPerf·KIVI·CacheBlend·SmartANNS·vLLM·FlexGen → 정량 목표의 앵커 (근거 B)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upstream 로드맵 · 릴리스 분석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2주 릴리스 케이던스 → 진화성·유지보수 목표 근거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</a:t>
            </a:r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시스템 분석
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LMCache 등 KV offloading 계층 → 설계 후보(DP) 발굴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1645920"/>
            <a:ext cx="5452567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645920"/>
            <a:ext cx="54525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목표(QA / Exit Criteria) 정의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82512" y="2066544"/>
            <a:ext cx="5342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분류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기능 FR 9 · 제약 C 2 · 품질(QA 후보) 10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Utility Tree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(중요도·난이도) → 상위 6건 ASR 선정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정량화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 QA에 문헌 앵커 기반 KPI(정량 bin) = Exit Criteria 부여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3145536"/>
          <a:ext cx="5379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420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QA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 Exit Criteria (KPI)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 성능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 ≥ 2× 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 </a:t>
                      </a:r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throughput ≥ 2×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(vs GPU HBM 단일 tier)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 품질(gate)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1%p · 요청별 bound 집행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 메모리 효율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≥ 3× (원본 환산)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 확장성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≤ 1 · 코어 LOC 0 · ≤ upstream + 2주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QA6 적응성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결합 격리 ≤ 10% · 전환 ≤ 3인월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 유지보수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≤ 6인월 · 유지 ≤ 0.5 FTE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 핵심 요소 → QA 도출 — 상세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42416"/>
            <a:ext cx="11551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대표 워크로드 시나리오의 정량 관찰(효과 %·배율) → </a:t>
            </a:r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기능(FR) · 목표(QA) 도출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1481328"/>
            <a:ext cx="5257800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48132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워크로드 시나리오 — 정량 핵심 요소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64224" y="1481328"/>
            <a:ext cx="5507431" cy="329184"/>
          </a:xfrm>
          <a:prstGeom prst="roundRect">
            <a:avLst>
              <a:gd name="adj" fmla="val 16667"/>
            </a:avLst>
          </a:prstGeom>
          <a:solidFill>
            <a:srgbClr val="2E54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1481328"/>
            <a:ext cx="5507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도출된 필요 기능(FR) → 귀결 목표(QA)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1901952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1938528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long-context RAG — 수십k 토큰 프롬프트를 매 요청 re-prefill (반복 비용 지배)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재사용 시 TTFT 2.2–3.3×↓ · 히트율 85%+ (CacheBlend, B)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87568" y="2122322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364224" y="1901952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1938528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영속·재사용 (FR-04)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TTFT ≥ 2× (QA1 prefill 축)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745029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81605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retrieval이 TTFT 임계 경로 — SSD 기반 ANN은 I/O가 실행의 ~67% (B)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near-storage 검색 가속 QPS 10.7× (SmartANNS, B) — SSD-PIM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87568" y="2965399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32" name="Shape 30"/>
          <p:cNvSpPr/>
          <p:nvPr/>
        </p:nvSpPr>
        <p:spPr>
          <a:xfrm>
            <a:off x="6364224" y="2745029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781605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근접연산 오프로드 (FR-07)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retrieval 가속 (QA1 · 차별 축)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88106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624682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용량 병목 — 32k 컨텍스트 1세션 ≈ 10.5 GB, HBM 용량 초과 (C)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2-bit 압축 시 peak memory 2.6×↓ · batch 4× (KIVI, 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87568" y="3808476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37" name="Shape 35"/>
          <p:cNvSpPr/>
          <p:nvPr/>
        </p:nvSpPr>
        <p:spPr>
          <a:xfrm>
            <a:off x="6364224" y="3588106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3624682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압축 (FR-03)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유효 KV 용량 ≥ 3× (QA3)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431182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467758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단계가 지배 — 자체 실측 대기 70–85%, memory-BW-bound (A)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 tier 확장으로 batch↑ → 처리량 2–4× (vLLM paging, B)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87568" y="4651553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42" name="Shape 40"/>
          <p:cNvSpPr/>
          <p:nvPr/>
        </p:nvSpPr>
        <p:spPr>
          <a:xfrm>
            <a:off x="6364224" y="4431182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7758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 tier KV 배치 (FR-02)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throughput ≥ 2× (QA1 decode 축)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5274259"/>
            <a:ext cx="5257800" cy="715061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5310835"/>
            <a:ext cx="507492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압축·재사용 시 답변 품질 저하 우려 — 저하 크면 사용 불가 (User VOC)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near-lossless 운용 실재 — LongBench 저하 ≤ 2%p (KIVI, B)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87568" y="5494630"/>
            <a:ext cx="566928" cy="274320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47" name="Shape 45"/>
          <p:cNvSpPr/>
          <p:nvPr/>
        </p:nvSpPr>
        <p:spPr>
          <a:xfrm>
            <a:off x="6364224" y="5274259"/>
            <a:ext cx="5507431" cy="715061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5310835"/>
            <a:ext cx="5306263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SLO·품질 정책 (FR-06)</a:t>
            </a:r>
            <a:endParaRPr lang="en-US" sz="9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품질 저하 bound (QA2 gate)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" y="6144768"/>
            <a:ext cx="11551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시나리오의 정량 효과가 곧 기능·목표의 근거 — </a:t>
            </a:r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QA는 측정 가능한 시나리오에서 도출(A 실측 · B 문헌 · C 논증)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2026-07-19T11:52:24Z</dcterms:created>
  <dcterms:modified xsi:type="dcterms:W3CDTF">2026-07-19T11:52:24Z</dcterms:modified>
</cp:coreProperties>
</file>