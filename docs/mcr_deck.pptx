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4E7C3A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109728"/>
            <a:ext cx="45720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과제 개요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208215" y="320040"/>
            <a:ext cx="786384" cy="274320"/>
          </a:xfrm>
          <a:prstGeom prst="rect">
            <a:avLst/>
          </a:prstGeom>
          <a:solidFill>
            <a:srgbClr val="FFC000"/>
          </a:solidFill>
          <a:ln w="9525">
            <a:solidFill>
              <a:srgbClr val="FFC0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208215" y="320040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과제 개요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8008315" y="338328"/>
            <a:ext cx="155448" cy="237744"/>
          </a:xfrm>
          <a:prstGeom prst="chevron">
            <a:avLst/>
          </a:prstGeom>
          <a:solidFill>
            <a:srgbClr val="9AA0A6"/>
          </a:solidFill>
          <a:ln/>
        </p:spPr>
      </p:sp>
      <p:sp>
        <p:nvSpPr>
          <p:cNvPr id="7" name="Shape 5"/>
          <p:cNvSpPr/>
          <p:nvPr/>
        </p:nvSpPr>
        <p:spPr>
          <a:xfrm>
            <a:off x="8177479" y="320040"/>
            <a:ext cx="786384" cy="274320"/>
          </a:xfrm>
          <a:prstGeom prst="rect">
            <a:avLst/>
          </a:prstGeom>
          <a:solidFill>
            <a:srgbClr val="E9E9E9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177479" y="320040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요구사항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8977579" y="338328"/>
            <a:ext cx="155448" cy="237744"/>
          </a:xfrm>
          <a:prstGeom prst="chevron">
            <a:avLst/>
          </a:prstGeom>
          <a:solidFill>
            <a:srgbClr val="9AA0A6"/>
          </a:solidFill>
          <a:ln/>
        </p:spPr>
      </p:sp>
      <p:sp>
        <p:nvSpPr>
          <p:cNvPr id="10" name="Shape 8"/>
          <p:cNvSpPr/>
          <p:nvPr/>
        </p:nvSpPr>
        <p:spPr>
          <a:xfrm>
            <a:off x="9146743" y="320040"/>
            <a:ext cx="786384" cy="274320"/>
          </a:xfrm>
          <a:prstGeom prst="rect">
            <a:avLst/>
          </a:prstGeom>
          <a:solidFill>
            <a:srgbClr val="E9E9E9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6743" y="320040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설계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9946843" y="338328"/>
            <a:ext cx="155448" cy="237744"/>
          </a:xfrm>
          <a:prstGeom prst="chevron">
            <a:avLst/>
          </a:prstGeom>
          <a:solidFill>
            <a:srgbClr val="9AA0A6"/>
          </a:solidFill>
          <a:ln/>
        </p:spPr>
      </p:sp>
      <p:sp>
        <p:nvSpPr>
          <p:cNvPr id="13" name="Shape 11"/>
          <p:cNvSpPr/>
          <p:nvPr/>
        </p:nvSpPr>
        <p:spPr>
          <a:xfrm>
            <a:off x="10116007" y="320040"/>
            <a:ext cx="786384" cy="274320"/>
          </a:xfrm>
          <a:prstGeom prst="rect">
            <a:avLst/>
          </a:prstGeom>
          <a:solidFill>
            <a:srgbClr val="E9E9E9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116007" y="320040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10916107" y="338328"/>
            <a:ext cx="155448" cy="237744"/>
          </a:xfrm>
          <a:prstGeom prst="chevron">
            <a:avLst/>
          </a:prstGeom>
          <a:solidFill>
            <a:srgbClr val="9AA0A6"/>
          </a:solidFill>
          <a:ln/>
        </p:spPr>
      </p:sp>
      <p:sp>
        <p:nvSpPr>
          <p:cNvPr id="16" name="Shape 14"/>
          <p:cNvSpPr/>
          <p:nvPr/>
        </p:nvSpPr>
        <p:spPr>
          <a:xfrm>
            <a:off x="11085271" y="320040"/>
            <a:ext cx="786384" cy="274320"/>
          </a:xfrm>
          <a:prstGeom prst="rect">
            <a:avLst/>
          </a:prstGeom>
          <a:solidFill>
            <a:srgbClr val="E9E9E9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1085271" y="320040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결론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0728655" y="649224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F7F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 / 33</a:t>
            </a:r>
            <a:endParaRPr lang="en-US" sz="10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078992"/>
          <a:ext cx="5675224" cy="5367528"/>
        </p:xfrm>
        <a:graphic>
          <a:graphicData uri="http://schemas.openxmlformats.org/drawingml/2006/table">
            <a:tbl>
              <a:tblPr/>
              <a:tblGrid>
                <a:gridCol w="1554480"/>
                <a:gridCol w="4120744"/>
              </a:tblGrid>
              <a:tr h="134188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과제 명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spcAft>
                          <a:spcPts val="200"/>
                        </a:spcAft>
                        <a:buNone/>
                      </a:pPr>
                      <a:r>
                        <a:rPr lang="en-US" sz="1100" b="1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MCR (Memory-Centric Runtime)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algn="l" indent="0" marL="0">
                        <a:spcAft>
                          <a:spcPts val="200"/>
                        </a:spcAft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계층화된 이종 메모리 기반 LLM 추론 런타임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34188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과제 목표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l" marL="152400" indent="-152400">
                        <a:spcAft>
                          <a:spcPts val="200"/>
                        </a:spcAft>
                        <a:buSzPct val="100000"/>
                        <a:buChar char="•"/>
                      </a:pPr>
                      <a:r>
                        <a:rPr lang="en-US" sz="110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이종 메모리 시스템 위 LLM 추론 goodput@SLO 극대화 런타임(MCR) 아키텍처 설계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algn="l" marL="152400" indent="-152400">
                        <a:spcAft>
                          <a:spcPts val="200"/>
                        </a:spcAft>
                        <a:buSzPct val="100000"/>
                        <a:buChar char="•"/>
                      </a:pPr>
                      <a:r>
                        <a:rPr lang="en-US" sz="110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자사 memory-centric 디바이스의 레퍼런스 SW 스택으로 성립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34188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참여 인력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spcAft>
                          <a:spcPts val="200"/>
                        </a:spcAft>
                        <a:buNone/>
                      </a:pPr>
                      <a:r>
                        <a:rPr lang="en-US" sz="1100" dirty="0">
                          <a:solidFill>
                            <a:srgbClr val="80808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(미정)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34188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일정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spcAft>
                          <a:spcPts val="200"/>
                        </a:spcAft>
                        <a:buNone/>
                      </a:pPr>
                      <a:r>
                        <a:rPr lang="en-US" sz="1100" dirty="0">
                          <a:solidFill>
                            <a:srgbClr val="80808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(미정)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0" name="Shape 17"/>
          <p:cNvSpPr/>
          <p:nvPr/>
        </p:nvSpPr>
        <p:spPr>
          <a:xfrm>
            <a:off x="6196432" y="1078992"/>
            <a:ext cx="5675224" cy="5367528"/>
          </a:xfrm>
          <a:prstGeom prst="rect">
            <a:avLst/>
          </a:prstGeom>
          <a:solidFill>
            <a:srgbClr val="F5F6F8"/>
          </a:solidFill>
          <a:ln w="12700">
            <a:solidFill>
              <a:srgbClr val="A6A6A6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196432" y="3579876"/>
            <a:ext cx="5675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0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Overall Architecture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109728"/>
            <a:ext cx="45720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과제 배경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208215" y="320040"/>
            <a:ext cx="786384" cy="274320"/>
          </a:xfrm>
          <a:prstGeom prst="rect">
            <a:avLst/>
          </a:prstGeom>
          <a:solidFill>
            <a:srgbClr val="FFC000"/>
          </a:solidFill>
          <a:ln w="9525">
            <a:solidFill>
              <a:srgbClr val="FFC0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208215" y="320040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과제 개요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8008315" y="338328"/>
            <a:ext cx="155448" cy="237744"/>
          </a:xfrm>
          <a:prstGeom prst="chevron">
            <a:avLst/>
          </a:prstGeom>
          <a:solidFill>
            <a:srgbClr val="9AA0A6"/>
          </a:solidFill>
          <a:ln/>
        </p:spPr>
      </p:sp>
      <p:sp>
        <p:nvSpPr>
          <p:cNvPr id="7" name="Shape 5"/>
          <p:cNvSpPr/>
          <p:nvPr/>
        </p:nvSpPr>
        <p:spPr>
          <a:xfrm>
            <a:off x="8177479" y="320040"/>
            <a:ext cx="786384" cy="274320"/>
          </a:xfrm>
          <a:prstGeom prst="rect">
            <a:avLst/>
          </a:prstGeom>
          <a:solidFill>
            <a:srgbClr val="E9E9E9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177479" y="320040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요구사항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8977579" y="338328"/>
            <a:ext cx="155448" cy="237744"/>
          </a:xfrm>
          <a:prstGeom prst="chevron">
            <a:avLst/>
          </a:prstGeom>
          <a:solidFill>
            <a:srgbClr val="9AA0A6"/>
          </a:solidFill>
          <a:ln/>
        </p:spPr>
      </p:sp>
      <p:sp>
        <p:nvSpPr>
          <p:cNvPr id="10" name="Shape 8"/>
          <p:cNvSpPr/>
          <p:nvPr/>
        </p:nvSpPr>
        <p:spPr>
          <a:xfrm>
            <a:off x="9146743" y="320040"/>
            <a:ext cx="786384" cy="274320"/>
          </a:xfrm>
          <a:prstGeom prst="rect">
            <a:avLst/>
          </a:prstGeom>
          <a:solidFill>
            <a:srgbClr val="E9E9E9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6743" y="320040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설계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9946843" y="338328"/>
            <a:ext cx="155448" cy="237744"/>
          </a:xfrm>
          <a:prstGeom prst="chevron">
            <a:avLst/>
          </a:prstGeom>
          <a:solidFill>
            <a:srgbClr val="9AA0A6"/>
          </a:solidFill>
          <a:ln/>
        </p:spPr>
      </p:sp>
      <p:sp>
        <p:nvSpPr>
          <p:cNvPr id="13" name="Shape 11"/>
          <p:cNvSpPr/>
          <p:nvPr/>
        </p:nvSpPr>
        <p:spPr>
          <a:xfrm>
            <a:off x="10116007" y="320040"/>
            <a:ext cx="786384" cy="274320"/>
          </a:xfrm>
          <a:prstGeom prst="rect">
            <a:avLst/>
          </a:prstGeom>
          <a:solidFill>
            <a:srgbClr val="E9E9E9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116007" y="320040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10916107" y="338328"/>
            <a:ext cx="155448" cy="237744"/>
          </a:xfrm>
          <a:prstGeom prst="chevron">
            <a:avLst/>
          </a:prstGeom>
          <a:solidFill>
            <a:srgbClr val="9AA0A6"/>
          </a:solidFill>
          <a:ln/>
        </p:spPr>
      </p:sp>
      <p:sp>
        <p:nvSpPr>
          <p:cNvPr id="16" name="Shape 14"/>
          <p:cNvSpPr/>
          <p:nvPr/>
        </p:nvSpPr>
        <p:spPr>
          <a:xfrm>
            <a:off x="11085271" y="320040"/>
            <a:ext cx="786384" cy="274320"/>
          </a:xfrm>
          <a:prstGeom prst="rect">
            <a:avLst/>
          </a:prstGeom>
          <a:solidFill>
            <a:srgbClr val="E9E9E9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1085271" y="320040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결론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0728655" y="649224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F7F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/ 33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20040" y="1078992"/>
            <a:ext cx="3716426" cy="310896"/>
          </a:xfrm>
          <a:prstGeom prst="rect">
            <a:avLst/>
          </a:prstGeom>
          <a:solidFill>
            <a:srgbClr val="4E7C3A"/>
          </a:solidFill>
          <a:ln/>
        </p:spPr>
      </p:sp>
      <p:sp>
        <p:nvSpPr>
          <p:cNvPr id="20" name="Text 18"/>
          <p:cNvSpPr/>
          <p:nvPr/>
        </p:nvSpPr>
        <p:spPr>
          <a:xfrm>
            <a:off x="365760" y="1078992"/>
            <a:ext cx="362498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LLM 추론 메모리 병목 심화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65760" y="1527048"/>
            <a:ext cx="362498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600"/>
              </a:spcAft>
              <a:buSzPct val="100000"/>
              <a:buChar char="◆"/>
            </a:pPr>
            <a:r>
              <a:rPr lang="en-US" sz="110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Decode 단계가 추론 시간을 지배 — memory-bandwidth-bound 연산, 자체 P/D 벤치 실측 대기시간 70–85%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20040" y="2286000"/>
            <a:ext cx="3716426" cy="1618488"/>
          </a:xfrm>
          <a:prstGeom prst="rect">
            <a:avLst/>
          </a:prstGeom>
          <a:solidFill>
            <a:srgbClr val="F5F6F8"/>
          </a:solidFill>
          <a:ln w="12700">
            <a:solidFill>
              <a:srgbClr val="A6A6A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69080"/>
            <a:ext cx="362498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600"/>
              </a:spcAft>
              <a:buSzPct val="100000"/>
              <a:buChar char="◆"/>
            </a:pPr>
            <a:r>
              <a:rPr lang="en-US" sz="110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KV cache가 컨텍스트·세션 수에 비례 증가 → HBM 용량 압박, agent는 세션 넘는 장기 기억 요구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20040" y="4828032"/>
            <a:ext cx="3716426" cy="1618488"/>
          </a:xfrm>
          <a:prstGeom prst="rect">
            <a:avLst/>
          </a:prstGeom>
          <a:solidFill>
            <a:srgbClr val="F5F6F8"/>
          </a:solidFill>
          <a:ln w="12700">
            <a:solidFill>
              <a:srgbClr val="A6A6A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237634" y="1078992"/>
            <a:ext cx="3716426" cy="310896"/>
          </a:xfrm>
          <a:prstGeom prst="rect">
            <a:avLst/>
          </a:prstGeom>
          <a:solidFill>
            <a:srgbClr val="4E7C3A"/>
          </a:solidFill>
          <a:ln/>
        </p:spPr>
      </p:sp>
      <p:sp>
        <p:nvSpPr>
          <p:cNvPr id="26" name="Text 24"/>
          <p:cNvSpPr/>
          <p:nvPr/>
        </p:nvSpPr>
        <p:spPr>
          <a:xfrm>
            <a:off x="4283354" y="1078992"/>
            <a:ext cx="362498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Memory-Centric 디바이스 포트폴리오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283354" y="1527048"/>
            <a:ext cx="362498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600"/>
              </a:spcAft>
              <a:buSzPct val="100000"/>
              <a:buChar char="◆"/>
            </a:pPr>
            <a:r>
              <a:rPr lang="en-US" sz="110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PIM · PNM · Custom HBM · HBF · CXL 메모리 확장 등 자사 memory-centric 제품군 확보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237634" y="2286000"/>
            <a:ext cx="3716426" cy="1618488"/>
          </a:xfrm>
          <a:prstGeom prst="rect">
            <a:avLst/>
          </a:prstGeom>
          <a:solidFill>
            <a:srgbClr val="F5F6F8"/>
          </a:solidFill>
          <a:ln w="12700">
            <a:solidFill>
              <a:srgbClr val="A6A6A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283354" y="4069080"/>
            <a:ext cx="362498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600"/>
              </a:spcAft>
              <a:buSzPct val="100000"/>
              <a:buChar char="◆"/>
            </a:pPr>
            <a:r>
              <a:rPr lang="en-US" sz="110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근접연산 · 대역폭 · 용량의 서로 다른 축 → 조합 시 GPU HBM 단일 체계로 불가능한 설계 공간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237634" y="4828032"/>
            <a:ext cx="3716426" cy="1618488"/>
          </a:xfrm>
          <a:prstGeom prst="rect">
            <a:avLst/>
          </a:prstGeom>
          <a:solidFill>
            <a:srgbClr val="F5F6F8"/>
          </a:solidFill>
          <a:ln w="12700">
            <a:solidFill>
              <a:srgbClr val="A6A6A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155229" y="1078992"/>
            <a:ext cx="3716426" cy="310896"/>
          </a:xfrm>
          <a:prstGeom prst="rect">
            <a:avLst/>
          </a:prstGeom>
          <a:solidFill>
            <a:srgbClr val="4E7C3A"/>
          </a:solidFill>
          <a:ln/>
        </p:spPr>
      </p:sp>
      <p:sp>
        <p:nvSpPr>
          <p:cNvPr id="32" name="Text 30"/>
          <p:cNvSpPr/>
          <p:nvPr/>
        </p:nvSpPr>
        <p:spPr>
          <a:xfrm>
            <a:off x="8200949" y="1078992"/>
            <a:ext cx="362498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문제 공간의 재정의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8200949" y="1527048"/>
            <a:ext cx="362498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600"/>
              </a:spcAft>
              <a:buSzPct val="100000"/>
              <a:buChar char="◆"/>
            </a:pPr>
            <a:r>
              <a:rPr lang="en-US" sz="110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연산기 중심 → 메모리 중심: '연산을 데이터가 있는 곳으로' (PIM/PNM), 배치·이동·스케줄 가정 재검토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8155229" y="2286000"/>
            <a:ext cx="3716426" cy="1618488"/>
          </a:xfrm>
          <a:prstGeom prst="rect">
            <a:avLst/>
          </a:prstGeom>
          <a:solidFill>
            <a:srgbClr val="F5F6F8"/>
          </a:solidFill>
          <a:ln w="12700">
            <a:solidFill>
              <a:srgbClr val="A6A6A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200949" y="4069080"/>
            <a:ext cx="362498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600"/>
              </a:spcAft>
              <a:buSzPct val="100000"/>
              <a:buChar char="◆"/>
            </a:pPr>
            <a:r>
              <a:rPr lang="en-US" sz="110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메모리 계층 심화: HBM–HBF–DRAM–CXL–SSD 5단↑ → 정적 tiering 한계, 기존 vLLM 가정 수용 불가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8155229" y="4828032"/>
            <a:ext cx="3716426" cy="1618488"/>
          </a:xfrm>
          <a:prstGeom prst="rect">
            <a:avLst/>
          </a:prstGeom>
          <a:solidFill>
            <a:srgbClr val="F5F6F8"/>
          </a:solidFill>
          <a:ln w="12700">
            <a:solidFill>
              <a:srgbClr val="A6A6A6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109728"/>
            <a:ext cx="45720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과제 필요성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208215" y="320040"/>
            <a:ext cx="786384" cy="274320"/>
          </a:xfrm>
          <a:prstGeom prst="rect">
            <a:avLst/>
          </a:prstGeom>
          <a:solidFill>
            <a:srgbClr val="FFC000"/>
          </a:solidFill>
          <a:ln w="9525">
            <a:solidFill>
              <a:srgbClr val="FFC0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208215" y="320040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과제 개요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8008315" y="338328"/>
            <a:ext cx="155448" cy="237744"/>
          </a:xfrm>
          <a:prstGeom prst="chevron">
            <a:avLst/>
          </a:prstGeom>
          <a:solidFill>
            <a:srgbClr val="9AA0A6"/>
          </a:solidFill>
          <a:ln/>
        </p:spPr>
      </p:sp>
      <p:sp>
        <p:nvSpPr>
          <p:cNvPr id="7" name="Shape 5"/>
          <p:cNvSpPr/>
          <p:nvPr/>
        </p:nvSpPr>
        <p:spPr>
          <a:xfrm>
            <a:off x="8177479" y="320040"/>
            <a:ext cx="786384" cy="274320"/>
          </a:xfrm>
          <a:prstGeom prst="rect">
            <a:avLst/>
          </a:prstGeom>
          <a:solidFill>
            <a:srgbClr val="E9E9E9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177479" y="320040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요구사항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8977579" y="338328"/>
            <a:ext cx="155448" cy="237744"/>
          </a:xfrm>
          <a:prstGeom prst="chevron">
            <a:avLst/>
          </a:prstGeom>
          <a:solidFill>
            <a:srgbClr val="9AA0A6"/>
          </a:solidFill>
          <a:ln/>
        </p:spPr>
      </p:sp>
      <p:sp>
        <p:nvSpPr>
          <p:cNvPr id="10" name="Shape 8"/>
          <p:cNvSpPr/>
          <p:nvPr/>
        </p:nvSpPr>
        <p:spPr>
          <a:xfrm>
            <a:off x="9146743" y="320040"/>
            <a:ext cx="786384" cy="274320"/>
          </a:xfrm>
          <a:prstGeom prst="rect">
            <a:avLst/>
          </a:prstGeom>
          <a:solidFill>
            <a:srgbClr val="E9E9E9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6743" y="320040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설계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9946843" y="338328"/>
            <a:ext cx="155448" cy="237744"/>
          </a:xfrm>
          <a:prstGeom prst="chevron">
            <a:avLst/>
          </a:prstGeom>
          <a:solidFill>
            <a:srgbClr val="9AA0A6"/>
          </a:solidFill>
          <a:ln/>
        </p:spPr>
      </p:sp>
      <p:sp>
        <p:nvSpPr>
          <p:cNvPr id="13" name="Shape 11"/>
          <p:cNvSpPr/>
          <p:nvPr/>
        </p:nvSpPr>
        <p:spPr>
          <a:xfrm>
            <a:off x="10116007" y="320040"/>
            <a:ext cx="786384" cy="274320"/>
          </a:xfrm>
          <a:prstGeom prst="rect">
            <a:avLst/>
          </a:prstGeom>
          <a:solidFill>
            <a:srgbClr val="E9E9E9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116007" y="320040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10916107" y="338328"/>
            <a:ext cx="155448" cy="237744"/>
          </a:xfrm>
          <a:prstGeom prst="chevron">
            <a:avLst/>
          </a:prstGeom>
          <a:solidFill>
            <a:srgbClr val="9AA0A6"/>
          </a:solidFill>
          <a:ln/>
        </p:spPr>
      </p:sp>
      <p:sp>
        <p:nvSpPr>
          <p:cNvPr id="16" name="Shape 14"/>
          <p:cNvSpPr/>
          <p:nvPr/>
        </p:nvSpPr>
        <p:spPr>
          <a:xfrm>
            <a:off x="11085271" y="320040"/>
            <a:ext cx="786384" cy="274320"/>
          </a:xfrm>
          <a:prstGeom prst="rect">
            <a:avLst/>
          </a:prstGeom>
          <a:solidFill>
            <a:srgbClr val="E9E9E9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1085271" y="320040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결론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0728655" y="649224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F7F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/ 33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20040" y="1078992"/>
            <a:ext cx="5675224" cy="310896"/>
          </a:xfrm>
          <a:prstGeom prst="rect">
            <a:avLst/>
          </a:prstGeom>
          <a:solidFill>
            <a:srgbClr val="4E7C3A"/>
          </a:solidFill>
          <a:ln/>
        </p:spPr>
      </p:sp>
      <p:sp>
        <p:nvSpPr>
          <p:cNvPr id="20" name="Text 18"/>
          <p:cNvSpPr/>
          <p:nvPr/>
        </p:nvSpPr>
        <p:spPr>
          <a:xfrm>
            <a:off x="365760" y="1078992"/>
            <a:ext cx="55837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이종 메모리 1급 런타임 아키텍처 (기술 요구)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65760" y="1527048"/>
            <a:ext cx="558378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600"/>
              </a:spcAft>
              <a:buSzPct val="100000"/>
              <a:buChar char="◆"/>
            </a:pPr>
            <a:r>
              <a:rPr lang="en-US" sz="110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계층화 이종 메모리·근접연산을 1급 개념으로 수용 (←배경 1.3): topology model, 정책/메커니즘 분리, 결합방식 DP화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20040" y="2286000"/>
            <a:ext cx="5675224" cy="1618488"/>
          </a:xfrm>
          <a:prstGeom prst="rect">
            <a:avLst/>
          </a:prstGeom>
          <a:solidFill>
            <a:srgbClr val="F5F6F8"/>
          </a:solidFill>
          <a:ln w="12700">
            <a:solidFill>
              <a:srgbClr val="A6A6A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69080"/>
            <a:ext cx="558378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600"/>
              </a:spcAft>
              <a:buSzPct val="100000"/>
              <a:buChar char="◆"/>
            </a:pPr>
            <a:r>
              <a:rPr lang="en-US" sz="110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배치×압축×재사용 joint orchestration (←배경 1.1): SLO·품질 예산 기준 공동 조율, 장기 기억까지 시간축 확장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20040" y="4828032"/>
            <a:ext cx="5675224" cy="1618488"/>
          </a:xfrm>
          <a:prstGeom prst="rect">
            <a:avLst/>
          </a:prstGeom>
          <a:solidFill>
            <a:srgbClr val="F5F6F8"/>
          </a:solidFill>
          <a:ln w="12700">
            <a:solidFill>
              <a:srgbClr val="A6A6A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196432" y="1078992"/>
            <a:ext cx="5675224" cy="310896"/>
          </a:xfrm>
          <a:prstGeom prst="rect">
            <a:avLst/>
          </a:prstGeom>
          <a:solidFill>
            <a:srgbClr val="4E7C3A"/>
          </a:solidFill>
          <a:ln/>
        </p:spPr>
      </p:sp>
      <p:sp>
        <p:nvSpPr>
          <p:cNvPr id="26" name="Text 24"/>
          <p:cNvSpPr/>
          <p:nvPr/>
        </p:nvSpPr>
        <p:spPr>
          <a:xfrm>
            <a:off x="6242152" y="1078992"/>
            <a:ext cx="55837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레퍼런스 스택 &amp; E2E 증명 (사업 가치)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242152" y="1527048"/>
            <a:ext cx="558378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600"/>
              </a:spcAft>
              <a:buSzPct val="100000"/>
              <a:buChar char="◆"/>
            </a:pPr>
            <a:r>
              <a:rPr lang="en-US" sz="110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자사 메모리 제품군의 레퍼런스 SW 스택 (←배경 1.2): 응용(LLM 서빙)과 디바이스를 잇는 스택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196432" y="2286000"/>
            <a:ext cx="5675224" cy="1618488"/>
          </a:xfrm>
          <a:prstGeom prst="rect">
            <a:avLst/>
          </a:prstGeom>
          <a:solidFill>
            <a:srgbClr val="F5F6F8"/>
          </a:solidFill>
          <a:ln w="12700">
            <a:solidFill>
              <a:srgbClr val="A6A6A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242152" y="4069080"/>
            <a:ext cx="558378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600"/>
              </a:spcAft>
              <a:buSzPct val="100000"/>
              <a:buChar char="◆"/>
            </a:pPr>
            <a:r>
              <a:rPr lang="en-US" sz="110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GPU HBM 단일 tier 대비 성능 개선을 정량 입증하는 E2E 증명 vehicle → 설계 산출물이자 SW 사업 자산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196432" y="4828032"/>
            <a:ext cx="5675224" cy="1618488"/>
          </a:xfrm>
          <a:prstGeom prst="rect">
            <a:avLst/>
          </a:prstGeom>
          <a:solidFill>
            <a:srgbClr val="F5F6F8"/>
          </a:solidFill>
          <a:ln w="12700">
            <a:solidFill>
              <a:srgbClr val="A6A6A6"/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109728"/>
            <a:ext cx="45720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과제 범위 · 목적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208215" y="320040"/>
            <a:ext cx="786384" cy="274320"/>
          </a:xfrm>
          <a:prstGeom prst="rect">
            <a:avLst/>
          </a:prstGeom>
          <a:solidFill>
            <a:srgbClr val="FFC000"/>
          </a:solidFill>
          <a:ln w="9525">
            <a:solidFill>
              <a:srgbClr val="FFC0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208215" y="320040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과제 개요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8008315" y="338328"/>
            <a:ext cx="155448" cy="237744"/>
          </a:xfrm>
          <a:prstGeom prst="chevron">
            <a:avLst/>
          </a:prstGeom>
          <a:solidFill>
            <a:srgbClr val="9AA0A6"/>
          </a:solidFill>
          <a:ln/>
        </p:spPr>
      </p:sp>
      <p:sp>
        <p:nvSpPr>
          <p:cNvPr id="7" name="Shape 5"/>
          <p:cNvSpPr/>
          <p:nvPr/>
        </p:nvSpPr>
        <p:spPr>
          <a:xfrm>
            <a:off x="8177479" y="320040"/>
            <a:ext cx="786384" cy="274320"/>
          </a:xfrm>
          <a:prstGeom prst="rect">
            <a:avLst/>
          </a:prstGeom>
          <a:solidFill>
            <a:srgbClr val="E9E9E9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177479" y="320040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요구사항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8977579" y="338328"/>
            <a:ext cx="155448" cy="237744"/>
          </a:xfrm>
          <a:prstGeom prst="chevron">
            <a:avLst/>
          </a:prstGeom>
          <a:solidFill>
            <a:srgbClr val="9AA0A6"/>
          </a:solidFill>
          <a:ln/>
        </p:spPr>
      </p:sp>
      <p:sp>
        <p:nvSpPr>
          <p:cNvPr id="10" name="Shape 8"/>
          <p:cNvSpPr/>
          <p:nvPr/>
        </p:nvSpPr>
        <p:spPr>
          <a:xfrm>
            <a:off x="9146743" y="320040"/>
            <a:ext cx="786384" cy="274320"/>
          </a:xfrm>
          <a:prstGeom prst="rect">
            <a:avLst/>
          </a:prstGeom>
          <a:solidFill>
            <a:srgbClr val="E9E9E9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6743" y="320040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설계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9946843" y="338328"/>
            <a:ext cx="155448" cy="237744"/>
          </a:xfrm>
          <a:prstGeom prst="chevron">
            <a:avLst/>
          </a:prstGeom>
          <a:solidFill>
            <a:srgbClr val="9AA0A6"/>
          </a:solidFill>
          <a:ln/>
        </p:spPr>
      </p:sp>
      <p:sp>
        <p:nvSpPr>
          <p:cNvPr id="13" name="Shape 11"/>
          <p:cNvSpPr/>
          <p:nvPr/>
        </p:nvSpPr>
        <p:spPr>
          <a:xfrm>
            <a:off x="10116007" y="320040"/>
            <a:ext cx="786384" cy="274320"/>
          </a:xfrm>
          <a:prstGeom prst="rect">
            <a:avLst/>
          </a:prstGeom>
          <a:solidFill>
            <a:srgbClr val="E9E9E9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116007" y="320040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10916107" y="338328"/>
            <a:ext cx="155448" cy="237744"/>
          </a:xfrm>
          <a:prstGeom prst="chevron">
            <a:avLst/>
          </a:prstGeom>
          <a:solidFill>
            <a:srgbClr val="9AA0A6"/>
          </a:solidFill>
          <a:ln/>
        </p:spPr>
      </p:sp>
      <p:sp>
        <p:nvSpPr>
          <p:cNvPr id="16" name="Shape 14"/>
          <p:cNvSpPr/>
          <p:nvPr/>
        </p:nvSpPr>
        <p:spPr>
          <a:xfrm>
            <a:off x="11085271" y="320040"/>
            <a:ext cx="786384" cy="274320"/>
          </a:xfrm>
          <a:prstGeom prst="rect">
            <a:avLst/>
          </a:prstGeom>
          <a:solidFill>
            <a:srgbClr val="E9E9E9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1085271" y="320040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결론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0728655" y="649224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F7F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 / 33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20040" y="1078992"/>
            <a:ext cx="3716426" cy="310896"/>
          </a:xfrm>
          <a:prstGeom prst="rect">
            <a:avLst/>
          </a:prstGeom>
          <a:solidFill>
            <a:srgbClr val="4E7C3A"/>
          </a:solidFill>
          <a:ln/>
        </p:spPr>
      </p:sp>
      <p:sp>
        <p:nvSpPr>
          <p:cNvPr id="20" name="Text 18"/>
          <p:cNvSpPr/>
          <p:nvPr/>
        </p:nvSpPr>
        <p:spPr>
          <a:xfrm>
            <a:off x="365760" y="1078992"/>
            <a:ext cx="362498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목적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65760" y="1527048"/>
            <a:ext cx="3624986" cy="4919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600"/>
              </a:spcAft>
              <a:buSzPct val="100000"/>
              <a:buChar char="◆"/>
            </a:pPr>
            <a:r>
              <a:rPr lang="en-US" sz="110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계층화 이종 메모리 위 LLM 추론 goodput@SLO 극대화 런타임 MCR 아키텍처 설계</a:t>
            </a:r>
            <a:endParaRPr lang="en-US" sz="1100" dirty="0"/>
          </a:p>
          <a:p>
            <a:pPr algn="l" marL="177800" indent="-177800">
              <a:spcAft>
                <a:spcPts val="600"/>
              </a:spcAft>
              <a:buSzPct val="100000"/>
              <a:buChar char="◆"/>
            </a:pPr>
            <a:r>
              <a:rPr lang="en-US" sz="110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자사 memory-centric 디바이스의 레퍼런스 스택으로 성립</a:t>
            </a:r>
            <a:endParaRPr lang="en-US" sz="1100" dirty="0"/>
          </a:p>
          <a:p>
            <a:pPr algn="l" marL="177800" indent="-177800">
              <a:spcAft>
                <a:spcPts val="600"/>
              </a:spcAft>
              <a:buSzPct val="100000"/>
              <a:buChar char="◆"/>
            </a:pPr>
            <a:r>
              <a:rPr lang="en-US" sz="110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산출물 = 설계 과제 결과물 + 메모리 사업 SW 자산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237634" y="1078992"/>
            <a:ext cx="3716426" cy="310896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23" name="Text 21"/>
          <p:cNvSpPr/>
          <p:nvPr/>
        </p:nvSpPr>
        <p:spPr>
          <a:xfrm>
            <a:off x="4283354" y="1078992"/>
            <a:ext cx="362498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범위 (In Scope)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283354" y="1527048"/>
            <a:ext cx="3624986" cy="4919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600"/>
              </a:spcAft>
              <a:buSzPct val="100000"/>
              <a:buChar char="◆"/>
            </a:pPr>
            <a:r>
              <a:rPr lang="en-US" sz="110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MCR 레퍼런스 아키텍처 설계</a:t>
            </a:r>
            <a:endParaRPr lang="en-US" sz="1100" dirty="0"/>
          </a:p>
          <a:p>
            <a:pPr algn="l" marL="177800" indent="-177800">
              <a:spcAft>
                <a:spcPts val="600"/>
              </a:spcAft>
              <a:buSzPct val="100000"/>
              <a:buChar char="◆"/>
            </a:pPr>
            <a:r>
              <a:rPr lang="en-US" sz="110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3-패키지(Orchestration/Inference/Memory Engine) · 공개 IF(KV Locator, CompressionOp) · Tier Topology Model plug-in</a:t>
            </a:r>
            <a:endParaRPr lang="en-US" sz="1100" dirty="0"/>
          </a:p>
          <a:p>
            <a:pPr algn="l" marL="177800" indent="-177800">
              <a:spcAft>
                <a:spcPts val="600"/>
              </a:spcAft>
              <a:buSzPct val="100000"/>
              <a:buChar char="◆"/>
            </a:pPr>
            <a:r>
              <a:rPr lang="en-US" sz="110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설계결정(DP) 도출·평가</a:t>
            </a:r>
            <a:endParaRPr lang="en-US" sz="1100" dirty="0"/>
          </a:p>
          <a:p>
            <a:pPr algn="l" marL="177800" indent="-177800">
              <a:spcAft>
                <a:spcPts val="600"/>
              </a:spcAft>
              <a:buSzPct val="100000"/>
              <a:buChar char="◆"/>
            </a:pPr>
            <a:r>
              <a:rPr lang="en-US" sz="110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DP1 실행구조(vLLM 확장 vs 독립) · DP2 KV 관리주체(중앙 vs 자율) — 후보·QA평가·ADR</a:t>
            </a:r>
            <a:endParaRPr lang="en-US" sz="1100" dirty="0"/>
          </a:p>
          <a:p>
            <a:pPr algn="l" marL="177800" indent="-177800">
              <a:spcAft>
                <a:spcPts val="600"/>
              </a:spcAft>
              <a:buSzPct val="100000"/>
              <a:buChar char="◆"/>
            </a:pPr>
            <a:r>
              <a:rPr lang="en-US" sz="110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E2E 실행경로 확보·정량 성능 증명</a:t>
            </a:r>
            <a:endParaRPr lang="en-US" sz="1100" dirty="0"/>
          </a:p>
          <a:p>
            <a:pPr algn="l" marL="177800" indent="-177800">
              <a:spcAft>
                <a:spcPts val="600"/>
              </a:spcAft>
              <a:buSzPct val="100000"/>
              <a:buChar char="◆"/>
            </a:pPr>
            <a:r>
              <a:rPr lang="en-US" sz="110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RAG/multiturn/agent memory 워크로드, GPU HBM baseline 대비 goodput@SLO·유효 KV capacity·품질 bound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8155229" y="1078992"/>
            <a:ext cx="3716426" cy="310896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26" name="Text 24"/>
          <p:cNvSpPr/>
          <p:nvPr/>
        </p:nvSpPr>
        <p:spPr>
          <a:xfrm>
            <a:off x="8200949" y="1078992"/>
            <a:ext cx="362498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범위 외 (Out of Scope)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8200949" y="1527048"/>
            <a:ext cx="3624986" cy="4919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600"/>
              </a:spcAft>
              <a:buSzPct val="100000"/>
              <a:buChar char="◆"/>
            </a:pPr>
            <a:r>
              <a:rPr lang="en-US" sz="110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메모리 디바이스 HW 설계 자체 — Topology Model 파라미터(대역폭·용량·지연)로만 취급</a:t>
            </a:r>
            <a:endParaRPr lang="en-US" sz="1100" dirty="0"/>
          </a:p>
          <a:p>
            <a:pPr algn="l" marL="177800" indent="-177800">
              <a:spcAft>
                <a:spcPts val="600"/>
              </a:spcAft>
              <a:buSzPct val="100000"/>
              <a:buChar char="◆"/>
            </a:pPr>
            <a:r>
              <a:rPr lang="en-US" sz="110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 학습·압축 알고리즘 자체 개발 — 기존 기법 채용, 조율 구조·정책 위치를 다룸</a:t>
            </a:r>
            <a:endParaRPr lang="en-US" sz="1100" dirty="0"/>
          </a:p>
          <a:p>
            <a:pPr algn="l" marL="177800" indent="-177800">
              <a:spcAft>
                <a:spcPts val="600"/>
              </a:spcAft>
              <a:buSzPct val="100000"/>
              <a:buChar char="◆"/>
            </a:pPr>
            <a:r>
              <a:rPr lang="en-US" sz="110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클러스터 인프라 provisioning — desired state 산출까지가 런타임 책임, 집행은 인프라 계층 위임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algun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algun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2026-07-14T20:49:22Z</dcterms:created>
  <dcterms:modified xsi:type="dcterms:W3CDTF">2026-07-14T20:49:22Z</dcterms:modified>
</cp:coreProperties>
</file>