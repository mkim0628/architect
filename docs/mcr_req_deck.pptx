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수집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16775" y="6309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원시 요구사항(VOC) R-01~R-23 전량 : 분석 문서 부록 A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1060704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Stakeholder 인터뷰·QAW</a:t>
            </a:r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자체 실측·문헌 조사 병행 → 원시 요구사항 </a:t>
            </a:r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23건(유효 22건)</a:t>
            </a:r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1408176"/>
            <a:ext cx="11231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연구 과제 성격상 서비스 운영 조직은 stakeholder 아님 — 서빙 SLO·워크로드 요구는 업계 벤치마크·문헌 + 자체 실측으로 대체 수집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1792224"/>
            <a:ext cx="672084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1792224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Stakeholder 및 역할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76272"/>
          <a:ext cx="6720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7548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Stakeholder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· 주요 관심사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사업부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(제품기획·디바이스 설계)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발주 — memory-centric 제품군 로드맵 보유. 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E2E 관점의 제품 가치 입증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고객 제공 레퍼런스 스택 확보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Memory-centric AI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 (MCAS) 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타겟 메모리 시스템 성능의 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시뮬레이션·예측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예측치가 실측(MCR)에서 재현되는지, tier 조합별 효용 정량화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public LLM 응용·모델의 사용자 — 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워크로드(long-context RAG · multiturn · agent)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요구 특성 제공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임원 (랩장)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승인·자원 배정 — 타겟 메모리 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효용성의 E2E 정량 입증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(baseline 대비) · 일정 · 지속 유지 가능성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 개발·유지보수, 자체 벤치 실측 — 개발 비용, 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upstream framework 추종·교체 부담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코어/모듈 경계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(잠재)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레퍼런스 스택으로 시스템을 구축할 외부 수요처 — 생태계 호환·실측 증거·확장성 (도입 전제 조건만 수집)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(간접) 오픈소스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커뮤니티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vLLM·SGLang·LMCache 등 진화 주체 — 요구는 없으나 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릴리스 주기·인터페이스 변화가 제약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으로 작용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7269480" y="1792224"/>
            <a:ext cx="460217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0" y="1792224"/>
            <a:ext cx="4510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수집 방법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2176272"/>
          <a:ext cx="460217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72765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Stakeholder 인터뷰·VOC 접수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원시 요구사항 R-01~R-23 (부록 A)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QAW (Quality Attribute Workshop)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요구의 시나리오화 — Utility Tree의 시나리오 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벤치마크 실측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decode 대기 70–85%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(근거 A) — QA1 baseline 정의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문헌·업계 벤치마크 조사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MLPerf · DistServe · KIVI · KVQuant · vLLM · FlexGen — QA 정량 bin의 SLO 앵커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upstream 로드맵·릴리스 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vLLM 정규 릴리스 2주 케이던스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(근거 B) — QA4·QA5 bin 근거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 시스템 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LMCache 등 KV offloading 계층 — DP1 후보 발굴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정제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65415" y="6309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분류분 10건은 Utility Tree로(P8)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1060704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수집 요구사항 23건(유효 22건) → </a:t>
            </a:r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 9건 · 품질 요구(QA 후보) 10건 · 제약사항 2건</a:t>
            </a:r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1408176"/>
            <a:ext cx="11231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정제 규칙: ① 중복 병합 ② 검증 가능한 문장으로 재기술 ③ 기능(FR)/품질(QA 후보)/제약(C) 3분류 ④ 범위 밖 기각(사유 기록)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1792224"/>
            <a:ext cx="6903720" cy="2743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1792224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 (FR)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21408"/>
          <a:ext cx="69037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078992"/>
                <a:gridCol w="532180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워크로드 서빙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long-context RAG · multiturn · agent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요청을 admission→retrieval→배칭→실행→응답으로 E2E 처리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이종 tier KV 배치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KV를 GPU HBM 밖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이종 tier(CXL·DRAM·HBF·SSD)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 두고 디바이스 특성 인지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배치·이동(승격/강등)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압축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양자화·토큰 eviction 등 압축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을 KV에 적용·해제 (자체 압축 알고리즘 개발 포함)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영속·재사용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KV를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세션·사용자 단위로 영속화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하고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P/D 분리 실행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prefill/decode 분리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구성에서 인스턴스 간 KV 전송 포함 추론 실행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요청별 SLO 정책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요청별 SLO·품질 예산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기준으로 배치×압축×재사용 수준 차등 조율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근접연산 오프로드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PIM/PNM으로 연산 오프로드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(예: 압축 연산, RAG 검색) 실행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디바이스 plug-in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메모리 디바이스를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Topology Model 파라미터로 등록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 지원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FR-09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모니터링·P/D 조정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HW·SLO telemetry 수집,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N 내 P/D 비율(a:b) 자동 조정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(N 조정은 범위 외)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320040" y="4443984"/>
            <a:ext cx="6903720" cy="2743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4443984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제약사항 (C)</a:t>
            </a:r>
            <a:endParaRPr lang="en-US" sz="12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773168"/>
          <a:ext cx="69037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078992"/>
                <a:gridCol w="532180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제약사항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디바이스 불변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디바이스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HW 설계는 변경 불가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Tier Topology Model 파라미터(대역폭·용량·지연)로만 취급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Transformer 모델 한정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최적화 대상은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cache를 갖는 Transformer 기반 모델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압축·재사용이 KV cache 전제,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탈Transformer(순수 SSM 등)는 범위 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7452360" y="1792224"/>
            <a:ext cx="4419295" cy="2743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9" name="Text 25"/>
          <p:cNvSpPr/>
          <p:nvPr/>
        </p:nvSpPr>
        <p:spPr>
          <a:xfrm>
            <a:off x="7498080" y="1792224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경계 · Use-case (UC-01~11)</a:t>
            </a:r>
            <a:endParaRPr lang="en-US" sz="1200" dirty="0"/>
          </a:p>
        </p:txBody>
      </p:sp>
      <p:pic>
        <p:nvPicPr>
          <p:cNvPr id="30" name="Image 0" descr="/home/user/architect/docs/mcr_assets/req_usec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2121408"/>
            <a:ext cx="4419295" cy="399592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452360" y="6153912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FR이 ≥ 1개 UC에 매핑 ✓</a:t>
            </a:r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(FR 기반 UC 11건 — 서빙 3 · KV 관리 3 · P/D 1 · 정책 1 · 오프로드 1 · plug-in 1 · 모니터링 1)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→ QA 도출 과정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SEI 계열 표준 5단계: </a:t>
            </a:r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발화 10건 → 시나리오화 → Utility Tree → QA 6건 선정·정량화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0040" y="1554480"/>
            <a:ext cx="2178649" cy="384048"/>
          </a:xfrm>
          <a:prstGeom prst="homePlate">
            <a:avLst/>
          </a:prstGeom>
          <a:solidFill>
            <a:srgbClr val="4E7C3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554480"/>
            <a:ext cx="19226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분류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1993392"/>
            <a:ext cx="2178649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029968"/>
            <a:ext cx="20323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 22건을 기능(FR) /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품질(QA 후보) / 제약(C)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3분류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393192" y="2962656"/>
            <a:ext cx="20323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SEI QAW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(CMU/SEI-2003-TR-016)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63281" y="1554480"/>
            <a:ext cx="2178649" cy="384048"/>
          </a:xfrm>
          <a:prstGeom prst="homePlate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2709001" y="1554480"/>
            <a:ext cx="19226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시나리오화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63281" y="1993392"/>
            <a:ext cx="2178649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36433" y="2029968"/>
            <a:ext cx="20323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발화를 자극→환경→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응답→응답 측정 구조의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 시나리오로 재기술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2736433" y="2962656"/>
            <a:ext cx="20323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6-part QA Scenario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(SW Arch. in Practice)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06523" y="1554480"/>
            <a:ext cx="2178649" cy="384048"/>
          </a:xfrm>
          <a:prstGeom prst="homePlate">
            <a:avLst/>
          </a:prstGeom>
          <a:solidFill>
            <a:srgbClr val="4E7C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52243" y="1554480"/>
            <a:ext cx="19226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명명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06523" y="1993392"/>
            <a:ext cx="2178649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9675" y="2029968"/>
            <a:ext cx="20323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시나리오를 표준 품질속성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어휘로 명명 (Performance,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Modifiability, …)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5079675" y="2962656"/>
            <a:ext cx="20323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ISO/IEC 25010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SAiP 분류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349764" y="1554480"/>
            <a:ext cx="2178649" cy="384048"/>
          </a:xfrm>
          <a:prstGeom prst="homePlate">
            <a:avLst/>
          </a:prstGeom>
          <a:solidFill>
            <a:srgbClr val="1F3864"/>
          </a:solidFill>
          <a:ln/>
        </p:spPr>
      </p:sp>
      <p:sp>
        <p:nvSpPr>
          <p:cNvPr id="36" name="Text 34"/>
          <p:cNvSpPr/>
          <p:nvPr/>
        </p:nvSpPr>
        <p:spPr>
          <a:xfrm>
            <a:off x="7395484" y="1554480"/>
            <a:ext cx="19226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우선순위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49764" y="1993392"/>
            <a:ext cx="2178649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22916" y="2029968"/>
            <a:ext cx="20323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시나리오마다 (사업 중요도,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 난이도) 2축 평가 —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역할(목표&gt;gate&gt;수단) tie-break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7422916" y="2962656"/>
            <a:ext cx="20323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ATAM Utility Tree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(CMU/SEI-2000-TR-004)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693006" y="1554480"/>
            <a:ext cx="2178649" cy="384048"/>
          </a:xfrm>
          <a:prstGeom prst="homePlate">
            <a:avLst/>
          </a:prstGeom>
          <a:solidFill>
            <a:srgbClr val="4E7C3A"/>
          </a:solidFill>
          <a:ln/>
        </p:spPr>
      </p:sp>
      <p:sp>
        <p:nvSpPr>
          <p:cNvPr id="41" name="Text 39"/>
          <p:cNvSpPr/>
          <p:nvPr/>
        </p:nvSpPr>
        <p:spPr>
          <a:xfrm>
            <a:off x="9738726" y="1554480"/>
            <a:ext cx="19226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선정·정량화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93006" y="1993392"/>
            <a:ext cx="2178649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66158" y="2029968"/>
            <a:ext cx="20323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6건을 ASR로 선정,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[측정]을 문헌 앵커 기반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bin으로 정제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9766158" y="2962656"/>
            <a:ext cx="20323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 경계마다 근거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A(실측)/B(문헌)/C(논증)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040" y="3639312"/>
            <a:ext cx="11551615" cy="292608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3639312"/>
            <a:ext cx="11460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QA별 도출 체인 — VOC에서 정량 bin까지 4단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365760" y="4041648"/>
            <a:ext cx="4069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 질문: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할 수 있어야(기능) / 얼마나 잘(품질) / 선택지를 지우는가(제약)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원칙: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"빠르면 좋겠다"는 QA가 아니다 — 측정 가능한 response measure가 붙은 시나리오만 Utility Tree에 올림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행에 [측정: 지표+baseline]이 있고, 그 수치마다 출처(A/B/C 등급)가 있다</a:t>
            </a:r>
            <a:endParaRPr lang="en-US" sz="950" dirty="0"/>
          </a:p>
        </p:txBody>
      </p:sp>
      <p:pic>
        <p:nvPicPr>
          <p:cNvPr id="48" name="Image 0" descr="/home/user/architect/docs/mcr_assets/req_qa_ch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4023360"/>
            <a:ext cx="7208215" cy="2368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Utility Tree 활용한 ASR 선정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65415" y="6309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도출 논리·bin 근거 전문 : QA 도출/정의 문서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1042416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QA 후보 10건을 (중요도, 난이도) 2축 평가 → 상위 </a:t>
            </a:r>
            <a:pPr algn="l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6건을 ASR로 선정</a:t>
            </a:r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(우선순위: 중요도 → 역할(목표&gt;gate&gt;수단) → 난이도 → 과제 본질 축)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63040"/>
          <a:ext cx="115516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207008"/>
                <a:gridCol w="1828800"/>
                <a:gridCol w="5843016"/>
                <a:gridCol w="548640"/>
                <a:gridCol w="548640"/>
                <a:gridCol w="640080"/>
                <a:gridCol w="38404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Refinement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Scenario  [측정: 지표 + baseline]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중요도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난이도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우선순위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Performance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SLO 유지 하 최대 처리율 (goodput@SLO)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 SLO(TTFT p99 ≤ 450ms · TPOT p99 ≤ 200ms) attainment ≥ 90%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를 유지하는 최대 처리율 — 대표 워크로드, 동일 HW·동일 실행 구성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baseline 대비 goodput@SLO 배율 — baseline = GPU HBM 단일 tier(타겟 메모리 순증분 분리 측정)]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Accuracy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압축·재사용 품질 저하 bound — QA-01·03의 전제(gate)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압축(양자화·토큰 eviction)·재사용 활성화 상태로 long-context 벤치(LongBench) 수행 —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품질은 지키는 제약, bound 위반 시 성능·용량 수치 무효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비압축(FP16 KV)·비재사용 대비 ΔF1(%p) · 보조 ΔPPL · bound 집행 단위(요청별/전역) 판정]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Resource Efficiency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KV 용량 (원본 환산 동시 수용량)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QA-02 품질 bound를 지키는 조건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에서 동시 수용 KV 총량을 원본 환산으로 측정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Σ_tier(용량×평균 압축률×KV 가용 비율) ÷ 물리 HBM 용량 — baseline = HBM 단일·비압축(1.0×)]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Modifiability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디바이스·KV 구조 변화 수용성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tier(HBM4/CMM-DC/HBF) 추가와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구조 영향 모델 변화(GQA·MLA·linear attention)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수용 실험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신규/변경 모듈 수 · 코어 변경 LOC 비율 · IF 시그니처 변경 건수 · 수용 리드타임 — baseline = 현행 코드베이스]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Adaptability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서빙 framework 교체 적응성 (vLLM → SGLang 등)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framework 교체 시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Memory Engine·정책 계층 보존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결합부만 교체되는지 판정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변경 코드 비율(%) · 전환 공수(인월) — baseline = 현 framework(vLLM) 결합 구조]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Maintainability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개발·운영 비용 (지속 유지 가능성)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구축부터 지속 유지까지 비용 산정 — 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 선택(DP1)이 비용을 한 자릿수 이상 가름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초기 구축 인월(E2E 벤치 완주 기준) · 연간 유지보수 FTE — baseline = DP1 후보별 비용 모델]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Availability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영속 KV 자산의 유실 복구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장애로 영속 KV 일부 유실 시 재계산(re-prefill)으로 세션 복구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세션 손실 건수 · 복구 비용(goodput 저하) — baseline = 무장애 운전]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Security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간 KV 재사용 격리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 사용자 요청의 내 KV 블록 재사용 시도 차단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cross-user KV 재사용 발생 건수(목표 0) — 재사용 범위 = 사용자/세션 내]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QA-09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Interoperability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서빙 생태계 호환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vLLM 기반 스택 조직이 응용 수정 없이 MCR로 전환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서빙 API 호환 여부 · 응용 코드 수정 건수]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QA-10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Scalability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클러스터 수평 확장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추가 시 goodput이 선형에 가깝게 확장</a:t>
                      </a:r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[측정: N노드 goodput ÷ (N × 단일 노드 goodput) — baseline = 단일 노드]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320040" y="6062472"/>
            <a:ext cx="11551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미선정 사유(전건 기록)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Availability — KV는 재계산 가능한 파생 데이터, 유실은 성능 문제로 환원(QA-01에 흡수) · Security — 실증 단계 재사용 범위를 사용자/세션 내로 한정(정책 제약으로 완화) · Interoperability — 독립 QA가 아닌 DP1의 결정 변수로 흡수 · Scalability — 고정 N 테스트베드 전제로 N 조정이 범위 외(중요도 L)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QA 정의 및 평가 기준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31175" y="630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bin·근거 전문 : QA 정의 문서(v0.7)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1042416"/>
            <a:ext cx="11551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선정 QA 6건의 정의·측정·정량 bin — </a:t>
            </a:r>
            <a:pPr algn="l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별점(★)은 문헌 앵커 기반 정량 bin으로만 판정</a:t>
            </a:r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(QA1~QA4는 번호 = 우선순위)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63040"/>
          <a:ext cx="11551615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417320"/>
                <a:gridCol w="2377440"/>
                <a:gridCol w="3429000"/>
                <a:gridCol w="2843784"/>
                <a:gridCol w="822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우선순위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Refinement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지표 · baseline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★★★ 기준 (정량 bin)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중요도/난이도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QA1
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Performance (추론 성능)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SLO 유지 하 최대 처리율 (goodput@SLO) — TTFT p99 ≤ 450ms · TPOT p99 ≤ 200ms · attainment ≥ 90%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 대비 goodput@SLO 배율 — baseline = 동일 HW의 GPU HBM 단일 tier 구성 (타겟 메모리 순증분 분리)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≥ 1.5×  (★★☆ 1.1–1.5× · ★☆☆ &lt; 1.1×)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/ 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QA2
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Accuracy (응답 품질)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압축·재사용 품질 저하 bound — QA1·QA3 수치의 유효 전제(gate)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ΔF1(%p, LongBench) · 보조 ΔPPL(Wikitext-2) — baseline = 비압축(FP16 KV)·비재사용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ΔF1 ≤ 1%p · 요청별 bound 집행  (★★☆ ≤ 2%p·전역)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/ 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QA3
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Resource Efficiency (메모리 효율)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KV 용량 — 원본 환산 동시 수용량 (QA2 bound 준수 조건에서만 인정)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Σ_tier(용량×압축률×가용 비율) ÷ 물리 HBM — baseline = HBM 단일·비압축(1.0×)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≥ 3×  (★★☆ 1.5–3× · ★☆☆ &lt; 1.5×)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/ 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QA4
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Modifiability (확장성·진화성)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메모리 디바이스·KV 구조 변화(GQA·MLA·linear attention) 수용 용이성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신규/변경 모듈 수 · 코어 변경 LOC 비율 · 공개 IF 시그니처 변경 건수 · 수용 리드타임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어댑터 모듈 ≤ 1 · 코어 LOC 0 · 시그니처 0건 · ≤ upstream + 2주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/ 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QA6
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Adaptability (framework 적응성)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서빙 framework 교체(vLLM → SGLang 등) 수용 비용 — 종속 위험의 크기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framework 결합 코드 비율(%) · 교체 시 코어 변경 LOC · 전환 공수(인월)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결합 코드 어댑터 격리(≤ 10%) · 코어 변경 0 · 전환 ≤ 3인월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/ 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QA5
</a:t>
                      </a:r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Maintainability (유지보수성)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구축(E2E 벤치 완주) + 지속 유지보수 비용 — DP1 선택이 한 자릿수 이상 가름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구축 인월(person-month) · 연간 유지보수 FTE(rebase·추종·회귀 검증 포함)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≤ 6인월 · 유지 ≤ 0.5 FTE  (★☆☆ &gt; 24인월/2 FTE)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/ 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365760" y="5577840"/>
            <a:ext cx="11460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8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공통 규칙: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3단계(★★★/★★☆/★☆☆) — bin 판정 근거 없는 별점 무효 · 근거 등급 A(자체 실측)/B(문헌)/C(구조 논증) 병기 · F(forecast)/M(measured) 표기 · 설계 상한과 도달 리스크 분리 표기</a:t>
            </a:r>
            <a:endParaRPr lang="en-US" sz="8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8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 앵커 문헌: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MLPerf(SLO·99% 정확도) · DistServe(goodput 정의) · KIVI(2-bit 실측) · KVQuant(ΔPPL) · H2O·SnapKV(eviction) · LongBench(F1) · vLLM RELEASE(2주) · SGLang(대안 framework) + 사내 40% 기준(A) · 자체 실측 decode 대기 70–85%(A)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2026-07-19T05:19:06Z</dcterms:created>
  <dcterms:modified xsi:type="dcterms:W3CDTF">2026-07-19T05:19:06Z</dcterms:modified>
</cp:coreProperties>
</file>