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정의 → QA 도출 ① — QA1 성능(TTFT)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33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1042416"/>
            <a:ext cx="115516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논문 분석 관찰(정량 인과) → 문제 정의 → 요구사항(FR) → </a:t>
            </a:r>
            <a:pPr algn="l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목표(QA) 도출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0040" y="1517904"/>
            <a:ext cx="11551615" cy="2084832"/>
          </a:xfrm>
          <a:prstGeom prst="rect">
            <a:avLst/>
          </a:prstGeom>
          <a:solidFill>
            <a:srgbClr val="FBFCFE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" y="1627632"/>
            <a:ext cx="11332159" cy="310896"/>
          </a:xfrm>
          <a:prstGeom prst="roundRect">
            <a:avLst>
              <a:gd name="adj" fmla="val 17647"/>
            </a:avLst>
          </a:prstGeom>
          <a:solidFill>
            <a:srgbClr val="2E5496"/>
          </a:solidFill>
          <a:ln/>
        </p:spPr>
      </p:sp>
      <p:sp>
        <p:nvSpPr>
          <p:cNvPr id="22" name="Text 20"/>
          <p:cNvSpPr/>
          <p:nvPr/>
        </p:nvSpPr>
        <p:spPr>
          <a:xfrm>
            <a:off x="429768" y="1627632"/>
            <a:ext cx="113321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논문 분석 — 관찰된 정량 인과 (KV cache 재사용 ⇒ TTFT)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2084832"/>
            <a:ext cx="2453564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2E54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" y="2130552"/>
            <a:ext cx="23438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2E5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길이 ↑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long-context RAG·multiturn·agent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029636" y="2368296"/>
            <a:ext cx="310896" cy="219456"/>
          </a:xfrm>
          <a:prstGeom prst="rightArrow">
            <a:avLst/>
          </a:prstGeom>
          <a:solidFill>
            <a:srgbClr val="1F3864"/>
          </a:solidFill>
          <a:ln/>
        </p:spPr>
      </p:sp>
      <p:sp>
        <p:nvSpPr>
          <p:cNvPr id="26" name="Shape 24"/>
          <p:cNvSpPr/>
          <p:nvPr/>
        </p:nvSpPr>
        <p:spPr>
          <a:xfrm>
            <a:off x="3413684" y="2084832"/>
            <a:ext cx="2453564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B340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68548" y="2130552"/>
            <a:ext cx="23438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cache 크기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 증가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HBM 용량 초과 (병목)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40400" y="2368296"/>
            <a:ext cx="310896" cy="219456"/>
          </a:xfrm>
          <a:prstGeom prst="rightArrow">
            <a:avLst/>
          </a:prstGeom>
          <a:solidFill>
            <a:srgbClr val="1F3864"/>
          </a:solidFill>
          <a:ln/>
        </p:spPr>
      </p:sp>
      <p:sp>
        <p:nvSpPr>
          <p:cNvPr id="29" name="Shape 27"/>
          <p:cNvSpPr/>
          <p:nvPr/>
        </p:nvSpPr>
        <p:spPr>
          <a:xfrm>
            <a:off x="6324448" y="2084832"/>
            <a:ext cx="2453564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4E7C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79312" y="2130552"/>
            <a:ext cx="23438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4E7C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cache 재사용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요청 re-prefill(재계산) 회피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851163" y="2368296"/>
            <a:ext cx="310896" cy="219456"/>
          </a:xfrm>
          <a:prstGeom prst="rightArrow">
            <a:avLst/>
          </a:prstGeom>
          <a:solidFill>
            <a:srgbClr val="1F3864"/>
          </a:solidFill>
          <a:ln/>
        </p:spPr>
      </p:sp>
      <p:sp>
        <p:nvSpPr>
          <p:cNvPr id="32" name="Shape 30"/>
          <p:cNvSpPr/>
          <p:nvPr/>
        </p:nvSpPr>
        <p:spPr>
          <a:xfrm>
            <a:off x="9235211" y="2084832"/>
            <a:ext cx="2453564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3C5F2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90075" y="2130552"/>
            <a:ext cx="23438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3C5F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재사용률 ↑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3C5F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⇒ TTFT ↓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토큰 지연 단축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3017520"/>
            <a:ext cx="11185855" cy="420624"/>
          </a:xfrm>
          <a:prstGeom prst="roundRect">
            <a:avLst>
              <a:gd name="adj" fmla="val 10870"/>
            </a:avLst>
          </a:prstGeom>
          <a:solidFill>
            <a:srgbClr val="EAF3E6"/>
          </a:solidFill>
          <a:ln w="12700">
            <a:solidFill>
              <a:srgbClr val="3C5F2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" y="3017520"/>
            <a:ext cx="109663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C5F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과제 연구 방법 — </a:t>
            </a:r>
            <a:pPr algn="ctr"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tiered memory로 KV cache를 적절히 </a:t>
            </a:r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offloading</a:t>
            </a:r>
            <a:pPr algn="ctr"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(HBM→하위 tier로 내려 용량 확보) · </a:t>
            </a:r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prefetching</a:t>
            </a:r>
            <a:pPr algn="ctr"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(재사용 직전 상위 tier로 앞당김) </a:t>
            </a:r>
            <a:pPr algn="ctr" indent="0" marL="0">
              <a:buNone/>
            </a:pPr>
            <a:r>
              <a:rPr lang="en-US" sz="1150" b="1" dirty="0">
                <a:solidFill>
                  <a:srgbClr val="3C5F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하여 재사용률을 높인다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20040" y="3785616"/>
            <a:ext cx="3545738" cy="2203704"/>
          </a:xfrm>
          <a:prstGeom prst="rect">
            <a:avLst/>
          </a:prstGeom>
          <a:solidFill>
            <a:srgbClr val="FBF3EE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" y="3877056"/>
            <a:ext cx="3362858" cy="310896"/>
          </a:xfrm>
          <a:prstGeom prst="roundRect">
            <a:avLst>
              <a:gd name="adj" fmla="val 17647"/>
            </a:avLst>
          </a:prstGeom>
          <a:solidFill>
            <a:srgbClr val="2E5496"/>
          </a:solidFill>
          <a:ln/>
        </p:spPr>
      </p:sp>
      <p:sp>
        <p:nvSpPr>
          <p:cNvPr id="38" name="Text 36"/>
          <p:cNvSpPr/>
          <p:nvPr/>
        </p:nvSpPr>
        <p:spPr>
          <a:xfrm>
            <a:off x="411480" y="3877056"/>
            <a:ext cx="33628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문제 정의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84632" y="4297680"/>
            <a:ext cx="3234842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cache가 HBM 용량을 넘어 지속 증가 — 재사용에 필요한 저장·조회 공간이 부족하다</a:t>
            </a:r>
            <a:endParaRPr lang="en-US" sz="10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 실패 시 매 요청 전체 re-prefill → TTFT 폭증(장문일수록 심화)</a:t>
            </a:r>
            <a:endParaRPr lang="en-US" sz="10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00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긴장: 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용량 한계 ↔ 재사용을 위한 상주 필요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322978" y="3785616"/>
            <a:ext cx="3545738" cy="2203704"/>
          </a:xfrm>
          <a:prstGeom prst="rect">
            <a:avLst/>
          </a:prstGeom>
          <a:solidFill>
            <a:srgbClr val="EAF1FB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14418" y="3877056"/>
            <a:ext cx="3362858" cy="310896"/>
          </a:xfrm>
          <a:prstGeom prst="roundRect">
            <a:avLst>
              <a:gd name="adj" fmla="val 17647"/>
            </a:avLst>
          </a:prstGeom>
          <a:solidFill>
            <a:srgbClr val="2E5496"/>
          </a:solidFill>
          <a:ln/>
        </p:spPr>
      </p:sp>
      <p:sp>
        <p:nvSpPr>
          <p:cNvPr id="42" name="Text 40"/>
          <p:cNvSpPr/>
          <p:nvPr/>
        </p:nvSpPr>
        <p:spPr>
          <a:xfrm>
            <a:off x="4414418" y="3877056"/>
            <a:ext cx="33628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도출 요구사항 (FR)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487570" y="4297680"/>
            <a:ext cx="3234842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FR-04 KV 영속·재사용</a:t>
            </a:r>
            <a:pPr algn="l" indent="0" marL="0">
              <a:spcAft>
                <a:spcPts val="600"/>
              </a:spcAft>
              <a:buNone/>
            </a:pPr>
            <a:endParaRPr lang="en-US" sz="10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93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세션·사용자 단위로 KV를 영속화하고 재사용</a:t>
            </a:r>
            <a:endParaRPr lang="en-US" sz="10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FR-02 이종 tier KV 배치</a:t>
            </a:r>
            <a:pPr algn="l" indent="0" marL="0">
              <a:spcAft>
                <a:spcPts val="600"/>
              </a:spcAft>
              <a:buNone/>
            </a:pPr>
            <a:endParaRPr lang="en-US" sz="10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93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offloading·prefetching으로 재사용률을 높이는 메커니즘</a:t>
            </a:r>
            <a:endParaRPr lang="en-US" sz="10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3C5F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재사용률↑ = 재계산 회피 = TTFT↓의 실현 수단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325917" y="3785616"/>
            <a:ext cx="3545738" cy="2203704"/>
          </a:xfrm>
          <a:prstGeom prst="rect">
            <a:avLst/>
          </a:prstGeom>
          <a:solidFill>
            <a:srgbClr val="EAF3E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417357" y="3877056"/>
            <a:ext cx="3362858" cy="310896"/>
          </a:xfrm>
          <a:prstGeom prst="roundRect">
            <a:avLst>
              <a:gd name="adj" fmla="val 17647"/>
            </a:avLst>
          </a:prstGeom>
          <a:solidFill>
            <a:srgbClr val="2E5496"/>
          </a:solidFill>
          <a:ln/>
        </p:spPr>
      </p:sp>
      <p:sp>
        <p:nvSpPr>
          <p:cNvPr id="46" name="Text 44"/>
          <p:cNvSpPr/>
          <p:nvPr/>
        </p:nvSpPr>
        <p:spPr>
          <a:xfrm>
            <a:off x="8417357" y="3877056"/>
            <a:ext cx="33628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품질 목표 (QA)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8490509" y="4261104"/>
            <a:ext cx="32348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C5F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Performance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TTFT 단축 (prefill 축) — 지표: TTFT 단축 배율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72221" y="4791456"/>
          <a:ext cx="325313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29301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8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정량 목표 (Exit Criteria)</a:t>
                      </a:r>
                      <a:endParaRPr lang="en-US" sz="8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 ★★★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TTFT ≥ 2×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(평균·p99 병행)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baseline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GPU HBM 단일 tier (순증분 분리)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CacheBlend TTFT 2.2–3.3×↓ (B)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" name="Shape 46"/>
          <p:cNvSpPr/>
          <p:nvPr/>
        </p:nvSpPr>
        <p:spPr>
          <a:xfrm>
            <a:off x="3920642" y="4741164"/>
            <a:ext cx="347472" cy="292608"/>
          </a:xfrm>
          <a:prstGeom prst="rightArrow">
            <a:avLst/>
          </a:prstGeom>
          <a:solidFill>
            <a:srgbClr val="4E7C3A"/>
          </a:solidFill>
          <a:ln/>
        </p:spPr>
      </p:sp>
      <p:sp>
        <p:nvSpPr>
          <p:cNvPr id="50" name="Shape 47"/>
          <p:cNvSpPr/>
          <p:nvPr/>
        </p:nvSpPr>
        <p:spPr>
          <a:xfrm>
            <a:off x="7923581" y="4741164"/>
            <a:ext cx="347472" cy="292608"/>
          </a:xfrm>
          <a:prstGeom prst="rightArrow">
            <a:avLst/>
          </a:prstGeom>
          <a:solidFill>
            <a:srgbClr val="4E7C3A"/>
          </a:solidFill>
          <a:ln/>
        </p:spPr>
      </p:sp>
      <p:sp>
        <p:nvSpPr>
          <p:cNvPr id="51" name="Text 48"/>
          <p:cNvSpPr/>
          <p:nvPr/>
        </p:nvSpPr>
        <p:spPr>
          <a:xfrm>
            <a:off x="320040" y="6163056"/>
            <a:ext cx="11551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재사용률 ↑ = 재계산(re-prefill) 회피 = TTFT ↓ — </a:t>
            </a:r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tiered memory offloading·prefetching이 그 메커니즘 → QA1 도출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2026-07-19T14:45:48Z</dcterms:created>
  <dcterms:modified xsi:type="dcterms:W3CDTF">2026-07-19T14:45:48Z</dcterms:modified>
</cp:coreProperties>
</file>