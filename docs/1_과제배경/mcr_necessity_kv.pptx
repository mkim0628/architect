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필요성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5559552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— 물리 병목: KV cache가 용량·대역폭을 동시에 압박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82512" y="1078992"/>
            <a:ext cx="5489143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1078992"/>
            <a:ext cx="53977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목표 — 자원 효율로 AI 추론 성능 향상 (MCR 1단계)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1499616"/>
            <a:ext cx="2715768" cy="427024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1554480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— KV가 HBM을 넘는다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" y="1883664"/>
            <a:ext cx="2532888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◆"/>
            </a:pPr>
            <a:r>
              <a:rPr lang="en-US" sz="9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∝ 컨텍스트 길이 × 동시 세션 수 — 32k 토큰 1세션 ≈ 10.5 GB (토큰당 320 KB, Llama-2-70B)</a:t>
            </a:r>
            <a:endParaRPr lang="en-US" sz="920" dirty="0"/>
          </a:p>
          <a:p>
            <a:pPr marL="101600" indent="-101600">
              <a:spcAft>
                <a:spcPts val="500"/>
              </a:spcAft>
              <a:buSzPct val="100000"/>
              <a:buChar char="◆"/>
            </a:pPr>
            <a:r>
              <a:rPr lang="en-US" sz="9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아니라 KV가 메모리를 지배 — 컨텍스트·세션이 늘수록 선형 증가</a:t>
            </a:r>
            <a:endParaRPr lang="en-US" sz="920" dirty="0"/>
          </a:p>
          <a:p>
            <a:pPr marL="101600" indent="-101600">
              <a:spcAft>
                <a:spcPts val="500"/>
              </a:spcAft>
              <a:buSzPct val="100000"/>
              <a:buChar char="◆"/>
            </a:pPr>
            <a:r>
              <a:rPr lang="en-US" sz="92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= batch(동시성)의 상한 = 처리량의 상한</a:t>
            </a:r>
            <a:endParaRPr lang="en-US" sz="920" dirty="0"/>
          </a:p>
          <a:p>
            <a:pPr marL="101600" indent="-101600">
              <a:spcAft>
                <a:spcPts val="500"/>
              </a:spcAft>
              <a:buSzPct val="100000"/>
              <a:buChar char="◆"/>
            </a:pPr>
            <a:r>
              <a:rPr lang="en-US" sz="9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시 대기 또는 preemption·전체 재계산뿐 → 지연·처리량 악화 직결</a:t>
            </a:r>
            <a:endParaRPr lang="en-US" sz="920" dirty="0"/>
          </a:p>
        </p:txBody>
      </p:sp>
      <p:pic>
        <p:nvPicPr>
          <p:cNvPr id="26" name="Image 0" descr="/home/user/architect/docs/mcr_assets/bg_kv_evid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4379976"/>
            <a:ext cx="2496312" cy="129844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163824" y="1499616"/>
            <a:ext cx="2715768" cy="427024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36976" y="1554480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 — 매 토큰 KV 전체를 읽는다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255264" y="1883664"/>
            <a:ext cx="2532888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◆"/>
            </a:pPr>
            <a:r>
              <a:rPr lang="en-US" sz="9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 = memory-bandwidth-bound — decode 대기가 E2E의 70–85%(A), 컨텍스트↑ = 토큰당 지연(TPOT)↑</a:t>
            </a:r>
            <a:endParaRPr lang="en-US" sz="920" dirty="0"/>
          </a:p>
          <a:p>
            <a:pPr marL="101600" indent="-101600">
              <a:spcAft>
                <a:spcPts val="500"/>
              </a:spcAft>
              <a:buSzPct val="100000"/>
              <a:buChar char="◆"/>
            </a:pPr>
            <a:r>
              <a:rPr lang="en-US" sz="92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 포화 시 용량이 남아도 연산기는 유휴 — 처리량 정체</a:t>
            </a:r>
            <a:endParaRPr lang="en-US" sz="920" dirty="0"/>
          </a:p>
          <a:p>
            <a:pPr marL="101600" indent="-101600">
              <a:spcAft>
                <a:spcPts val="500"/>
              </a:spcAft>
              <a:buSzPct val="100000"/>
              <a:buChar char="◆"/>
            </a:pPr>
            <a:r>
              <a:rPr lang="en-US" sz="9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계층 대역폭 계단 ~10×씩 (HBM→DRAM→SSD) — 하위 tier 복원이 재계산보다 느린 역전 구간 존재</a:t>
            </a:r>
            <a:endParaRPr lang="en-US" sz="920" dirty="0"/>
          </a:p>
        </p:txBody>
      </p:sp>
      <p:pic>
        <p:nvPicPr>
          <p:cNvPr id="30" name="Image 1" descr="/home/user/architect/docs/mcr_assets/nec_tier_ladd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73552" y="4379976"/>
            <a:ext cx="2496312" cy="1298448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5879592"/>
            <a:ext cx="5559552" cy="566928"/>
          </a:xfrm>
          <a:prstGeom prst="rect">
            <a:avLst/>
          </a:prstGeom>
          <a:solidFill>
            <a:srgbClr val="EDEFF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11480" y="5879592"/>
            <a:ext cx="5376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구조: </a:t>
            </a:r>
            <a:pPr indent="0" marL="0">
              <a:buNone/>
            </a:pPr>
            <a:r>
              <a:rPr lang="en-US" sz="9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offload로 용량을 풀면 대역폭 계단에 부딪힌다(용량 ↔ 대역폭 트레이드오프) — 두 병목은 따로 풀 수 없고, HW 증설이 아닌 </a:t>
            </a:r>
            <a:pPr indent="0" marL="0">
              <a:buNone/>
            </a:pPr>
            <a:r>
              <a:rPr lang="en-US" sz="96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사용 방식의 개선</a:t>
            </a:r>
            <a:pPr indent="0" marL="0">
              <a:buNone/>
            </a:pPr>
            <a:r>
              <a:rPr lang="en-US" sz="9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요구된다</a:t>
            </a:r>
            <a:endParaRPr lang="en-US" sz="960" dirty="0"/>
          </a:p>
        </p:txBody>
      </p:sp>
      <p:sp>
        <p:nvSpPr>
          <p:cNvPr id="33" name="Shape 29"/>
          <p:cNvSpPr/>
          <p:nvPr/>
        </p:nvSpPr>
        <p:spPr>
          <a:xfrm>
            <a:off x="5934456" y="3826764"/>
            <a:ext cx="393192" cy="292608"/>
          </a:xfrm>
          <a:prstGeom prst="rightArrow">
            <a:avLst/>
          </a:prstGeom>
          <a:solidFill>
            <a:srgbClr val="9AA0A6"/>
          </a:solidFill>
          <a:ln/>
        </p:spPr>
      </p:sp>
      <p:sp>
        <p:nvSpPr>
          <p:cNvPr id="34" name="Shape 30"/>
          <p:cNvSpPr/>
          <p:nvPr/>
        </p:nvSpPr>
        <p:spPr>
          <a:xfrm>
            <a:off x="6382512" y="1499616"/>
            <a:ext cx="5489143" cy="658368"/>
          </a:xfrm>
          <a:prstGeom prst="rect">
            <a:avLst/>
          </a:prstGeom>
          <a:solidFill>
            <a:srgbClr val="F3F7F0"/>
          </a:solidFill>
          <a:ln w="15240">
            <a:solidFill>
              <a:srgbClr val="4E7C3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92240" y="1499616"/>
            <a:ext cx="526968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총괄: </a:t>
            </a:r>
            <a:pPr indent="0" marL="0">
              <a:buNone/>
            </a:pPr>
            <a:r>
              <a:rPr lang="en-US" sz="106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연산기의 불필요한 연산은 줄이고 메모리의 사용성은 높여, 동일 HW에서 AI 추론 성능(지연·처리량)을 향상시킨다</a:t>
            </a:r>
            <a:endParaRPr lang="en-US" sz="1060" dirty="0"/>
          </a:p>
        </p:txBody>
      </p:sp>
      <p:sp>
        <p:nvSpPr>
          <p:cNvPr id="36" name="Shape 32"/>
          <p:cNvSpPr/>
          <p:nvPr/>
        </p:nvSpPr>
        <p:spPr>
          <a:xfrm>
            <a:off x="6382512" y="2249424"/>
            <a:ext cx="5489143" cy="420624"/>
          </a:xfrm>
          <a:prstGeom prst="rect">
            <a:avLst/>
          </a:prstGeom>
          <a:solidFill>
            <a:srgbClr val="FFF2CC"/>
          </a:solidFill>
          <a:ln w="9525">
            <a:solidFill>
              <a:srgbClr val="843C0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92240" y="2249424"/>
            <a:ext cx="526968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총량·이동량 = ① 만드는 횟수 × ② 토큰당 바이트 × ③ 두는 위치·처리 순서</a:t>
            </a:r>
            <a:pPr indent="0" marL="0">
              <a:buNone/>
            </a:pPr>
            <a:r>
              <a:rPr lang="en-US" sz="920" dirty="0">
                <a:solidFill>
                  <a:srgbClr val="843C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공식의 세 인자가 곧 목표 3축</a:t>
            </a:r>
            <a:endParaRPr lang="en-US" sz="940" dirty="0"/>
          </a:p>
        </p:txBody>
      </p:sp>
      <p:sp>
        <p:nvSpPr>
          <p:cNvPr id="38" name="Shape 34"/>
          <p:cNvSpPr/>
          <p:nvPr/>
        </p:nvSpPr>
        <p:spPr>
          <a:xfrm>
            <a:off x="6382512" y="2779776"/>
            <a:ext cx="5489143" cy="1149096"/>
          </a:xfrm>
          <a:prstGeom prst="rect">
            <a:avLst/>
          </a:prstGeom>
          <a:solidFill>
            <a:srgbClr val="F3F7F0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473952" y="2862072"/>
            <a:ext cx="603504" cy="256032"/>
          </a:xfrm>
          <a:prstGeom prst="roundRect">
            <a:avLst>
              <a:gd name="adj" fmla="val 17857"/>
            </a:avLst>
          </a:prstGeom>
          <a:solidFill>
            <a:srgbClr val="4E7C3A"/>
          </a:solidFill>
          <a:ln/>
        </p:spPr>
      </p:sp>
      <p:sp>
        <p:nvSpPr>
          <p:cNvPr id="40" name="Text 36"/>
          <p:cNvSpPr/>
          <p:nvPr/>
        </p:nvSpPr>
        <p:spPr>
          <a:xfrm>
            <a:off x="6473952" y="2862072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1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7187184" y="2834640"/>
            <a:ext cx="4556455" cy="1039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[연산 효율]  이미 계산한 결과를 재활용해 불필요한 재연산을 제거한다  </a:t>
            </a:r>
            <a:pPr indent="0" marL="0">
              <a:spcAft>
                <a:spcPts val="300"/>
              </a:spcAft>
              <a:buNone/>
            </a:pPr>
            <a:r>
              <a:rPr lang="en-US" sz="880" dirty="0">
                <a:solidFill>
                  <a:srgbClr val="843C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(브리지 ① 축소)</a:t>
            </a:r>
            <a:endParaRPr lang="en-US" sz="104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컨텍스트를 매 요청 다시 만드는 연산을 없애 응답 시작 지연을 줄인다</a:t>
            </a:r>
            <a:endParaRPr lang="en-US" sz="1040" dirty="0"/>
          </a:p>
          <a:p>
            <a:pPr indent="0" marL="0">
              <a:buNone/>
            </a:pPr>
            <a:r>
              <a:rPr lang="en-US" sz="92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</a:t>
            </a:r>
            <a:pPr indent="0" marL="0">
              <a:buNone/>
            </a:pPr>
            <a:r>
              <a:rPr lang="en-US" sz="92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TTFT 단축 배율 ≥ 2× (QA3)</a:t>
            </a:r>
            <a:endParaRPr lang="en-US" sz="1040" dirty="0"/>
          </a:p>
        </p:txBody>
      </p:sp>
      <p:sp>
        <p:nvSpPr>
          <p:cNvPr id="42" name="Shape 38"/>
          <p:cNvSpPr/>
          <p:nvPr/>
        </p:nvSpPr>
        <p:spPr>
          <a:xfrm>
            <a:off x="6382512" y="4038600"/>
            <a:ext cx="5489143" cy="1149096"/>
          </a:xfrm>
          <a:prstGeom prst="rect">
            <a:avLst/>
          </a:prstGeom>
          <a:solidFill>
            <a:srgbClr val="F3F7F0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473952" y="4120896"/>
            <a:ext cx="603504" cy="256032"/>
          </a:xfrm>
          <a:prstGeom prst="roundRect">
            <a:avLst>
              <a:gd name="adj" fmla="val 17857"/>
            </a:avLst>
          </a:prstGeom>
          <a:solidFill>
            <a:srgbClr val="4E7C3A"/>
          </a:solidFill>
          <a:ln/>
        </p:spPr>
      </p:sp>
      <p:sp>
        <p:nvSpPr>
          <p:cNvPr id="44" name="Text 40"/>
          <p:cNvSpPr/>
          <p:nvPr/>
        </p:nvSpPr>
        <p:spPr>
          <a:xfrm>
            <a:off x="6473952" y="4120896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2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7187184" y="4093464"/>
            <a:ext cx="4556455" cy="1039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[메모리 효율]  정확도를 유지한 채 메모리의 실효 용량·토큰당 읽기량을 개선한다  </a:t>
            </a:r>
            <a:pPr indent="0" marL="0">
              <a:spcAft>
                <a:spcPts val="300"/>
              </a:spcAft>
              <a:buNone/>
            </a:pPr>
            <a:r>
              <a:rPr lang="en-US" sz="880" dirty="0">
                <a:solidFill>
                  <a:srgbClr val="843C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(브리지 ② 축소)</a:t>
            </a:r>
            <a:endParaRPr lang="en-US" sz="104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HBM으로 더 많은 컨텍스트를 수용하고(동시성) 매 토큰 읽기량을 줄인다(대역폭) — 품질 bound가 전제(QA2 gate)</a:t>
            </a:r>
            <a:endParaRPr lang="en-US" sz="1040" dirty="0"/>
          </a:p>
          <a:p>
            <a:pPr indent="0" marL="0">
              <a:buNone/>
            </a:pPr>
            <a:r>
              <a:rPr lang="en-US" sz="92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</a:t>
            </a:r>
            <a:pPr indent="0" marL="0">
              <a:buNone/>
            </a:pPr>
            <a:r>
              <a:rPr lang="en-US" sz="92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KV 용량 ≥ 3× (QA4) · throughput ≥ 2× (QA1)</a:t>
            </a:r>
            <a:endParaRPr lang="en-US" sz="1040" dirty="0"/>
          </a:p>
        </p:txBody>
      </p:sp>
      <p:sp>
        <p:nvSpPr>
          <p:cNvPr id="46" name="Shape 42"/>
          <p:cNvSpPr/>
          <p:nvPr/>
        </p:nvSpPr>
        <p:spPr>
          <a:xfrm>
            <a:off x="6382512" y="5297424"/>
            <a:ext cx="5489143" cy="1149096"/>
          </a:xfrm>
          <a:prstGeom prst="rect">
            <a:avLst/>
          </a:prstGeom>
          <a:solidFill>
            <a:srgbClr val="F3F7F0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473952" y="5379720"/>
            <a:ext cx="603504" cy="256032"/>
          </a:xfrm>
          <a:prstGeom prst="roundRect">
            <a:avLst>
              <a:gd name="adj" fmla="val 17857"/>
            </a:avLst>
          </a:prstGeom>
          <a:solidFill>
            <a:srgbClr val="4E7C3A"/>
          </a:solidFill>
          <a:ln/>
        </p:spPr>
      </p:sp>
      <p:sp>
        <p:nvSpPr>
          <p:cNvPr id="48" name="Text 44"/>
          <p:cNvSpPr/>
          <p:nvPr/>
        </p:nvSpPr>
        <p:spPr>
          <a:xfrm>
            <a:off x="6473952" y="5379720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3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7187184" y="5352288"/>
            <a:ext cx="4556455" cy="1039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[자원 인지 운용]  캐시·메모리·부하 상태를 인지해 요청과 데이터를 동적으로 배치·선별한다  </a:t>
            </a:r>
            <a:pPr indent="0" marL="0">
              <a:spcAft>
                <a:spcPts val="300"/>
              </a:spcAft>
              <a:buNone/>
            </a:pPr>
            <a:r>
              <a:rPr lang="en-US" sz="880" dirty="0">
                <a:solidFill>
                  <a:srgbClr val="843C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(브리지 ③ 최적화)</a:t>
            </a:r>
            <a:endParaRPr lang="en-US" sz="104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유휴 자원 없이, 개별 효율 개선(목표 1·2)을 시스템 전체 처리량으로 전환한다</a:t>
            </a:r>
            <a:endParaRPr lang="en-US" sz="1040" dirty="0"/>
          </a:p>
          <a:p>
            <a:pPr indent="0" marL="0">
              <a:buNone/>
            </a:pPr>
            <a:r>
              <a:rPr lang="en-US" sz="92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</a:t>
            </a:r>
            <a:pPr indent="0" marL="0">
              <a:buNone/>
            </a:pPr>
            <a:r>
              <a:rPr lang="en-US" sz="92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 ≥ 2× (QA1) — 축별 ablation으로 순기여 분리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2026-07-26T12:50:47Z</dcterms:created>
  <dcterms:modified xsi:type="dcterms:W3CDTF">2026-07-26T12:50:47Z</dcterms:modified>
</cp:coreProperties>
</file>