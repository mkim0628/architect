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필요성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5559552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Ⅰ — 물리 병목: KV cache가 용량·대역폭을 동시에 압박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82512" y="1078992"/>
            <a:ext cx="5489143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1078992"/>
            <a:ext cx="53977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목표 — KV 캐시 최적 운용 AI 런타임 (MCR 1단계)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1463040"/>
            <a:ext cx="2715768" cy="129844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1499616"/>
            <a:ext cx="2569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— KV가 HBM을 넘는다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411480" y="1737360"/>
            <a:ext cx="255117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200"/>
              </a:spcAft>
              <a:buSzPct val="100000"/>
              <a:buChar char="◆"/>
            </a:pPr>
            <a:r>
              <a:rPr lang="en-US" sz="8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∝ 컨텍스트 × 동시 세션 — 32k 1세션 ≈ 10.5 GB (토큰당 320 KB, Llama-2-70B)</a:t>
            </a:r>
            <a:endParaRPr lang="en-US" sz="820" dirty="0"/>
          </a:p>
          <a:p>
            <a:pPr marL="101600" indent="-101600">
              <a:spcAft>
                <a:spcPts val="200"/>
              </a:spcAft>
              <a:buSzPct val="100000"/>
              <a:buChar char="◆"/>
            </a:pPr>
            <a:r>
              <a:rPr lang="en-US" sz="8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= batch(동시성)의 상한 = 처리량의 상한</a:t>
            </a:r>
            <a:endParaRPr lang="en-US" sz="820" dirty="0"/>
          </a:p>
          <a:p>
            <a:pPr marL="101600" indent="-101600">
              <a:spcAft>
                <a:spcPts val="200"/>
              </a:spcAft>
              <a:buSzPct val="100000"/>
              <a:buChar char="◆"/>
            </a:pPr>
            <a:r>
              <a:rPr lang="en-US" sz="8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시 대기 또는 preemption·전체 재계산뿐 → 지연·처리량 악화 직결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3163824" y="1463040"/>
            <a:ext cx="2715768" cy="1298448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36976" y="1499616"/>
            <a:ext cx="2569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대역폭 — 매 토큰 KV 전체를 읽는다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3255264" y="1737360"/>
            <a:ext cx="255117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01600" indent="-101600">
              <a:spcAft>
                <a:spcPts val="200"/>
              </a:spcAft>
              <a:buSzPct val="100000"/>
              <a:buChar char="◆"/>
            </a:pPr>
            <a:r>
              <a:rPr lang="en-US" sz="8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 = memory-bandwidth-bound — 대기가 E2E의 70–85%(A), 컨텍스트↑ = TPOT↑</a:t>
            </a:r>
            <a:endParaRPr lang="en-US" sz="820" dirty="0"/>
          </a:p>
          <a:p>
            <a:pPr marL="101600" indent="-101600">
              <a:spcAft>
                <a:spcPts val="200"/>
              </a:spcAft>
              <a:buSzPct val="100000"/>
              <a:buChar char="◆"/>
            </a:pPr>
            <a:r>
              <a:rPr lang="en-US" sz="8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대역폭 포화 시 용량 남아도 연산기 유휴 — 처리량 정체</a:t>
            </a:r>
            <a:endParaRPr lang="en-US" sz="820" dirty="0"/>
          </a:p>
          <a:p>
            <a:pPr marL="101600" indent="-101600">
              <a:spcAft>
                <a:spcPts val="200"/>
              </a:spcAft>
              <a:buSzPct val="100000"/>
              <a:buChar char="◆"/>
            </a:pPr>
            <a:r>
              <a:rPr lang="en-US" sz="8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계단 ~10×씩(HBM→DRAM→SSD) — 복원이 재계산보다 느릴 수도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320040" y="2807208"/>
            <a:ext cx="5559552" cy="274320"/>
          </a:xfrm>
          <a:prstGeom prst="rect">
            <a:avLst/>
          </a:prstGeom>
          <a:solidFill>
            <a:srgbClr val="EDEFF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2807208"/>
            <a:ext cx="5413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구조: </a:t>
            </a:r>
            <a:pPr indent="0" marL="0">
              <a:buNone/>
            </a:pPr>
            <a:r>
              <a:rPr lang="en-US" sz="8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offload로 용량을 풀면 대역폭 계단에 부딪힌다(용량 ↔ 대역폭 트레이드오프) — 어디에 두고·얼마나 줄이고·언제 다시 만들지의 </a:t>
            </a:r>
            <a:pPr indent="0" marL="0">
              <a:buNone/>
            </a:pPr>
            <a:r>
              <a:rPr lang="en-US" sz="88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결정이 성능을 결정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382512" y="1463040"/>
            <a:ext cx="5489143" cy="1618488"/>
          </a:xfrm>
          <a:prstGeom prst="rect">
            <a:avLst/>
          </a:prstGeom>
          <a:solidFill>
            <a:srgbClr val="F3F7F0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1508760"/>
            <a:ext cx="530626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 공간 — 병목을 푸는 지렛대는 셋뿐이다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92240" y="1773936"/>
            <a:ext cx="5269687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총량·이동량 = </a:t>
            </a:r>
            <a:pPr indent="0" marL="0">
              <a:spcAft>
                <a:spcPts val="400"/>
              </a:spcAft>
              <a:buNone/>
            </a:pPr>
            <a:r>
              <a:rPr lang="en-US" sz="92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만드는 횟수 × ② 토큰당 바이트 × ③ 두는 위치·처리 순서</a:t>
            </a:r>
            <a:endParaRPr lang="en-US" sz="920" dirty="0"/>
          </a:p>
          <a:p>
            <a:pPr marL="101600" indent="-101600">
              <a:spcAft>
                <a:spcPts val="400"/>
              </a:spcAft>
              <a:buSzPct val="100000"/>
              <a:buChar char="◆"/>
            </a:pPr>
            <a:r>
              <a:rPr lang="en-US" sz="92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다시 만들지 않기 = 재사용   ② 줄이기 = 압축   ③ 잘 두고 잘 고르기 = KV 인지 스케줄링</a:t>
            </a:r>
            <a:endParaRPr lang="en-US" sz="920" dirty="0"/>
          </a:p>
          <a:p>
            <a:pPr marL="101600" indent="-101600">
              <a:buSzPct val="100000"/>
              <a:buChar char="◆"/>
            </a:pPr>
            <a:r>
              <a:rPr lang="en-US" sz="92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현 런타임에는 세 지렛대가 모두 공백이다(좌측 Ⅱ) → 이를 채우는 것이 과제 목표 3축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934456" y="2144268"/>
            <a:ext cx="393192" cy="256032"/>
          </a:xfrm>
          <a:prstGeom prst="rightArrow">
            <a:avLst/>
          </a:prstGeom>
          <a:solidFill>
            <a:srgbClr val="9AA0A6"/>
          </a:solidFill>
          <a:ln/>
        </p:spPr>
      </p:sp>
      <p:sp>
        <p:nvSpPr>
          <p:cNvPr id="35" name="Shape 33"/>
          <p:cNvSpPr/>
          <p:nvPr/>
        </p:nvSpPr>
        <p:spPr>
          <a:xfrm>
            <a:off x="320040" y="3163824"/>
            <a:ext cx="5559552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163824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Ⅱ — 운용 공백: 세 지렛대가 현 런타임에 없다 (우선순위 순)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82512" y="3163824"/>
            <a:ext cx="5489143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8" name="Text 36"/>
          <p:cNvSpPr/>
          <p:nvPr/>
        </p:nvSpPr>
        <p:spPr>
          <a:xfrm>
            <a:off x="6428232" y="3163824"/>
            <a:ext cx="53977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목표 3축 — 좌측 공백 ①②③과 1:1 대응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20040" y="3566160"/>
            <a:ext cx="5559552" cy="691896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3192" y="3630168"/>
            <a:ext cx="237744" cy="23774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1" name="Text 39"/>
          <p:cNvSpPr/>
          <p:nvPr/>
        </p:nvSpPr>
        <p:spPr>
          <a:xfrm>
            <a:off x="393192" y="36301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04088" y="3602736"/>
            <a:ext cx="5065776" cy="618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8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공백 — prefix 일치·일회성 버퍼에 갇힘 (다시 만들지 않기의 부재)</a:t>
            </a:r>
            <a:endParaRPr lang="en-US" sz="9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prefix 정확 일치 시만 hit(vLLM·SGLang), 요청 종료 시 폐기 — 비접두 재사용·세션/사용자 영속화·복원 vs 재계산 판단 없음</a:t>
            </a:r>
            <a:endParaRPr lang="en-US" sz="980" dirty="0"/>
          </a:p>
          <a:p>
            <a:pPr indent="0" marL="0">
              <a:buNone/>
            </a:pPr>
            <a:r>
              <a:rPr lang="en-US" sz="88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⇒ 수십 k 토큰을 매 요청 전체 re-prefill — TTFT 지배 (R-03·04·05)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5934456" y="3793236"/>
            <a:ext cx="393192" cy="237744"/>
          </a:xfrm>
          <a:prstGeom prst="rightArrow">
            <a:avLst/>
          </a:prstGeom>
          <a:solidFill>
            <a:srgbClr val="FFC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6382512" y="3566160"/>
            <a:ext cx="5489143" cy="691896"/>
          </a:xfrm>
          <a:prstGeom prst="rect">
            <a:avLst/>
          </a:prstGeom>
          <a:solidFill>
            <a:srgbClr val="F3F7F0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55664" y="3630168"/>
            <a:ext cx="585216" cy="237744"/>
          </a:xfrm>
          <a:prstGeom prst="roundRect">
            <a:avLst>
              <a:gd name="adj" fmla="val 19231"/>
            </a:avLst>
          </a:prstGeom>
          <a:solidFill>
            <a:srgbClr val="4E7C3A"/>
          </a:solidFill>
          <a:ln/>
        </p:spPr>
      </p:sp>
      <p:sp>
        <p:nvSpPr>
          <p:cNvPr id="46" name="Text 44"/>
          <p:cNvSpPr/>
          <p:nvPr/>
        </p:nvSpPr>
        <p:spPr>
          <a:xfrm>
            <a:off x="6455664" y="3630168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32320" y="3602736"/>
            <a:ext cx="4629607" cy="618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8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재사용성 제고 → 지연시간(TTFT) 개선</a:t>
            </a:r>
            <a:endParaRPr lang="en-US" sz="9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prefix + 비접두(chunk) 재사용 · 세션/사용자 영속화 · 복원 vs 재계산 비용 판단 (FR-02)</a:t>
            </a:r>
            <a:endParaRPr lang="en-US" sz="980" dirty="0"/>
          </a:p>
          <a:p>
            <a:pPr indent="0" marL="0">
              <a:buNone/>
            </a:pPr>
            <a:r>
              <a:rPr lang="en-US" sz="88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판정: </a:t>
            </a:r>
            <a:pPr indent="0" marL="0">
              <a:buNone/>
            </a:pPr>
            <a:r>
              <a:rPr lang="en-US" sz="88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TTFT ≥ 2× (QA1) — CacheBlend 2.2–3.3×(B) 앵커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320040" y="4349496"/>
            <a:ext cx="5559552" cy="691896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3192" y="4413504"/>
            <a:ext cx="237744" cy="23774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0" name="Text 48"/>
          <p:cNvSpPr/>
          <p:nvPr/>
        </p:nvSpPr>
        <p:spPr>
          <a:xfrm>
            <a:off x="393192" y="44135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04088" y="4386072"/>
            <a:ext cx="5065776" cy="618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8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공백 — 중요도 판정이 정적·전역 일률 (줄이기의 부재)</a:t>
            </a:r>
            <a:endParaRPr lang="en-US" sz="9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 기반 토큰 pruning(H2O·SnapKV)은 입증됐으나 고정 예산·고정 휴리스틱 — 요청별 품질 예산·차등 집행, 재사용과의 조율(쿼리 의존 중요도) 부재</a:t>
            </a:r>
            <a:endParaRPr lang="en-US" sz="980" dirty="0"/>
          </a:p>
          <a:p>
            <a:pPr indent="0" marL="0">
              <a:buNone/>
            </a:pPr>
            <a:r>
              <a:rPr lang="en-US" sz="88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⇒ 용량·대역폭 이중 병목 지속, 품질 리스크 통제 불가 (R-01·02·06)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5934456" y="4576572"/>
            <a:ext cx="393192" cy="237744"/>
          </a:xfrm>
          <a:prstGeom prst="rightArrow">
            <a:avLst/>
          </a:prstGeom>
          <a:solidFill>
            <a:srgbClr val="FFC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6382512" y="4349496"/>
            <a:ext cx="5489143" cy="691896"/>
          </a:xfrm>
          <a:prstGeom prst="rect">
            <a:avLst/>
          </a:prstGeom>
          <a:solidFill>
            <a:srgbClr val="F3F7F0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55664" y="4413504"/>
            <a:ext cx="585216" cy="237744"/>
          </a:xfrm>
          <a:prstGeom prst="roundRect">
            <a:avLst>
              <a:gd name="adj" fmla="val 19231"/>
            </a:avLst>
          </a:prstGeom>
          <a:solidFill>
            <a:srgbClr val="4E7C3A"/>
          </a:solidFill>
          <a:ln/>
        </p:spPr>
      </p:sp>
      <p:sp>
        <p:nvSpPr>
          <p:cNvPr id="55" name="Text 53"/>
          <p:cNvSpPr/>
          <p:nvPr/>
        </p:nvSpPr>
        <p:spPr>
          <a:xfrm>
            <a:off x="6455664" y="4413504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132320" y="4386072"/>
            <a:ext cx="4629607" cy="618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8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유지 KV 압축(pruning) → 메모리 병목 해소 → 지연·처리량 개선</a:t>
            </a:r>
            <a:endParaRPr lang="en-US" sz="9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bound(ΔF1 ≤ 1%p, QA3 gate) 안에서 중요도 기반 토큰 pruning을 요청별 차등 적용(양자화는 조합) — training-free(C-03) (FR-03·04)</a:t>
            </a:r>
            <a:endParaRPr lang="en-US" sz="980" dirty="0"/>
          </a:p>
          <a:p>
            <a:pPr indent="0" marL="0">
              <a:buNone/>
            </a:pPr>
            <a:r>
              <a:rPr lang="en-US" sz="88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판정: </a:t>
            </a:r>
            <a:pPr indent="0" marL="0">
              <a:buNone/>
            </a:pPr>
            <a:r>
              <a:rPr lang="en-US" sz="88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KV 용량 ≥ 3× (QA4) · throughput ≥ 2× (QA2)</a:t>
            </a:r>
            <a:endParaRPr lang="en-US" sz="980" dirty="0"/>
          </a:p>
        </p:txBody>
      </p:sp>
      <p:sp>
        <p:nvSpPr>
          <p:cNvPr id="57" name="Shape 55"/>
          <p:cNvSpPr/>
          <p:nvPr/>
        </p:nvSpPr>
        <p:spPr>
          <a:xfrm>
            <a:off x="320040" y="5132832"/>
            <a:ext cx="5559552" cy="691896"/>
          </a:xfrm>
          <a:prstGeom prst="rect">
            <a:avLst/>
          </a:prstGeom>
          <a:solidFill>
            <a:srgbClr val="F5F6F8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93192" y="5196840"/>
            <a:ext cx="237744" cy="23774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9" name="Text 57"/>
          <p:cNvSpPr/>
          <p:nvPr/>
        </p:nvSpPr>
        <p:spPr>
          <a:xfrm>
            <a:off x="393192" y="51968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04088" y="5169408"/>
            <a:ext cx="5065776" cy="618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8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 공백 — 스케줄러가 KV를 모른다, KV-blind (잘 두고 고르기의 부재)</a:t>
            </a:r>
            <a:endParaRPr lang="en-US" sz="9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admission·라우팅이 cache locality 비인지(재사용 이득 소실), KV 풀 포화 시 preemption·전체 재계산뿐 — 압축/강등/축출 선택 없음</a:t>
            </a:r>
            <a:endParaRPr lang="en-US" sz="980" dirty="0"/>
          </a:p>
          <a:p>
            <a:pPr indent="0" marL="0">
              <a:buNone/>
            </a:pPr>
            <a:r>
              <a:rPr lang="en-US" sz="88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⇒ 재사용·압축의 이득이 시스템 처리량으로 전환되지 않음 (R-16)</a:t>
            </a:r>
            <a:endParaRPr lang="en-US" sz="980" dirty="0"/>
          </a:p>
        </p:txBody>
      </p:sp>
      <p:sp>
        <p:nvSpPr>
          <p:cNvPr id="61" name="Shape 59"/>
          <p:cNvSpPr/>
          <p:nvPr/>
        </p:nvSpPr>
        <p:spPr>
          <a:xfrm>
            <a:off x="5934456" y="5359908"/>
            <a:ext cx="393192" cy="237744"/>
          </a:xfrm>
          <a:prstGeom prst="rightArrow">
            <a:avLst/>
          </a:prstGeom>
          <a:solidFill>
            <a:srgbClr val="FFC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6382512" y="5132832"/>
            <a:ext cx="5489143" cy="691896"/>
          </a:xfrm>
          <a:prstGeom prst="rect">
            <a:avLst/>
          </a:prstGeom>
          <a:solidFill>
            <a:srgbClr val="F3F7F0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55664" y="5196840"/>
            <a:ext cx="585216" cy="237744"/>
          </a:xfrm>
          <a:prstGeom prst="roundRect">
            <a:avLst>
              <a:gd name="adj" fmla="val 19231"/>
            </a:avLst>
          </a:prstGeom>
          <a:solidFill>
            <a:srgbClr val="4E7C3A"/>
          </a:solidFill>
          <a:ln/>
        </p:spPr>
      </p:sp>
      <p:sp>
        <p:nvSpPr>
          <p:cNvPr id="64" name="Text 62"/>
          <p:cNvSpPr/>
          <p:nvPr/>
        </p:nvSpPr>
        <p:spPr>
          <a:xfrm>
            <a:off x="6455664" y="5196840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3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132320" y="5169408"/>
            <a:ext cx="4629607" cy="618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80" b="1" dirty="0">
                <a:solidFill>
                  <a:srgbClr val="3C5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캐시 인지형 동적 스케줄링 → 처리량 개선</a:t>
            </a:r>
            <a:endParaRPr lang="en-US" sz="9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cache-hit/locality 인지 admission·라우팅 + KV 공간 확보(압축/강등/축출 최적 선택) — 요청별 SLO 차등 (FR-05)</a:t>
            </a:r>
            <a:endParaRPr lang="en-US" sz="980" dirty="0"/>
          </a:p>
          <a:p>
            <a:pPr indent="0" marL="0">
              <a:buNone/>
            </a:pPr>
            <a:r>
              <a:rPr lang="en-US" sz="88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판정: </a:t>
            </a:r>
            <a:pPr indent="0" marL="0">
              <a:buNone/>
            </a:pPr>
            <a:r>
              <a:rPr lang="en-US" sz="88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 ≥ 2× (QA2) — 축별 ablation으로 순기여 분리</a:t>
            </a:r>
            <a:endParaRPr lang="en-US" sz="980" dirty="0"/>
          </a:p>
        </p:txBody>
      </p:sp>
      <p:sp>
        <p:nvSpPr>
          <p:cNvPr id="66" name="Shape 64"/>
          <p:cNvSpPr/>
          <p:nvPr/>
        </p:nvSpPr>
        <p:spPr>
          <a:xfrm>
            <a:off x="320040" y="5916168"/>
            <a:ext cx="11551615" cy="530352"/>
          </a:xfrm>
          <a:prstGeom prst="rect">
            <a:avLst/>
          </a:prstGeom>
          <a:solidFill>
            <a:srgbClr val="FFF2CC"/>
          </a:solidFill>
          <a:ln w="12700">
            <a:solidFill>
              <a:srgbClr val="843C0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8056" y="5916168"/>
            <a:ext cx="1129558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3C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관통 문제: </a:t>
            </a:r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지렛대는 결합되어 있다(재사용은 남는 것을, 압축은 비용을, 스케줄링은 활용을 결정) — 그러나 셋을 조율하는 계층이 어느 런타임에도 없다.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∴ 본 과제 = 조율 계층을 갖춘 KV 캐시 최적 운용 런타임</a:t>
            </a:r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(2단계 진화: 자사 memory-centric 디바이스 확장 — MCR 완성)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2026-07-25T09:15:37Z</dcterms:created>
  <dcterms:modified xsi:type="dcterms:W3CDTF">2026-07-25T09:15:37Z</dcterms:modified>
</cp:coreProperties>
</file>