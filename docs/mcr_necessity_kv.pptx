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559552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468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— 현재 런타임의 KV 캐시 운용 3대 공백 (우선순위 순)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82512" y="1078992"/>
            <a:ext cx="5489143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2" name="Text 20"/>
          <p:cNvSpPr/>
          <p:nvPr/>
        </p:nvSpPr>
        <p:spPr>
          <a:xfrm>
            <a:off x="6428232" y="1078992"/>
            <a:ext cx="53977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목표 — KV 캐시 최적 운용 AI 런타임 (MCR 1단계)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1481328"/>
            <a:ext cx="5559552" cy="1338072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1563624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15636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58952" y="1536192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재사용 공백 — prefix 일치·일회성 버퍼에 갇힘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66344" y="1847088"/>
            <a:ext cx="5285232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정확 일치 시에만 재사용(vLLM·SGLang) — RAG chunk 순서·프롬프트 변경에 hit 0, 비접두 재사용 부재</a:t>
            </a:r>
            <a:endParaRPr lang="en-US" sz="930" dirty="0"/>
          </a:p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종료 시 폐기 — 세션·사용자 영속 자산 아님, 하위 tier 복원 vs 재계산의 비용 판단도 없음</a:t>
            </a:r>
            <a:endParaRPr lang="en-US" sz="930" dirty="0"/>
          </a:p>
          <a:p>
            <a:pPr indent="0" marL="0">
              <a:buNone/>
            </a:pPr>
            <a:r>
              <a:rPr lang="en-US" sz="96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수십 k 토큰을 매 요청 전체 re-prefill — TTFT 지배 (R-03·04·05)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5934456" y="2022348"/>
            <a:ext cx="393192" cy="256032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29" name="Shape 27"/>
          <p:cNvSpPr/>
          <p:nvPr/>
        </p:nvSpPr>
        <p:spPr>
          <a:xfrm>
            <a:off x="6382512" y="1481328"/>
            <a:ext cx="5489143" cy="1338072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73952" y="1563624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4E7C3A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1563624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1536192"/>
            <a:ext cx="4556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재사용성 제고 → 지연시간(TTFT) 개선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28816" y="1847088"/>
            <a:ext cx="5214823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prefix + 비접두(chunk) 재사용, 세션·사용자 단위 영속화, 복원 vs 재계산 비용 판단 (FR-02)</a:t>
            </a:r>
            <a:endParaRPr lang="en-US" sz="930" dirty="0"/>
          </a:p>
          <a:p>
            <a:pPr indent="0" marL="0">
              <a:buNone/>
            </a:pPr>
            <a:r>
              <a:rPr lang="en-US" sz="96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96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TTFT ≥ 2× (QA1) — CacheBlend 2.2–3.3×(B) 앵커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320040" y="2938272"/>
            <a:ext cx="5559552" cy="1338072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1480" y="3020568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36" name="Text 34"/>
          <p:cNvSpPr/>
          <p:nvPr/>
        </p:nvSpPr>
        <p:spPr>
          <a:xfrm>
            <a:off x="411480" y="3020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58952" y="299313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압축 공백 — 정적·일률 적용, 품질과 피드백 없음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66344" y="3304032"/>
            <a:ext cx="5285232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∝ 컨텍스트×동시 세션(32k 1세션 ≈ 10.5 GB) — HBM 용량 초과 + decode 대역폭 압박(대기 70–85%(A))</a:t>
            </a:r>
            <a:endParaRPr lang="en-US" sz="930" dirty="0"/>
          </a:p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압축(2-bit 양자화·token eviction)은 입증됐으나 전역 고정 설정 — 요청별 품질 예산·차등 집행 부재</a:t>
            </a:r>
            <a:endParaRPr lang="en-US" sz="930" dirty="0"/>
          </a:p>
          <a:p>
            <a:pPr indent="0" marL="0">
              <a:buNone/>
            </a:pPr>
            <a:r>
              <a:rPr lang="en-US" sz="96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용량·대역폭 이중 병목 지속, 품질 리스크 통제 불가 (R-01·02·06)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934456" y="3479292"/>
            <a:ext cx="393192" cy="256032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40" name="Shape 38"/>
          <p:cNvSpPr/>
          <p:nvPr/>
        </p:nvSpPr>
        <p:spPr>
          <a:xfrm>
            <a:off x="6382512" y="2938272"/>
            <a:ext cx="5489143" cy="1338072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3952" y="3020568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4E7C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73952" y="3020568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2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223760" y="2993136"/>
            <a:ext cx="4556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유지 KV 압축 → 메모리 병목 해소 → 지연·처리량 개선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528816" y="3304032"/>
            <a:ext cx="5214823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bound(ΔF1 ≤ 1%p, QA3 gate) 안에서 요청별 차등 압축 — training-free(C-03) (FR-03·04)</a:t>
            </a:r>
            <a:endParaRPr lang="en-US" sz="930" dirty="0"/>
          </a:p>
          <a:p>
            <a:pPr indent="0" marL="0">
              <a:buNone/>
            </a:pPr>
            <a:r>
              <a:rPr lang="en-US" sz="96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96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KV 용량 ≥ 3× (QA4) · throughput ≥ 2× (QA2)</a:t>
            </a:r>
            <a:endParaRPr lang="en-US" sz="930" dirty="0"/>
          </a:p>
        </p:txBody>
      </p:sp>
      <p:sp>
        <p:nvSpPr>
          <p:cNvPr id="45" name="Shape 43"/>
          <p:cNvSpPr/>
          <p:nvPr/>
        </p:nvSpPr>
        <p:spPr>
          <a:xfrm>
            <a:off x="320040" y="4395216"/>
            <a:ext cx="5559552" cy="1338072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11480" y="4477512"/>
            <a:ext cx="274320" cy="274320"/>
          </a:xfrm>
          <a:prstGeom prst="ellipse">
            <a:avLst/>
          </a:prstGeom>
          <a:solidFill>
            <a:srgbClr val="1F3864"/>
          </a:solidFill>
          <a:ln/>
        </p:spPr>
      </p:sp>
      <p:sp>
        <p:nvSpPr>
          <p:cNvPr id="47" name="Text 45"/>
          <p:cNvSpPr/>
          <p:nvPr/>
        </p:nvSpPr>
        <p:spPr>
          <a:xfrm>
            <a:off x="411480" y="44775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58952" y="44500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스케줄링 공백 — 스케줄러가 KV를 모른다 (KV-blind)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466344" y="4760976"/>
            <a:ext cx="5285232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admission·라우팅이 cache locality 비인지 — 재사용 KV가 있는 노드를 두고 다른 노드로 배정 시 ①의 이득 소실</a:t>
            </a:r>
            <a:endParaRPr lang="en-US" sz="930" dirty="0"/>
          </a:p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풀 포화 시 preemption·전체 재계산뿐 — 압축/강등/축출 중의 선택이라는 결정 자체가 없음</a:t>
            </a:r>
            <a:endParaRPr lang="en-US" sz="930" dirty="0"/>
          </a:p>
          <a:p>
            <a:pPr indent="0" marL="0">
              <a:buNone/>
            </a:pPr>
            <a:r>
              <a:rPr lang="en-US" sz="960" b="1" dirty="0">
                <a:solidFill>
                  <a:srgbClr val="B3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⇒ 재사용·압축의 이득이 시스템 처리량으로 전환되지 않음 (R-16)</a:t>
            </a:r>
            <a:endParaRPr lang="en-US" sz="930" dirty="0"/>
          </a:p>
        </p:txBody>
      </p:sp>
      <p:sp>
        <p:nvSpPr>
          <p:cNvPr id="50" name="Shape 48"/>
          <p:cNvSpPr/>
          <p:nvPr/>
        </p:nvSpPr>
        <p:spPr>
          <a:xfrm>
            <a:off x="5934456" y="4936236"/>
            <a:ext cx="393192" cy="256032"/>
          </a:xfrm>
          <a:prstGeom prst="rightArrow">
            <a:avLst/>
          </a:prstGeom>
          <a:solidFill>
            <a:srgbClr val="FFC000"/>
          </a:solidFill>
          <a:ln/>
        </p:spPr>
      </p:sp>
      <p:sp>
        <p:nvSpPr>
          <p:cNvPr id="51" name="Shape 49"/>
          <p:cNvSpPr/>
          <p:nvPr/>
        </p:nvSpPr>
        <p:spPr>
          <a:xfrm>
            <a:off x="6382512" y="4395216"/>
            <a:ext cx="5489143" cy="1338072"/>
          </a:xfrm>
          <a:prstGeom prst="rect">
            <a:avLst/>
          </a:prstGeom>
          <a:solidFill>
            <a:srgbClr val="F3F7F0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73952" y="4477512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4E7C3A"/>
          </a:solidFill>
          <a:ln/>
        </p:spPr>
      </p:sp>
      <p:sp>
        <p:nvSpPr>
          <p:cNvPr id="53" name="Text 51"/>
          <p:cNvSpPr/>
          <p:nvPr/>
        </p:nvSpPr>
        <p:spPr>
          <a:xfrm>
            <a:off x="6473952" y="447751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223760" y="4450080"/>
            <a:ext cx="45564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5F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 인지형 동적 스케줄링 → 처리량 개선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528816" y="4760976"/>
            <a:ext cx="5214823" cy="899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27000" indent="-127000">
              <a:spcAft>
                <a:spcPts val="300"/>
              </a:spcAft>
              <a:buSzPct val="100000"/>
              <a:buChar char="◆"/>
            </a:pPr>
            <a:r>
              <a:rPr lang="en-US" sz="93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cache-hit/locality 인지 admission·라우팅 + KV 공간 확보(압축/강등/축출 최적 선택) — 요청별 SLO 차등 (FR-05)</a:t>
            </a:r>
            <a:endParaRPr lang="en-US" sz="930" dirty="0"/>
          </a:p>
          <a:p>
            <a:pPr indent="0" marL="0">
              <a:buNone/>
            </a:pPr>
            <a:r>
              <a:rPr lang="en-US" sz="96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판정: </a:t>
            </a:r>
            <a:pPr indent="0" marL="0">
              <a:buNone/>
            </a:pPr>
            <a:r>
              <a:rPr lang="en-US" sz="96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throughput ≥ 2× (QA2) — 축별 ablation으로 순기여 분리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320040" y="5843016"/>
            <a:ext cx="11551615" cy="603504"/>
          </a:xfrm>
          <a:prstGeom prst="rect">
            <a:avLst/>
          </a:prstGeom>
          <a:solidFill>
            <a:srgbClr val="FFF2CC"/>
          </a:solidFill>
          <a:ln w="12700">
            <a:solidFill>
              <a:srgbClr val="843C0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5843016"/>
            <a:ext cx="1127729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43C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관통 문제: </a:t>
            </a:r>
            <a:pPr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공백은 결합되어 있다(재사용은 남는 것을, 압축은 비용을, 스케줄링은 활용을 결정) — 그러나 셋을 조율하는 계층이 어느 런타임에도 없다.  </a:t>
            </a:r>
            <a:pPr indent="0" marL="0">
              <a:buNone/>
            </a:pPr>
            <a:r>
              <a:rPr lang="en-US" sz="10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∴ 본 과제 = 조율 계층을 갖춘 KV 캐시 최적 운용 런타임</a:t>
            </a:r>
            <a:pPr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(2단계 진화: 자사 memory-centric 디바이스 확장 — MCR 완성)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2026-07-24T06:18:49Z</dcterms:created>
  <dcterms:modified xsi:type="dcterms:W3CDTF">2026-07-24T06:18:49Z</dcterms:modified>
</cp:coreProperties>
</file>