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Ⅰ — 물리 병목: KV cache가 용량·대역폭을 동시에 압박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82512" y="1078992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1078992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과제 목표 — 자원 효율로 AI 추론 성능 향상 (MCR 1단계)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— KV가 HBM을 넘는다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411480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∝ 컨텍스트 × 동시 세션 — 32k 1세션 ≈ 10.5 GB (토큰당 320 KB, Llama-2-70B)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= batch(동시성)의 상한 = 처리량의 상한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시 대기 또는 preemption·전체 재계산뿐 → 지연·처리량 악화 직결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163824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36976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— 매 토큰 KV 전체를 읽는다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3255264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= memory-bandwidth-bound — 대기가 E2E의 70–85%(A), 컨텍스트↑ = TPOT↑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포화 시 용량 남아도 연산기 유휴 — 처리량 정체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계단 ~10×씩(HBM→DRAM→SSD) — 복원이 재계산보다 느릴 수도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320040" y="2807208"/>
            <a:ext cx="5559552" cy="274320"/>
          </a:xfrm>
          <a:prstGeom prst="rect">
            <a:avLst/>
          </a:prstGeom>
          <a:solidFill>
            <a:srgbClr val="EDEFF4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807208"/>
            <a:ext cx="5413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구조: </a:t>
            </a:r>
            <a:pPr indent="0" marL="0">
              <a:buNone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offload로 용량을 풀면 대역폭 계단에 부딪힌다(용량 ↔ 대역폭 트레이드오프) — 어디에 두고·얼마나 줄이고·언제 다시 만들지의 </a:t>
            </a:r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결정이 성능을 결정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382512" y="1463040"/>
            <a:ext cx="5489143" cy="1618488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1499616"/>
            <a:ext cx="5306263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총괄: </a:t>
            </a:r>
            <a:pPr indent="0" marL="0"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연산기의 불필요한 연산은 줄이고 메모리의 사용성은 높여, 동일 HW에서 AI 추론 성능(지연·처리량)을 향상시킨다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6492240" y="1901952"/>
            <a:ext cx="5269687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4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총량·이동량 = ① 만드는 횟수 × ② 토큰당 바이트 × ③ 두는 위치·순서 — 세 인자가 곧 목표 3축</a:t>
            </a:r>
            <a:endParaRPr lang="en-US" sz="84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6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 [연산 효율] 계산한 결과를 재활용해 불필요한 재연산 제거 → TTFT 단축  (① 축소)</a:t>
            </a:r>
            <a:endParaRPr lang="en-US" sz="84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6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2 [메모리 효율] 정확도 유지한 채 실효 용량·토큰당 읽기량 개선 → 동시성·처리량 향상  (② 축소)</a:t>
            </a:r>
            <a:endParaRPr lang="en-US" sz="840" dirty="0"/>
          </a:p>
          <a:p>
            <a:pPr marL="101600" indent="-101600">
              <a:buSzPct val="100000"/>
              <a:buChar char="◆"/>
            </a:pPr>
            <a:r>
              <a:rPr lang="en-US" sz="86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3 [자원 인지 운용] 캐시·메모리·부하 상태 인지 동적 배치·선별 — 개별 개선을 시스템 처리량으로 전환  (③ 최적화)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5934456" y="2144268"/>
            <a:ext cx="393192" cy="256032"/>
          </a:xfrm>
          <a:prstGeom prst="rightArrow">
            <a:avLst/>
          </a:prstGeom>
          <a:solidFill>
            <a:srgbClr val="9AA0A6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163824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16382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Ⅱ — 운용 공백: 세 지렛대가 현 런타임에 없다 (우선순위 순)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82512" y="3163824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28232" y="3163824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접근 — 공백 ①②③을 설계 결정(DP)으로 전개, 목표 3축 실현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20040" y="3566160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3192" y="3630168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41" name="Text 39"/>
          <p:cNvSpPr/>
          <p:nvPr/>
        </p:nvSpPr>
        <p:spPr>
          <a:xfrm>
            <a:off x="393192" y="36301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04088" y="3602736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공백 — prefix 일치·일회성 버퍼에 갇힘 (다시 만들지 않기의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정확 일치 시만 hit(vLLM·SGLang), 요청 종료 시 폐기 — 비접두 재사용·세션/사용자 영속화·복원 vs 재계산 판단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수십 k 토큰을 매 요청 전체 re-prefill — TTFT 지배 (R-03·04·05)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5934456" y="3793236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6382512" y="3566160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55664" y="363016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ED7D31"/>
          </a:solidFill>
          <a:ln/>
        </p:spPr>
      </p:sp>
      <p:sp>
        <p:nvSpPr>
          <p:cNvPr id="46" name="Text 44"/>
          <p:cNvSpPr/>
          <p:nvPr/>
        </p:nvSpPr>
        <p:spPr>
          <a:xfrm>
            <a:off x="6455664" y="3630168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DP3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32320" y="3602736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 범위·복원 전략  </a:t>
            </a:r>
            <a:pPr indent="0" marL="0">
              <a:spcAft>
                <a:spcPts val="200"/>
              </a:spcAft>
              <a:buNone/>
            </a:pPr>
            <a:r>
              <a:rPr lang="en-US" sz="8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목표 1 [연산 효율] 실현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+ 비접두(chunk) 재사용 · 세션/사용자 영속 · 복원 vs 재계산 판단 (FR-02) — 재계산 토큰 선택의 실행 구조를 후보 대결로 결정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TTFT ≥ 2× (QA3) — CacheBlend 2.2–3.3×(B) 앵커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320040" y="4349496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" y="4413504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0" name="Text 48"/>
          <p:cNvSpPr/>
          <p:nvPr/>
        </p:nvSpPr>
        <p:spPr>
          <a:xfrm>
            <a:off x="393192" y="44135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04088" y="4386072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공백 — 중요도 판정이 정적·전역 일률 (줄이기의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중요도 기반 토큰 pruning(H2O·SnapKV)은 입증됐으나 고정 예산·고정 휴리스틱 — 요청별 품질 예산·차등 집행, 재사용과의 조율(쿼리 의존 중요도) 부재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용량·대역폭 이중 병목 지속, 품질 리스크 통제 불가 (R-01·02·06)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5934456" y="4576572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82512" y="4349496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55664" y="441350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E91E8C"/>
          </a:solidFill>
          <a:ln/>
        </p:spPr>
      </p:sp>
      <p:sp>
        <p:nvSpPr>
          <p:cNvPr id="55" name="Text 53"/>
          <p:cNvSpPr/>
          <p:nvPr/>
        </p:nvSpPr>
        <p:spPr>
          <a:xfrm>
            <a:off x="6455664" y="4413504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DP4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7132320" y="4386072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유지한 KV 캐시 압축  </a:t>
            </a:r>
            <a:pPr indent="0" marL="0">
              <a:spcAft>
                <a:spcPts val="200"/>
              </a:spcAft>
              <a:buNone/>
            </a:pPr>
            <a:r>
              <a:rPr lang="en-US" sz="8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목표 2 [메모리 효율] 실현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bound(ΔF1 ≤ 1%p, QA2 gate) 안의 요청별 차등 pruning — 집행 시점 × 자산 표현(단일 사본 vs 원본·파생)을 후보 대결로 결정 (FR-03·04, C-03)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KV 용량 ≥ 3× (QA4) · throughput ≥ 2× (QA1)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320040" y="5132832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3192" y="5196840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9" name="Text 57"/>
          <p:cNvSpPr/>
          <p:nvPr/>
        </p:nvSpPr>
        <p:spPr>
          <a:xfrm>
            <a:off x="393192" y="51968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04088" y="5169408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공백 — 스케줄러가 KV를 모른다, KV-blind (잘 두고 고르기의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admission·라우팅이 cache locality 비인지(재사용 이득 소실), KV 풀 포화 시 preemption·전체 재계산뿐 — 압축/강등/축출 선택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재사용·압축의 이득이 시스템 처리량으로 전환되지 않음 (R-16)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5934456" y="5359908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6382512" y="5132832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55664" y="519684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7030A0"/>
          </a:solidFill>
          <a:ln/>
        </p:spPr>
      </p:sp>
      <p:sp>
        <p:nvSpPr>
          <p:cNvPr id="64" name="Text 62"/>
          <p:cNvSpPr/>
          <p:nvPr/>
        </p:nvSpPr>
        <p:spPr>
          <a:xfrm>
            <a:off x="6455664" y="5196840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DP5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132320" y="5169408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인지형 동적 스케줄링  </a:t>
            </a:r>
            <a:pPr indent="0" marL="0">
              <a:spcAft>
                <a:spcPts val="200"/>
              </a:spcAft>
              <a:buNone/>
            </a:pPr>
            <a:r>
              <a:rPr lang="en-US" sz="8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목표 3 [자원 인지 운용] 실현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locality 인지 라우팅 + KV 공간 확보(압축/강등/축출 선택) (FR-05) — 라우팅 1차 기준(locality vs 부하)을 후보 대결로 결정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 ≥ 2× (QA1) — 축별 ablation으로 순기여 분리</a:t>
            </a:r>
            <a:endParaRPr lang="en-US" sz="980" dirty="0"/>
          </a:p>
        </p:txBody>
      </p:sp>
      <p:sp>
        <p:nvSpPr>
          <p:cNvPr id="66" name="Shape 64"/>
          <p:cNvSpPr/>
          <p:nvPr/>
        </p:nvSpPr>
        <p:spPr>
          <a:xfrm>
            <a:off x="320040" y="5916168"/>
            <a:ext cx="11551615" cy="530352"/>
          </a:xfrm>
          <a:prstGeom prst="rect">
            <a:avLst/>
          </a:prstGeom>
          <a:solidFill>
            <a:srgbClr val="FFF2CC"/>
          </a:solidFill>
          <a:ln w="12700">
            <a:solidFill>
              <a:srgbClr val="843C0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48056" y="5916168"/>
            <a:ext cx="1129558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843C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문제: </a:t>
            </a:r>
            <a:pPr indent="0" marL="0">
              <a:buNone/>
            </a:pPr>
            <a:r>
              <a:rPr lang="en-US" sz="9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지렛대는 결합되어 있으나(재사용은 남는 것을, 압축은 비용을, 스케줄링은 활용을 결정) 조율 계층이 어느 런타임에도 없다 → </a:t>
            </a:r>
            <a:pPr indent="0" marL="0">
              <a:buNone/>
            </a:pPr>
            <a:r>
              <a:rPr lang="en-US" sz="9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DP2 KV 배치·압축의 관리 주체</a:t>
            </a:r>
            <a:pPr indent="0" marL="0">
              <a:buNone/>
            </a:pPr>
            <a:r>
              <a:rPr lang="en-US" sz="9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조율의 소재를, </a:t>
            </a:r>
            <a:pPr indent="0" marL="0">
              <a:buNone/>
            </a:pPr>
            <a:r>
              <a:rPr lang="en-US" sz="9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실행 스택 소싱</a:t>
            </a:r>
            <a:pPr indent="0" marL="0">
              <a:buNone/>
            </a:pPr>
            <a:r>
              <a:rPr lang="en-US" sz="9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이 모두가 사는 집을 결정 — 설계 챕터 DP1–DP5로 전개.</a:t>
            </a:r>
            <a:pPr indent="0" marL="0">
              <a:buNone/>
            </a:pPr>
            <a:r>
              <a:rPr lang="en-US" sz="88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(2단계 진화: 자사 memory-centric 디바이스 확장 — MCR 완성)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2026-07-26T12:45:08Z</dcterms:created>
  <dcterms:modified xsi:type="dcterms:W3CDTF">2026-07-26T12:45:08Z</dcterms:modified>
</cp:coreProperties>
</file>