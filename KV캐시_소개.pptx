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KV 캐시 구조/동작 설명 슬라이드. (1) 구조: 트랜스포머의 각 레이어(그리고 각 어텐션 헤드)마다 토큰별 Key/Value 벡터가 GPU HBM에 저장되며, 토큰이 하나 생성될 때마다 모든 레이어에 K,V가 한 칸씩 추가된다. (2) 재사용: 디코딩 시 새 토큰의 Q,K,V만 계산하고, 어텐션은 HBM에서 읽어온 K1..Kt, V1..Vt와 Q_new의 내적으로 수행 — 이전 토큰 재계산이 없어 빠르다. 계산 후 새 K,V를 캐시 끝에 추가한다. (3) 비용: 메모리 = 2 x L x H x d x t x 2바이트(FP16 기준)로 시퀀스 길이 t에 정비례. 긴 문맥에서 KV 캐시가 HBM 용량과 대역폭의 병목이 되며, 이것이 PagedAttention, MQA/GQA, KV 캐시 양자화 같은 최적화의 배경이다.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그림으로 보는 </a:t>
            </a:r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34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21208" y="841248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FB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구조 — 어떻게 생겼나 ② 재사용 — 어떻게 다시 쓰나 ③ 비용 — 메모리를 얼마나 차지하나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5742432" cy="4160520"/>
          </a:xfrm>
          <a:prstGeom prst="roundRect">
            <a:avLst>
              <a:gd name="adj" fmla="val 2637"/>
            </a:avLst>
          </a:prstGeom>
          <a:solidFill>
            <a:srgbClr val="16213A"/>
          </a:solidFill>
          <a:ln/>
        </p:spPr>
      </p:sp>
      <p:sp>
        <p:nvSpPr>
          <p:cNvPr id="5" name="Shape 3"/>
          <p:cNvSpPr/>
          <p:nvPr/>
        </p:nvSpPr>
        <p:spPr>
          <a:xfrm>
            <a:off x="6382512" y="1207008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16213A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5559552"/>
            <a:ext cx="11274552" cy="91440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71600"/>
            <a:ext cx="310896" cy="310896"/>
          </a:xfrm>
          <a:prstGeom prst="ellipse">
            <a:avLst/>
          </a:prstGeom>
          <a:solidFill>
            <a:srgbClr val="34D3EE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78992" y="13441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— GPU HBM 메모리 안에 상주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1810512"/>
            <a:ext cx="5340096" cy="2697480"/>
          </a:xfrm>
          <a:prstGeom prst="roundRect">
            <a:avLst>
              <a:gd name="adj" fmla="val 2712"/>
            </a:avLst>
          </a:prstGeom>
          <a:solidFill>
            <a:srgbClr val="0B1220"/>
          </a:solidFill>
          <a:ln w="12700">
            <a:solidFill>
              <a:srgbClr val="34D3EE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822960" y="188366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4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HBM (고대역폭 메모리)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24528" y="1920240"/>
            <a:ext cx="182880" cy="182880"/>
          </a:xfrm>
          <a:prstGeom prst="rect">
            <a:avLst/>
          </a:prstGeom>
          <a:solidFill>
            <a:srgbClr val="0F3A4A"/>
          </a:solidFill>
          <a:ln w="12700">
            <a:solidFill>
              <a:srgbClr val="34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53128" y="1883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FB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0" y="1920240"/>
            <a:ext cx="182880" cy="182880"/>
          </a:xfrm>
          <a:prstGeom prst="rect">
            <a:avLst/>
          </a:prstGeom>
          <a:solidFill>
            <a:srgbClr val="2B2350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57800" y="188366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FB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572768" y="221284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9FB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093976" y="221284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9FB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615184" y="221284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9FB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136392" y="221284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9FB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657600" y="221284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9FB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178808" y="221284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9FB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700016" y="221284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768096" y="25420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FB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371600" y="2395728"/>
            <a:ext cx="164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4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1572768" y="2395728"/>
            <a:ext cx="475488" cy="256032"/>
          </a:xfrm>
          <a:prstGeom prst="rect">
            <a:avLst/>
          </a:prstGeom>
          <a:solidFill>
            <a:srgbClr val="0F3A4A"/>
          </a:solidFill>
          <a:ln w="9525">
            <a:solidFill>
              <a:srgbClr val="34D3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93976" y="2395728"/>
            <a:ext cx="475488" cy="256032"/>
          </a:xfrm>
          <a:prstGeom prst="rect">
            <a:avLst/>
          </a:prstGeom>
          <a:solidFill>
            <a:srgbClr val="0F3A4A"/>
          </a:solidFill>
          <a:ln w="9525">
            <a:solidFill>
              <a:srgbClr val="34D3E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15184" y="2395728"/>
            <a:ext cx="475488" cy="256032"/>
          </a:xfrm>
          <a:prstGeom prst="rect">
            <a:avLst/>
          </a:prstGeom>
          <a:solidFill>
            <a:srgbClr val="0F3A4A"/>
          </a:solidFill>
          <a:ln w="9525">
            <a:solidFill>
              <a:srgbClr val="34D3E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136392" y="2395728"/>
            <a:ext cx="475488" cy="256032"/>
          </a:xfrm>
          <a:prstGeom prst="rect">
            <a:avLst/>
          </a:prstGeom>
          <a:solidFill>
            <a:srgbClr val="0F3A4A"/>
          </a:solidFill>
          <a:ln w="9525">
            <a:solidFill>
              <a:srgbClr val="34D3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0" y="2395728"/>
            <a:ext cx="475488" cy="256032"/>
          </a:xfrm>
          <a:prstGeom prst="rect">
            <a:avLst/>
          </a:prstGeom>
          <a:solidFill>
            <a:srgbClr val="0F3A4A"/>
          </a:solidFill>
          <a:ln w="9525">
            <a:solidFill>
              <a:srgbClr val="34D3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8808" y="2395728"/>
            <a:ext cx="475488" cy="256032"/>
          </a:xfrm>
          <a:prstGeom prst="rect">
            <a:avLst/>
          </a:prstGeom>
          <a:solidFill>
            <a:srgbClr val="34D3EE"/>
          </a:solidFill>
          <a:ln w="9525">
            <a:solidFill>
              <a:srgbClr val="34D3E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700016" y="2395728"/>
            <a:ext cx="475488" cy="256032"/>
          </a:xfrm>
          <a:prstGeom prst="rect">
            <a:avLst/>
          </a:prstGeom>
          <a:ln w="12700">
            <a:solidFill>
              <a:srgbClr val="34D3E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371600" y="2697480"/>
            <a:ext cx="164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1572768" y="2697480"/>
            <a:ext cx="475488" cy="256032"/>
          </a:xfrm>
          <a:prstGeom prst="rect">
            <a:avLst/>
          </a:prstGeom>
          <a:solidFill>
            <a:srgbClr val="2B2350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93976" y="2697480"/>
            <a:ext cx="475488" cy="256032"/>
          </a:xfrm>
          <a:prstGeom prst="rect">
            <a:avLst/>
          </a:prstGeom>
          <a:solidFill>
            <a:srgbClr val="2B2350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15184" y="2697480"/>
            <a:ext cx="475488" cy="256032"/>
          </a:xfrm>
          <a:prstGeom prst="rect">
            <a:avLst/>
          </a:prstGeom>
          <a:solidFill>
            <a:srgbClr val="2B2350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136392" y="2697480"/>
            <a:ext cx="475488" cy="256032"/>
          </a:xfrm>
          <a:prstGeom prst="rect">
            <a:avLst/>
          </a:prstGeom>
          <a:solidFill>
            <a:srgbClr val="2B2350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0" y="2697480"/>
            <a:ext cx="475488" cy="256032"/>
          </a:xfrm>
          <a:prstGeom prst="rect">
            <a:avLst/>
          </a:prstGeom>
          <a:solidFill>
            <a:srgbClr val="2B2350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178808" y="2697480"/>
            <a:ext cx="475488" cy="256032"/>
          </a:xfrm>
          <a:prstGeom prst="rect">
            <a:avLst/>
          </a:prstGeom>
          <a:solidFill>
            <a:srgbClr val="A78BFA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700016" y="2697480"/>
            <a:ext cx="475488" cy="256032"/>
          </a:xfrm>
          <a:prstGeom prst="rect">
            <a:avLst/>
          </a:prstGeom>
          <a:ln w="12700">
            <a:solidFill>
              <a:srgbClr val="A78BFA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768096" y="33284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FB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2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371600" y="3182112"/>
            <a:ext cx="164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4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1572768" y="3182112"/>
            <a:ext cx="475488" cy="256032"/>
          </a:xfrm>
          <a:prstGeom prst="rect">
            <a:avLst/>
          </a:prstGeom>
          <a:solidFill>
            <a:srgbClr val="0F3A4A"/>
          </a:solidFill>
          <a:ln w="9525">
            <a:solidFill>
              <a:srgbClr val="34D3E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93976" y="3182112"/>
            <a:ext cx="475488" cy="256032"/>
          </a:xfrm>
          <a:prstGeom prst="rect">
            <a:avLst/>
          </a:prstGeom>
          <a:solidFill>
            <a:srgbClr val="0F3A4A"/>
          </a:solidFill>
          <a:ln w="9525">
            <a:solidFill>
              <a:srgbClr val="34D3E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15184" y="3182112"/>
            <a:ext cx="475488" cy="256032"/>
          </a:xfrm>
          <a:prstGeom prst="rect">
            <a:avLst/>
          </a:prstGeom>
          <a:solidFill>
            <a:srgbClr val="0F3A4A"/>
          </a:solidFill>
          <a:ln w="9525">
            <a:solidFill>
              <a:srgbClr val="34D3E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136392" y="3182112"/>
            <a:ext cx="475488" cy="256032"/>
          </a:xfrm>
          <a:prstGeom prst="rect">
            <a:avLst/>
          </a:prstGeom>
          <a:solidFill>
            <a:srgbClr val="0F3A4A"/>
          </a:solidFill>
          <a:ln w="9525">
            <a:solidFill>
              <a:srgbClr val="34D3E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657600" y="3182112"/>
            <a:ext cx="475488" cy="256032"/>
          </a:xfrm>
          <a:prstGeom prst="rect">
            <a:avLst/>
          </a:prstGeom>
          <a:solidFill>
            <a:srgbClr val="0F3A4A"/>
          </a:solidFill>
          <a:ln w="9525">
            <a:solidFill>
              <a:srgbClr val="34D3E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178808" y="3182112"/>
            <a:ext cx="475488" cy="256032"/>
          </a:xfrm>
          <a:prstGeom prst="rect">
            <a:avLst/>
          </a:prstGeom>
          <a:solidFill>
            <a:srgbClr val="34D3EE"/>
          </a:solidFill>
          <a:ln w="9525">
            <a:solidFill>
              <a:srgbClr val="34D3E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700016" y="3182112"/>
            <a:ext cx="475488" cy="256032"/>
          </a:xfrm>
          <a:prstGeom prst="rect">
            <a:avLst/>
          </a:prstGeom>
          <a:ln w="12700">
            <a:solidFill>
              <a:srgbClr val="34D3EE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371600" y="3483864"/>
            <a:ext cx="164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1572768" y="3483864"/>
            <a:ext cx="475488" cy="256032"/>
          </a:xfrm>
          <a:prstGeom prst="rect">
            <a:avLst/>
          </a:prstGeom>
          <a:solidFill>
            <a:srgbClr val="2B2350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093976" y="3483864"/>
            <a:ext cx="475488" cy="256032"/>
          </a:xfrm>
          <a:prstGeom prst="rect">
            <a:avLst/>
          </a:prstGeom>
          <a:solidFill>
            <a:srgbClr val="2B2350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615184" y="3483864"/>
            <a:ext cx="475488" cy="256032"/>
          </a:xfrm>
          <a:prstGeom prst="rect">
            <a:avLst/>
          </a:prstGeom>
          <a:solidFill>
            <a:srgbClr val="2B2350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136392" y="3483864"/>
            <a:ext cx="475488" cy="256032"/>
          </a:xfrm>
          <a:prstGeom prst="rect">
            <a:avLst/>
          </a:prstGeom>
          <a:solidFill>
            <a:srgbClr val="2B2350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657600" y="3483864"/>
            <a:ext cx="475488" cy="256032"/>
          </a:xfrm>
          <a:prstGeom prst="rect">
            <a:avLst/>
          </a:prstGeom>
          <a:solidFill>
            <a:srgbClr val="2B2350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178808" y="3483864"/>
            <a:ext cx="475488" cy="256032"/>
          </a:xfrm>
          <a:prstGeom prst="rect">
            <a:avLst/>
          </a:prstGeom>
          <a:solidFill>
            <a:srgbClr val="A78BFA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700016" y="3483864"/>
            <a:ext cx="475488" cy="256032"/>
          </a:xfrm>
          <a:prstGeom prst="rect">
            <a:avLst/>
          </a:prstGeom>
          <a:ln w="12700">
            <a:solidFill>
              <a:srgbClr val="A78BFA"/>
            </a:solidFill>
            <a:prstDash val="dash"/>
          </a:ln>
        </p:spPr>
      </p:sp>
      <p:sp>
        <p:nvSpPr>
          <p:cNvPr id="57" name="Text 55"/>
          <p:cNvSpPr/>
          <p:nvPr/>
        </p:nvSpPr>
        <p:spPr>
          <a:xfrm>
            <a:off x="1572768" y="382219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· ·  Layer L까지 같은 그리드 반복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1572768" y="4206240"/>
            <a:ext cx="3602736" cy="0"/>
          </a:xfrm>
          <a:prstGeom prst="line">
            <a:avLst/>
          </a:prstGeom>
          <a:noFill/>
          <a:ln w="22225">
            <a:solidFill>
              <a:srgbClr val="34D3EE"/>
            </a:solidFill>
            <a:prstDash val="solid"/>
            <a:tailEnd type="triangle"/>
          </a:ln>
        </p:spPr>
      </p:sp>
      <p:sp>
        <p:nvSpPr>
          <p:cNvPr id="59" name="Text 57"/>
          <p:cNvSpPr/>
          <p:nvPr/>
        </p:nvSpPr>
        <p:spPr>
          <a:xfrm>
            <a:off x="1572768" y="4261104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토큰 1개마다 → 모든 레이어에 K,V 한 칸씩 추가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58368" y="4617720"/>
            <a:ext cx="5340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9E3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하나마다 K(Key)·V(Value) 벡터가 레이어 수만큼 저장됩니다. 시퀀스(문맥)가 길어질수록 그리드는 오른쪽으로 계속 자랍니다.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6583680" y="1371600"/>
            <a:ext cx="310896" cy="3108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62" name="Text 60"/>
          <p:cNvSpPr/>
          <p:nvPr/>
        </p:nvSpPr>
        <p:spPr>
          <a:xfrm>
            <a:off x="658368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004304" y="134416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— 매번 새 토큰 하나만 계산</a:t>
            </a:r>
            <a:endParaRPr lang="en-US" sz="1500" dirty="0"/>
          </a:p>
        </p:txBody>
      </p:sp>
      <p:sp>
        <p:nvSpPr>
          <p:cNvPr id="64" name="Shape 62"/>
          <p:cNvSpPr/>
          <p:nvPr/>
        </p:nvSpPr>
        <p:spPr>
          <a:xfrm>
            <a:off x="6583680" y="1810512"/>
            <a:ext cx="4956048" cy="566928"/>
          </a:xfrm>
          <a:prstGeom prst="roundRect">
            <a:avLst>
              <a:gd name="adj" fmla="val 12903"/>
            </a:avLst>
          </a:prstGeom>
          <a:solidFill>
            <a:srgbClr val="1B2A4A"/>
          </a:solidFill>
          <a:ln/>
        </p:spPr>
      </p:sp>
      <p:sp>
        <p:nvSpPr>
          <p:cNvPr id="65" name="Text 63"/>
          <p:cNvSpPr/>
          <p:nvPr/>
        </p:nvSpPr>
        <p:spPr>
          <a:xfrm>
            <a:off x="6748272" y="181051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토큰 입력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→  새 토큰의 Q·K·V만 새로 계산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9061704" y="2377440"/>
            <a:ext cx="0" cy="201168"/>
          </a:xfrm>
          <a:prstGeom prst="line">
            <a:avLst/>
          </a:prstGeom>
          <a:noFill/>
          <a:ln w="19050">
            <a:solidFill>
              <a:srgbClr val="4ADE80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6583680" y="2578608"/>
            <a:ext cx="4956048" cy="566928"/>
          </a:xfrm>
          <a:prstGeom prst="roundRect">
            <a:avLst>
              <a:gd name="adj" fmla="val 12903"/>
            </a:avLst>
          </a:prstGeom>
          <a:solidFill>
            <a:srgbClr val="1B2A4A"/>
          </a:solidFill>
          <a:ln w="12700">
            <a:solidFill>
              <a:srgbClr val="34D3E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748272" y="2578608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4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HBM에서 캐시 읽기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E3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저장된 K1…Kt, V1…Vt 재사용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6035040" y="2862072"/>
            <a:ext cx="530352" cy="0"/>
          </a:xfrm>
          <a:prstGeom prst="line">
            <a:avLst/>
          </a:prstGeom>
          <a:noFill/>
          <a:ln w="19050">
            <a:solidFill>
              <a:srgbClr val="34D3EE"/>
            </a:solidFill>
            <a:prstDash val="dash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9061704" y="3145536"/>
            <a:ext cx="0" cy="201168"/>
          </a:xfrm>
          <a:prstGeom prst="line">
            <a:avLst/>
          </a:prstGeom>
          <a:noFill/>
          <a:ln w="19050">
            <a:solidFill>
              <a:srgbClr val="4ADE80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6583680" y="3346704"/>
            <a:ext cx="4956048" cy="859536"/>
          </a:xfrm>
          <a:prstGeom prst="roundRect">
            <a:avLst>
              <a:gd name="adj" fmla="val 8511"/>
            </a:avLst>
          </a:prstGeom>
          <a:solidFill>
            <a:srgbClr val="1B2A4A"/>
          </a:solidFill>
          <a:ln/>
        </p:spPr>
      </p:sp>
      <p:sp>
        <p:nvSpPr>
          <p:cNvPr id="72" name="Text 70"/>
          <p:cNvSpPr/>
          <p:nvPr/>
        </p:nvSpPr>
        <p:spPr>
          <a:xfrm>
            <a:off x="6748272" y="341985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어텐션 계산 — 이전 토큰 재계산 없음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6748272" y="37673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4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Q_new × (K1 … Kt) → 가중치 → 가중치 × (V1 … Vt)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9061704" y="4206240"/>
            <a:ext cx="0" cy="201168"/>
          </a:xfrm>
          <a:prstGeom prst="line">
            <a:avLst/>
          </a:prstGeom>
          <a:noFill/>
          <a:ln w="19050">
            <a:solidFill>
              <a:srgbClr val="4ADE80"/>
            </a:solidFill>
            <a:prstDash val="solid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6583680" y="4407408"/>
            <a:ext cx="4956048" cy="566928"/>
          </a:xfrm>
          <a:prstGeom prst="roundRect">
            <a:avLst>
              <a:gd name="adj" fmla="val 12903"/>
            </a:avLst>
          </a:prstGeom>
          <a:solidFill>
            <a:srgbClr val="1B2A4A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748272" y="4407408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토큰 출력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+  새 K,V 한 칸을 캐시에 추가</a:t>
            </a:r>
            <a:endParaRPr lang="en-US" sz="1150" dirty="0"/>
          </a:p>
        </p:txBody>
      </p:sp>
      <p:sp>
        <p:nvSpPr>
          <p:cNvPr id="77" name="Shape 75"/>
          <p:cNvSpPr/>
          <p:nvPr/>
        </p:nvSpPr>
        <p:spPr>
          <a:xfrm>
            <a:off x="6035040" y="4690872"/>
            <a:ext cx="530352" cy="0"/>
          </a:xfrm>
          <a:prstGeom prst="line">
            <a:avLst/>
          </a:prstGeom>
          <a:noFill/>
          <a:ln w="19050">
            <a:solidFill>
              <a:srgbClr val="FBBF24"/>
            </a:solidFill>
            <a:prstDash val="dash"/>
            <a:headEnd type="triangle"/>
          </a:ln>
        </p:spPr>
      </p:sp>
      <p:sp>
        <p:nvSpPr>
          <p:cNvPr id="78" name="Text 76"/>
          <p:cNvSpPr/>
          <p:nvPr/>
        </p:nvSpPr>
        <p:spPr>
          <a:xfrm>
            <a:off x="6583680" y="5065776"/>
            <a:ext cx="4956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토큰들의 K,V는 다시 계산하지 않습니다 — 그래서 빠릅니다.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658368" y="5705856"/>
            <a:ext cx="310896" cy="3108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80" name="Text 78"/>
          <p:cNvSpPr/>
          <p:nvPr/>
        </p:nvSpPr>
        <p:spPr>
          <a:xfrm>
            <a:off x="658368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1078992" y="5669280"/>
            <a:ext cx="6217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— KV 캐시 메모리는 시퀀스 길이에 정비례</a:t>
            </a:r>
            <a:endParaRPr lang="en-US" sz="1400" dirty="0"/>
          </a:p>
        </p:txBody>
      </p:sp>
      <p:sp>
        <p:nvSpPr>
          <p:cNvPr id="82" name="Text 80"/>
          <p:cNvSpPr/>
          <p:nvPr/>
        </p:nvSpPr>
        <p:spPr>
          <a:xfrm>
            <a:off x="1078992" y="60533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9E3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≈ 2(K,V) × 레이어 L × 헤드 H × 차원 d ×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시퀀스 길이 t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9E3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× 2B(FP16)</a:t>
            </a:r>
            <a:endParaRPr lang="en-US" sz="1200" dirty="0"/>
          </a:p>
        </p:txBody>
      </p:sp>
      <p:sp>
        <p:nvSpPr>
          <p:cNvPr id="83" name="Text 81"/>
          <p:cNvSpPr/>
          <p:nvPr/>
        </p:nvSpPr>
        <p:spPr>
          <a:xfrm>
            <a:off x="7635240" y="569671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FB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1K 토큰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8641080" y="5696712"/>
            <a:ext cx="713232" cy="182880"/>
          </a:xfrm>
          <a:prstGeom prst="roundRect">
            <a:avLst>
              <a:gd name="adj" fmla="val 15000"/>
            </a:avLst>
          </a:prstGeom>
          <a:solidFill>
            <a:srgbClr val="34D3EE"/>
          </a:solidFill>
          <a:ln/>
        </p:spPr>
      </p:sp>
      <p:sp>
        <p:nvSpPr>
          <p:cNvPr id="85" name="Text 83"/>
          <p:cNvSpPr/>
          <p:nvPr/>
        </p:nvSpPr>
        <p:spPr>
          <a:xfrm>
            <a:off x="7635240" y="595274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FB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2K 토큰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641080" y="5952744"/>
            <a:ext cx="1426464" cy="182880"/>
          </a:xfrm>
          <a:prstGeom prst="roundRect">
            <a:avLst>
              <a:gd name="adj" fmla="val 15000"/>
            </a:avLst>
          </a:prstGeom>
          <a:solidFill>
            <a:srgbClr val="FBBF24"/>
          </a:solidFill>
          <a:ln/>
        </p:spPr>
      </p:sp>
      <p:sp>
        <p:nvSpPr>
          <p:cNvPr id="87" name="Text 85"/>
          <p:cNvSpPr/>
          <p:nvPr/>
        </p:nvSpPr>
        <p:spPr>
          <a:xfrm>
            <a:off x="7635240" y="620877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FB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4K 토큰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8641080" y="6208776"/>
            <a:ext cx="2852928" cy="182880"/>
          </a:xfrm>
          <a:prstGeom prst="roundRect">
            <a:avLst>
              <a:gd name="adj" fmla="val 15000"/>
            </a:avLst>
          </a:prstGeom>
          <a:solidFill>
            <a:srgbClr val="F87171"/>
          </a:solidFill>
          <a:ln/>
        </p:spPr>
      </p:sp>
      <p:sp>
        <p:nvSpPr>
          <p:cNvPr id="89" name="Text 87"/>
          <p:cNvSpPr/>
          <p:nvPr/>
        </p:nvSpPr>
        <p:spPr>
          <a:xfrm>
            <a:off x="9464040" y="569671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FB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문맥 2배 → 메모리 2배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2026-07-22T01:33:45Z</dcterms:created>
  <dcterms:modified xsi:type="dcterms:W3CDTF">2026-07-22T01:33:45Z</dcterms:modified>
</cp:coreProperties>
</file>