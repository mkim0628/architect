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KV 캐시(Key-Value Cache)는 트랜스포머 기반 LLM이 자기회귀 방식으로 토큰을 하나씩 생성할 때, 이전 토큰들의 어텐션 Key/Value 벡터를 저장해 재계산을 피하는 기법입니다. 없으면 매 토큰마다 O(n^2) 재계산이 발생하고, 있으면 새 토큰만 계산해 추론 속도가 크게 빨라집니다. 대가로 시퀀스 길이·레이어·헤드 수에 비례해 GPU 메모리를 소모합니다.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057400"/>
          </a:xfrm>
          <a:prstGeom prst="roundRect">
            <a:avLst/>
          </a:prstGeom>
          <a:solidFill>
            <a:srgbClr val="111C3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2788920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34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4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추론(Inference) 최적화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4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캐시</a:t>
            </a:r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란 무엇인가요?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문장을 한 글자(</a:t>
            </a:r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)씩 만들 때,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앞서 계산한 정보를 저장해 두는 '메모장'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212848"/>
            <a:ext cx="11091672" cy="1024128"/>
          </a:xfrm>
          <a:prstGeom prst="roundRect">
            <a:avLst>
              <a:gd name="adj" fmla="val 10714"/>
            </a:avLst>
          </a:prstGeom>
          <a:solidFill>
            <a:srgbClr val="16213A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432304"/>
            <a:ext cx="585216" cy="585216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560320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72768" y="235915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쉽게 말하면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572768" y="2670048"/>
            <a:ext cx="9829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9E3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책을 한 줄 읽을 때마다 처음부터 다시 읽지 않고, 지금까지 읽은 내용을 '기억'해 두는 것과 같아요.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48640" y="3456432"/>
            <a:ext cx="5431536" cy="1847088"/>
          </a:xfrm>
          <a:prstGeom prst="roundRect">
            <a:avLst>
              <a:gd name="adj" fmla="val 5941"/>
            </a:avLst>
          </a:prstGeom>
          <a:solidFill>
            <a:srgbClr val="16213A"/>
          </a:solidFill>
          <a:ln w="12700">
            <a:solidFill>
              <a:srgbClr val="3A223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2960" y="3749040"/>
            <a:ext cx="566928" cy="566928"/>
          </a:xfrm>
          <a:prstGeom prst="ellipse">
            <a:avLst/>
          </a:prstGeom>
          <a:solidFill>
            <a:srgbClr val="2A172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886200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17904" y="3730752"/>
            <a:ext cx="4242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캐시가 없다면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1517904" y="4059936"/>
            <a:ext cx="4242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느려요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841248" y="4425696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9E3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토큰을 만들 때마다 이전 토큰 전부를 처음부터 다시 계산 → 문장이 길어질수록 점점 느려집니다.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6208776" y="3456432"/>
            <a:ext cx="5431536" cy="1847088"/>
          </a:xfrm>
          <a:prstGeom prst="roundRect">
            <a:avLst>
              <a:gd name="adj" fmla="val 5941"/>
            </a:avLst>
          </a:prstGeom>
          <a:solidFill>
            <a:srgbClr val="16213A"/>
          </a:solidFill>
          <a:ln w="12700">
            <a:solidFill>
              <a:srgbClr val="1E3A2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483096" y="3749040"/>
            <a:ext cx="566928" cy="566928"/>
          </a:xfrm>
          <a:prstGeom prst="ellipse">
            <a:avLst/>
          </a:prstGeom>
          <a:solidFill>
            <a:srgbClr val="16281E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3877056"/>
            <a:ext cx="274320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178040" y="3730752"/>
            <a:ext cx="4242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캐시를 쓰면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7178040" y="4059936"/>
            <a:ext cx="4242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빨라요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501384" y="4425696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9E3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토큰의 </a:t>
            </a:r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34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Key·Value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9E3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저장해 재사용 → 새로 만든 토큰만 계산하면 되어 훨씬 빠릅니다.</a:t>
            </a:r>
            <a:endParaRPr lang="en-US" sz="1350" dirty="0"/>
          </a:p>
        </p:txBody>
      </p:sp>
      <p:sp>
        <p:nvSpPr>
          <p:cNvPr id="24" name="Shape 19"/>
          <p:cNvSpPr/>
          <p:nvPr/>
        </p:nvSpPr>
        <p:spPr>
          <a:xfrm>
            <a:off x="548640" y="5504688"/>
            <a:ext cx="11091672" cy="749808"/>
          </a:xfrm>
          <a:prstGeom prst="roundRect">
            <a:avLst>
              <a:gd name="adj" fmla="val 14634"/>
            </a:avLst>
          </a:prstGeom>
          <a:solidFill>
            <a:srgbClr val="1B2A4A"/>
          </a:solidFill>
          <a:ln/>
        </p:spPr>
      </p:sp>
      <p:sp>
        <p:nvSpPr>
          <p:cNvPr id="25" name="Shape 20"/>
          <p:cNvSpPr/>
          <p:nvPr/>
        </p:nvSpPr>
        <p:spPr>
          <a:xfrm>
            <a:off x="786384" y="5669280"/>
            <a:ext cx="420624" cy="420624"/>
          </a:xfrm>
          <a:prstGeom prst="ellipse">
            <a:avLst/>
          </a:prstGeom>
          <a:solidFill>
            <a:srgbClr val="34D3EE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5760720"/>
            <a:ext cx="237744" cy="23774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371600" y="5504688"/>
            <a:ext cx="10149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트레이드오프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속도 </a:t>
            </a:r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↑ 빨라짐</a:t>
            </a:r>
            <a:pPr indent="0" marL="0">
              <a:buNone/>
            </a:pPr>
            <a:r>
              <a:rPr lang="en-US" sz="1300" dirty="0">
                <a:solidFill>
                  <a:srgbClr val="9FB3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대신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사용량 </a:t>
            </a:r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↑ 증가</a:t>
            </a:r>
            <a:pPr indent="0" marL="0">
              <a:buNone/>
            </a:pPr>
            <a:r>
              <a:rPr lang="en-US" sz="1250" dirty="0">
                <a:solidFill>
                  <a:srgbClr val="9FB3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(문맥이 길수록 커짐)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2026-07-22T00:32:21Z</dcterms:created>
  <dcterms:modified xsi:type="dcterms:W3CDTF">2026-07-22T00:32:21Z</dcterms:modified>
</cp:coreProperties>
</file>