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Design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2764460" cy="384048"/>
          </a:xfrm>
          <a:prstGeom prst="homePlate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2508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구성 요소 도출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9092" y="1078992"/>
            <a:ext cx="2764460" cy="384048"/>
          </a:xfrm>
          <a:prstGeom prst="homePlate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3294812" y="1078992"/>
            <a:ext cx="2508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드라이버 후보 선정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8144" y="1078992"/>
            <a:ext cx="2764460" cy="384048"/>
          </a:xfrm>
          <a:prstGeom prst="homePlate">
            <a:avLst/>
          </a:prstGeom>
          <a:solidFill>
            <a:srgbClr val="4E7C3A"/>
          </a:solidFill>
          <a:ln/>
        </p:spPr>
      </p:sp>
      <p:sp>
        <p:nvSpPr>
          <p:cNvPr id="24" name="Text 22"/>
          <p:cNvSpPr/>
          <p:nvPr/>
        </p:nvSpPr>
        <p:spPr>
          <a:xfrm>
            <a:off x="6223864" y="1078992"/>
            <a:ext cx="2508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결정사항 선정 및 아키텍처 검증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07195" y="1078992"/>
            <a:ext cx="2764460" cy="384048"/>
          </a:xfrm>
          <a:prstGeom prst="homePlat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9152915" y="1078992"/>
            <a:ext cx="2508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설계 및 구현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1572768"/>
            <a:ext cx="27644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1572768"/>
            <a:ext cx="2618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요구사항 수집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56816"/>
          <a:ext cx="27644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7129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Stakeholder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 수집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S.LSI 사업부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 SW 개발팀)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Mobile NPU 관련 요구사항 전달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(DRAM 설계팀)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HBM-PIM 관련 요구 사항 전달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(System 연구센터)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분산 GPU 서버 관련 요구사항 전달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 (랩장)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 과제/사업부와의 협력 관련 요구사항 전달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과제의 운영 및 유지보수에 대한 의견 전달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당사로부터 제품을 납품 받아 실제 시스템을 구축하는 외부 업체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249092" y="1572768"/>
            <a:ext cx="27644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22244" y="1572768"/>
            <a:ext cx="2618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요구사항 도출 · 분석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49092" y="1956816"/>
            <a:ext cx="276446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3249092" y="1956816"/>
            <a:ext cx="27644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Refinement/QAW → FR·QA·Constraints 흐름도 ]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249092" y="3035808"/>
            <a:ext cx="27644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기능 9, QA 5, Constraint 2, Drivers 16종 선정 ]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9092" y="3355848"/>
          <a:ext cx="276446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777240"/>
                <a:gridCol w="661340"/>
                <a:gridCol w="274320"/>
                <a:gridCol w="274320"/>
                <a:gridCol w="274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Refinement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Extensibility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장치 지원 용이성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Efficiency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자원의 효율적인 사용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Performance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빠른 추론/학습 시간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Portability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 이식성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QA-07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Reusability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 간 코드 재사용성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2"/>
          <p:cNvSpPr/>
          <p:nvPr/>
        </p:nvSpPr>
        <p:spPr>
          <a:xfrm>
            <a:off x="6178144" y="1572768"/>
            <a:ext cx="27644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251296" y="1572768"/>
            <a:ext cx="2618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후보 구조 선정 및 평가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6178144" y="1956816"/>
            <a:ext cx="27644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시스템 분석 → Skeleton Architecture 도출 ]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6178144" y="2231136"/>
            <a:ext cx="2764460" cy="1554480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40" name="Text 36"/>
          <p:cNvSpPr/>
          <p:nvPr/>
        </p:nvSpPr>
        <p:spPr>
          <a:xfrm>
            <a:off x="6178144" y="2231136"/>
            <a:ext cx="27644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DP-01~05 후보 구조 ]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178144" y="3858768"/>
            <a:ext cx="27644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설계 결정 사항 5件 → 설계안 도출 ]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6178144" y="4133088"/>
            <a:ext cx="2764460" cy="1737360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43" name="Text 39"/>
          <p:cNvSpPr/>
          <p:nvPr/>
        </p:nvSpPr>
        <p:spPr>
          <a:xfrm>
            <a:off x="6178144" y="4133088"/>
            <a:ext cx="27644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ATAM 프로세스 ]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9107195" y="1572768"/>
            <a:ext cx="27644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9180347" y="1572768"/>
            <a:ext cx="2618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Architecture Design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9107195" y="1956816"/>
            <a:ext cx="27644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SEI 3 View Design ]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9107195" y="2231136"/>
            <a:ext cx="27644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Module View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9107195" y="2450592"/>
            <a:ext cx="2764460" cy="9326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49" name="Text 45"/>
          <p:cNvSpPr/>
          <p:nvPr/>
        </p:nvSpPr>
        <p:spPr>
          <a:xfrm>
            <a:off x="9107195" y="2450592"/>
            <a:ext cx="27644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9107195" y="3474720"/>
            <a:ext cx="27644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Behavior View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9107195" y="3694176"/>
            <a:ext cx="2764460" cy="9326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52" name="Text 48"/>
          <p:cNvSpPr/>
          <p:nvPr/>
        </p:nvSpPr>
        <p:spPr>
          <a:xfrm>
            <a:off x="9107195" y="3694176"/>
            <a:ext cx="27644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9107195" y="4718304"/>
            <a:ext cx="27644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Deployment View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9107195" y="4937760"/>
            <a:ext cx="2764460" cy="9326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55" name="Text 51"/>
          <p:cNvSpPr/>
          <p:nvPr/>
        </p:nvSpPr>
        <p:spPr>
          <a:xfrm>
            <a:off x="9107195" y="4937760"/>
            <a:ext cx="27644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45575" y="630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수집된 요구사항 :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수집한 요구사항 54건 → </a:t>
            </a:r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요구사항 22건</a:t>
            </a:r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분석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1353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 기능 요구 사항 9건, 품질 요구 사항 11건, 제약 사항 2건 도출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1737360"/>
            <a:ext cx="630936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7373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03120"/>
          <a:ext cx="630936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1051560"/>
                <a:gridCol w="46908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요구사항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지원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임베디드 시스템과 대규모 서버 시스템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에서 딥 러닝 모델 실행 바이너리 생성·구동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연산 장치 지원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NPU, PIM, GPU 등 다양한 하드웨어 가속기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에서 실행 가능한 바이너리 생성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장치 간 연동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서로 다른 연산 장치를 사용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해서 딥 러닝 모델 실행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지원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다양한 AI 응용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지원 (CNN, RNN, Transformer 기반 LLM 등)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Ondevice 컴파일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실행할 시스템 상에서 컴파일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수행 후 바로 실행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학습/추론 지원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학습과 추론을 위한 바이너리 생성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병렬/분산 처리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개 이상의 연산 장치/서버 노드 동시 활용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하여 모델 실행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메모리가 작은 경우에도 모델 실행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가능 (필요 메모리 &gt; 장치 메모리)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 응용 실행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개 이상의 딥 러닝 모델 동시 실행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320040" y="5440680"/>
            <a:ext cx="630936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544068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제약사항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806440"/>
          <a:ext cx="630936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1051560"/>
                <a:gridCol w="46908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 사항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당사 핵심 HW IP 정보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컴파일러/런타임 사용자에게 노출되지 않아야 한다.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준수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목표한 개발 일정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을 준수해야 한다.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6858000" y="1737360"/>
            <a:ext cx="501365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9" name="Text 25"/>
          <p:cNvSpPr/>
          <p:nvPr/>
        </p:nvSpPr>
        <p:spPr>
          <a:xfrm>
            <a:off x="6903720" y="1737360"/>
            <a:ext cx="4922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Use-case diagram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858000" y="2103120"/>
            <a:ext cx="5013655" cy="4343400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31" name="Text 27"/>
          <p:cNvSpPr/>
          <p:nvPr/>
        </p:nvSpPr>
        <p:spPr>
          <a:xfrm>
            <a:off x="6858000" y="2103120"/>
            <a:ext cx="5013655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Use-case diagram: UC01~UC10 · 액터 2 ]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Utility Tree 활용한 ASR 선정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33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11551615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914400"/>
                <a:gridCol w="1143000"/>
                <a:gridCol w="6943039"/>
                <a:gridCol w="548640"/>
                <a:gridCol w="548640"/>
                <a:gridCol w="502920"/>
                <a:gridCol w="38404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Refinement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Scenario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Extensibility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장치 지원 용이성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신규/이종 하드웨어 지원 시 컴파일러의 변경 사항이 최소화 되어야 한다.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신규 장치 지원 시 기능 추가/변경 ≤ 전체 기능의 40%]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Efficiency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자원의 효율적인 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동일한 뉴럴 네트워크를 수행할 때 필요한 자원의 양을 최소화할 수 있어야 한다.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통합 컴파일러/런타임 메모리 사용량 &lt; 기존 프레임워크]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Performance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빠른 추론/학습 시간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컴파일 최적화로 바이너리를 생성·실행하여 타겟 장치/시스템 상에서 추론/학습 성능을 향상시킨다.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실행 시간(ms) &lt; 기존 프레임워크 실행 시간(ms)]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컴파일러/런타임 사용성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컴파일러와 런타임을 사용하는 데에 어려움이 없어야 한다.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기존 환경 도입에 필요한 MM &lt; 4MM (4명×1달)]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Portability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 이식성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TensorFlow, PyTorch 등 딥 러닝 프레임워크에 이식이 쉽고 기존 사용자 경험을 크게 해치지 않아야 한다.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프레임워크 코드 수정에 드는 MM &lt; 2MM]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Fault tolerance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장치/서버 실패 허용성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분산 학습 중 특정 장치/서버 문제에도 전체 학습이 계속 실행 가능해야 한다.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정상 동작 가능한 장치/시스템 실패 &lt; 전체의 5%]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Reusability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 장치/시스템 간 코드 재사용성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모델/기능을 서로 다른 타겟에서 컴파일·실행할 때 실제로 실행되는 코드가 최대한 같아야 한다.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타겟 장치 간 구현의 재사용성 &gt; 70%]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Analyzability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용이성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개발·실행 과정에서 필요한 정보를 추출하기 용이해야 한다.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디버깅·성능 병목 분석 리소스 &lt; 2명×3일]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Performance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빠른 컴파일 시간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컴파일 소요 시간이 길지 않아야 한다.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O0 &lt; 1분, O1 &lt; 3분, O2 &lt; 사용자 설정 시간]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Configurability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컴파일/실행 옵션 제공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목적에 맞게 실행하기 위한 다양한 옵션을 제공해야 한다.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옵션 변경 위한 Re-build 필요 빈도 &gt; 1회/달]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Modifiability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용이성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고객/사용자가 원하는 대로 고쳐서 사용하기 수월해야 한다.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추가/변경이 필요한 모듈 수 &lt; 5개]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Driver 도출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78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Functional Requirements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1408176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14081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FR-01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[시스템 지원]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시스템 구조 지원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1828800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182880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FR-02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[연산 장치 지원]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이기종 가속기 지원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249424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" y="224942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FR-03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[장치 간 연동]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이기종 장치 간 협업 운용 지원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670048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267004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FR-04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[모델 지원]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딥 러닝 모델 지원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090672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" y="309067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FR-05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[Ondevice 컴파일]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시스템 상에서 컴파일 지원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511296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351129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FR-06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[학습/추론 지원]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 러닝 모델 학습/추론 지원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931920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" y="393192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FR-07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[병렬/분산 처리]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 이상의 장치/시스템 동시 사용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352544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435254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FR-08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[메모리 관리]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메모리 계층 활용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773168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37" name="Text 35"/>
          <p:cNvSpPr/>
          <p:nvPr/>
        </p:nvSpPr>
        <p:spPr>
          <a:xfrm>
            <a:off x="429768" y="477316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FR-09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[다중 응용 실행]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 이상 모델 동시 실행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1078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Quality Attributes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1408176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0" name="Text 38"/>
          <p:cNvSpPr/>
          <p:nvPr/>
        </p:nvSpPr>
        <p:spPr>
          <a:xfrm>
            <a:off x="4910328" y="140817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QA-01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[Extensibility]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장치 지원 용이성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1828800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2" name="Text 40"/>
          <p:cNvSpPr/>
          <p:nvPr/>
        </p:nvSpPr>
        <p:spPr>
          <a:xfrm>
            <a:off x="4910328" y="182880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QA-02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[Efficiency]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자원의 효율적인 사용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2249424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4" name="Text 42"/>
          <p:cNvSpPr/>
          <p:nvPr/>
        </p:nvSpPr>
        <p:spPr>
          <a:xfrm>
            <a:off x="4910328" y="224942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QA-03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[Performance]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추론/학습 시간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2670048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6" name="Text 44"/>
          <p:cNvSpPr/>
          <p:nvPr/>
        </p:nvSpPr>
        <p:spPr>
          <a:xfrm>
            <a:off x="4910328" y="267004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QA-05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[Portability]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 이식성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00600" y="3090672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8" name="Text 46"/>
          <p:cNvSpPr/>
          <p:nvPr/>
        </p:nvSpPr>
        <p:spPr>
          <a:xfrm>
            <a:off x="4910328" y="309067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QA-07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[Reusability]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장치/시스템 간 코드 재사용성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144000" y="37307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Constraints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144000" y="4059936"/>
            <a:ext cx="2697480" cy="310896"/>
          </a:xfrm>
          <a:prstGeom prst="roundRect">
            <a:avLst>
              <a:gd name="adj" fmla="val 14706"/>
            </a:avLst>
          </a:prstGeom>
          <a:solidFill>
            <a:srgbClr val="843C0C"/>
          </a:solidFill>
          <a:ln/>
        </p:spPr>
      </p:sp>
      <p:sp>
        <p:nvSpPr>
          <p:cNvPr id="51" name="Text 49"/>
          <p:cNvSpPr/>
          <p:nvPr/>
        </p:nvSpPr>
        <p:spPr>
          <a:xfrm>
            <a:off x="9253728" y="4059936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C-01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[보안] 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 IP 정보 유출 금지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00" y="4480560"/>
            <a:ext cx="2697480" cy="310896"/>
          </a:xfrm>
          <a:prstGeom prst="roundRect">
            <a:avLst>
              <a:gd name="adj" fmla="val 14706"/>
            </a:avLst>
          </a:prstGeom>
          <a:solidFill>
            <a:srgbClr val="843C0C"/>
          </a:solidFill>
          <a:ln/>
        </p:spPr>
      </p:sp>
      <p:sp>
        <p:nvSpPr>
          <p:cNvPr id="53" name="Text 51"/>
          <p:cNvSpPr/>
          <p:nvPr/>
        </p:nvSpPr>
        <p:spPr>
          <a:xfrm>
            <a:off x="9253728" y="4480560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C-02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[일정 준수] 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개발 일정 준수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74920" y="4567428"/>
            <a:ext cx="640080" cy="329184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55" name="Shape 53"/>
          <p:cNvSpPr/>
          <p:nvPr/>
        </p:nvSpPr>
        <p:spPr>
          <a:xfrm>
            <a:off x="6830568" y="3520440"/>
            <a:ext cx="329184" cy="640080"/>
          </a:xfrm>
          <a:prstGeom prst="downArrow">
            <a:avLst/>
          </a:prstGeom>
          <a:solidFill>
            <a:srgbClr val="4E7C3A"/>
          </a:solidFill>
          <a:ln/>
        </p:spPr>
      </p:sp>
      <p:sp>
        <p:nvSpPr>
          <p:cNvPr id="56" name="Shape 54"/>
          <p:cNvSpPr/>
          <p:nvPr/>
        </p:nvSpPr>
        <p:spPr>
          <a:xfrm>
            <a:off x="8275320" y="4567428"/>
            <a:ext cx="640080" cy="329184"/>
          </a:xfrm>
          <a:prstGeom prst="leftArrow">
            <a:avLst/>
          </a:prstGeom>
          <a:solidFill>
            <a:srgbClr val="843C0C"/>
          </a:solidFill>
          <a:ln/>
        </p:spPr>
      </p:sp>
      <p:sp>
        <p:nvSpPr>
          <p:cNvPr id="57" name="Shape 55"/>
          <p:cNvSpPr/>
          <p:nvPr/>
        </p:nvSpPr>
        <p:spPr>
          <a:xfrm>
            <a:off x="5852160" y="4297680"/>
            <a:ext cx="2286000" cy="86868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52160" y="4297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Drivers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720840" y="5239512"/>
            <a:ext cx="548640" cy="502920"/>
          </a:xfrm>
          <a:prstGeom prst="downArrow">
            <a:avLst/>
          </a:prstGeom>
          <a:solidFill>
            <a:srgbClr val="A9C48E"/>
          </a:solidFill>
          <a:ln/>
        </p:spPr>
      </p:sp>
      <p:sp>
        <p:nvSpPr>
          <p:cNvPr id="60" name="Text 58"/>
          <p:cNvSpPr/>
          <p:nvPr/>
        </p:nvSpPr>
        <p:spPr>
          <a:xfrm>
            <a:off x="2286000" y="578815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“Universal Deep Learning Compiler/Runtime”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Point 선정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45575" y="630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View/Module View :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1078992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" y="10607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" y="1083564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" y="10835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지원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1412748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" y="139446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" y="1417320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1417320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 장치 지원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1746504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5176" y="17282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7512" y="1751076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" y="1751076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 간 연동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2080260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" y="20619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7512" y="2084832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" y="208483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지원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2414016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" y="239572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7512" y="2418588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" y="2418588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Ondevice 컴파일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2747772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" y="272948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F6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7512" y="2752344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" y="275234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학습/추론 지원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3081528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" y="306324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7512" y="3086100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" y="3086100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병렬/분산 처리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" y="3415284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5176" y="339699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F8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7512" y="3419856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" y="3419856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관리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" y="3749040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5176" y="37307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F9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67512" y="3753612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" y="375361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응용 실행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0040" y="4082796"/>
            <a:ext cx="274320" cy="274320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5176" y="40645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67512" y="4087368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2376" y="4087368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Extensibility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0040" y="4416552"/>
            <a:ext cx="274320" cy="274320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5176" y="439826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67512" y="4421124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2376" y="442112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Efficiency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20040" y="4750308"/>
            <a:ext cx="274320" cy="274320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5176" y="473202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67512" y="4754880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2376" y="4754880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20040" y="5084064"/>
            <a:ext cx="274320" cy="274320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5176" y="50657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67512" y="5088636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2376" y="5088636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Portability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20040" y="5417820"/>
            <a:ext cx="274320" cy="274320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65176" y="53995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67512" y="5422392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2376" y="542239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Reusability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20040" y="5751576"/>
            <a:ext cx="274320" cy="274320"/>
          </a:xfrm>
          <a:prstGeom prst="ellipse">
            <a:avLst/>
          </a:prstGeom>
          <a:solidFill>
            <a:srgbClr val="843C0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65176" y="57332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67512" y="5756148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2376" y="5756148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20040" y="6085332"/>
            <a:ext cx="274320" cy="274320"/>
          </a:xfrm>
          <a:prstGeom prst="ellipse">
            <a:avLst/>
          </a:prstGeom>
          <a:solidFill>
            <a:srgbClr val="843C0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5176" y="606704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67512" y="6089904"/>
            <a:ext cx="150876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2376" y="608990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준수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468880" y="1078992"/>
            <a:ext cx="5806440" cy="500176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85" name="Text 83"/>
          <p:cNvSpPr/>
          <p:nvPr/>
        </p:nvSpPr>
        <p:spPr>
          <a:xfrm>
            <a:off x="2468880" y="1078992"/>
            <a:ext cx="5806440" cy="5001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NN Compiler / NN Runtime 모듈 다이어그램 + F/Q/C 배지 + DP 하이라이트 ]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4572000" y="61539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Legends: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440680" y="6172200"/>
            <a:ext cx="868680" cy="201168"/>
          </a:xfrm>
          <a:prstGeom prst="rect">
            <a:avLst/>
          </a:prstGeom>
          <a:solidFill>
            <a:srgbClr val="DCE6F1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40680" y="61722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Package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400800" y="6172200"/>
            <a:ext cx="8686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00800" y="61722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458200" y="1078992"/>
            <a:ext cx="658368" cy="27432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92" name="Text 90"/>
          <p:cNvSpPr/>
          <p:nvPr/>
        </p:nvSpPr>
        <p:spPr>
          <a:xfrm>
            <a:off x="8458200" y="10789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9116568" y="1078992"/>
            <a:ext cx="2752344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94" name="Text 92"/>
          <p:cNvSpPr/>
          <p:nvPr/>
        </p:nvSpPr>
        <p:spPr>
          <a:xfrm>
            <a:off x="9180576" y="1078992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프레임워크에서의 실행 구조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458200" y="1353312"/>
            <a:ext cx="341071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531352" y="1408176"/>
            <a:ext cx="32644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프레임워크 기반 확장 설계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독립된 구조의 컴파일러/런타임 설계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Extensibility, Performance, Portability, Reusability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8458200" y="2167128"/>
            <a:ext cx="658368" cy="27432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21671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9116568" y="2167128"/>
            <a:ext cx="2752344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00" name="Text 98"/>
          <p:cNvSpPr/>
          <p:nvPr/>
        </p:nvSpPr>
        <p:spPr>
          <a:xfrm>
            <a:off x="9180576" y="2167128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 최적화 시점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458200" y="2441448"/>
            <a:ext cx="341071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531352" y="2496312"/>
            <a:ext cx="32644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정적 스케줄링 기법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동적 스케줄링 기법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Efficiency, Performance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8458200" y="3255264"/>
            <a:ext cx="658368" cy="27432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32552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DP-03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9116568" y="3255264"/>
            <a:ext cx="2752344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06" name="Text 104"/>
          <p:cNvSpPr/>
          <p:nvPr/>
        </p:nvSpPr>
        <p:spPr>
          <a:xfrm>
            <a:off x="9180576" y="325526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 중간 표현 구조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8458200" y="3529584"/>
            <a:ext cx="341071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531352" y="3584448"/>
            <a:ext cx="32644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시스템 구성 계층 별 중간 표현 정의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최적화 문제 별 중간 표현 정의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Extensibility, Performance, Reusability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8458200" y="4343400"/>
            <a:ext cx="658368" cy="27432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10" name="Text 108"/>
          <p:cNvSpPr/>
          <p:nvPr/>
        </p:nvSpPr>
        <p:spPr>
          <a:xfrm>
            <a:off x="8458200" y="43434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DP-04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9116568" y="4343400"/>
            <a:ext cx="2752344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12" name="Text 110"/>
          <p:cNvSpPr/>
          <p:nvPr/>
        </p:nvSpPr>
        <p:spPr>
          <a:xfrm>
            <a:off x="9180576" y="4343400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정보 구성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8458200" y="4617720"/>
            <a:ext cx="341071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531352" y="4672584"/>
            <a:ext cx="32644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주요 장치 별 하드웨어 정보 구분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공통 HW 정보 기술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Extensibility, Portability, Reusability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8458200" y="5431536"/>
            <a:ext cx="658368" cy="27432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16" name="Text 114"/>
          <p:cNvSpPr/>
          <p:nvPr/>
        </p:nvSpPr>
        <p:spPr>
          <a:xfrm>
            <a:off x="8458200" y="54315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DP-05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9116568" y="5431536"/>
            <a:ext cx="2752344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18" name="Text 116"/>
          <p:cNvSpPr/>
          <p:nvPr/>
        </p:nvSpPr>
        <p:spPr>
          <a:xfrm>
            <a:off x="9180576" y="543153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 서버 간의 동작 구조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8458200" y="5705856"/>
            <a:ext cx="341071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531352" y="5760720"/>
            <a:ext cx="32644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동일 실행 방식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Master-slave 실행 방식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Efficiency, Performance, Reusability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2026-07-14T23:38:23Z</dcterms:created>
  <dcterms:modified xsi:type="dcterms:W3CDTF">2026-07-14T23:38:23Z</dcterms:modified>
</cp:coreProperties>
</file>